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1" r:id="rId6"/>
    <p:sldId id="263" r:id="rId7"/>
    <p:sldId id="262" r:id="rId8"/>
    <p:sldId id="265"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solution" id="{9E4BFD65-67E8-3928-6A14-C332E0FEFA97}">
          <p14:sldIdLst>
            <p14:sldId id="256"/>
            <p14:sldId id="257"/>
            <p14:sldId id="258"/>
          </p14:sldIdLst>
        </p14:section>
        <p14:section name="Business and money" id="{D704BC05-1E27-749D-CEA4-663CFF693BAC}">
          <p14:sldIdLst>
            <p14:sldId id="259"/>
          </p14:sldIdLst>
        </p14:section>
        <p14:section name="Why us, risks, next steps" id="{0319B97D-4E74-1E44-9A5B-804520175331}">
          <p14:sldIdLst>
            <p14:sldId id="261"/>
            <p14:sldId id="263"/>
            <p14:sldId id="262"/>
            <p14:sldId id="265"/>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53" d="100"/>
          <a:sy n="53" d="100"/>
        </p:scale>
        <p:origin x="1152" y="5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3080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all know recycling is important. But knowing something is good does not always motivate us to do it. What if recycling was something you actually looked forward to? That is why we created RECYCL IT!
[Timing: about 15 s for this slide. Whole pitch: 4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target audience is young people. We believe that one barrier to consistent recycling is the lack of immediate motivation. We need to test this assumption with real users.
[Added facts, if you want them: Switzerland recycles about 52% of its municipal waste, yet the federal environment office says more than a fifth of every trash bag could still be recycled. Each person produces about 671 kg of municipal waste a year, one of the highest rates in the world. The gap isn't bins, it's motivation.]
[Timing: about 30 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earn points for verified recycling activities, compete with friends, join local challenges, and redeem rewards. Demonstrate what is working in the prototype, and explain what still needs to be built.
[Timing: about 45 s including the demo. Keep the live demo to one loop: record an action → points → leaderboard → reward.]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plan to operate as a nonprofit financed through partnerships. Municipalities could support us because we encourage sustainable behavior. Businesses could sponsor rewards and gain visibility. These partnerships are proposed, not confirmed.
[Timing: about 25 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Recycling guides explain how to recycle. We want to focus on motivating people to act. Our differentiation is the combination of rewards, local partnerships, and community challenges. We still need to test whether it is compelling.
[Added: The best-known example is the Recycling Map app by IGORA, which lists more than 16,000 Swiss collection points. Same goal, no conflict of interest, so we’d rather use their data than rebuild it.]
[Timing: about 25 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would start with a pilot at a school or municipality and measure whether users return and recycle more. Then improve the app based on feedback before expanding.
[Added: our first pilot candidate is [town / school]. Channels: schools, social media, word-of-mouth, partners, and Swiss Recycling Day, where around 230 municipalities, schools, collection points and companies take part.]
[Timing: about 25 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We know where this could go wrong. Funding: three sources, and from year two six partner towns alone cover running costs. Cheating: points only for verified actions, like a check-in at a real collection point, with daily caps. Rewards: sponsored by local businesses, so they don’t eat our budget. Novelty: seasonal challenges, team goals and local events. Privacy: no ads, no selling data, partners only see anonymised totals, in line with Swiss data protection law.
[Timing: about 25 s. Decide as a team who answers which risk if the jury asks.]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vision is a Switzerland where sustainable actions become part of everyday life because people want to take part. With RECYCL IT, we want to make sustainability rewarding. Thank you.
[Timing: about 15 s. Reminder: upload the deck to the ZentralHack dashboard by 16:30.]</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RECYCL 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RECYCL IT!  |  ZentralHack 2026</a:t>
            </a:r>
            <a:endParaRPr lang="en-US" sz="1000" dirty="0"/>
          </a:p>
        </p:txBody>
      </p:sp>
      <p:sp>
        <p:nvSpPr>
          <p:cNvPr id="3" name="Text 1"/>
          <p:cNvSpPr>
            <a:spLocks noGrp="1"/>
          </p:cNvSpPr>
          <p:nvPr>
            <p:ph type="title" idx="101" hasCustomPrompt="1"/>
          </p:nvPr>
        </p:nvSpPr>
        <p:spPr>
          <a:xfrm>
            <a:off x="548640" y="365760"/>
            <a:ext cx="11064240" cy="73152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RECYCL Dark">
    <p:bg>
      <p:bgPr>
        <a:solidFill>
          <a:srgbClr val="14342B"/>
        </a:solidFill>
        <a:effectLst/>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4"/>
                </a:solidFill>
              </a:rPr>
              <a:t>RECYCL IT!  |  ZentralHack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adge circle"/>
          <p:cNvSpPr/>
          <p:nvPr/>
        </p:nvSpPr>
        <p:spPr>
          <a:xfrm>
            <a:off x="7955280" y="1280160"/>
            <a:ext cx="3566160" cy="3566160"/>
          </a:xfrm>
          <a:prstGeom prst="ellipse">
            <a:avLst/>
          </a:prstGeom>
          <a:solidFill>
            <a:schemeClr val="accent1"/>
          </a:solidFill>
          <a:ln/>
        </p:spPr>
        <p:txBody>
          <a:bodyPr/>
          <a:lstStyle/>
          <a:p>
            <a:endParaRPr lang="en-CH"/>
          </a:p>
        </p:txBody>
      </p:sp>
      <p:sp>
        <p:nvSpPr>
          <p:cNvPr id="4" name="Title"/>
          <p:cNvSpPr txBox="1"/>
          <p:nvPr/>
        </p:nvSpPr>
        <p:spPr>
          <a:xfrm>
            <a:off x="670560" y="1645920"/>
            <a:ext cx="6949440" cy="1280160"/>
          </a:xfrm>
          <a:prstGeom prst="rect">
            <a:avLst/>
          </a:prstGeom>
          <a:noFill/>
          <a:ln/>
        </p:spPr>
        <p:txBody>
          <a:bodyPr wrap="square" lIns="0" tIns="0" rIns="0" bIns="0" rtlCol="0" anchor="ctr"/>
          <a:lstStyle/>
          <a:p>
            <a:pPr marL="0" indent="0">
              <a:buNone/>
            </a:pPr>
            <a:r>
              <a:rPr lang="en-US" sz="7200" b="1"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RECYCL  IT!</a:t>
            </a:r>
            <a:endParaRPr lang="en-US" sz="7200" dirty="0">
              <a:latin typeface="ADLaM Display" panose="020F0502020204030204" pitchFamily="2" charset="0"/>
              <a:ea typeface="ADLaM Display" panose="020F0502020204030204" pitchFamily="2" charset="0"/>
              <a:cs typeface="ADLaM Display" panose="020F0502020204030204" pitchFamily="2" charset="0"/>
            </a:endParaRPr>
          </a:p>
        </p:txBody>
      </p:sp>
      <p:sp>
        <p:nvSpPr>
          <p:cNvPr id="5" name="Tagline"/>
          <p:cNvSpPr txBox="1"/>
          <p:nvPr/>
        </p:nvSpPr>
        <p:spPr>
          <a:xfrm>
            <a:off x="731520" y="3017520"/>
            <a:ext cx="6949440" cy="548640"/>
          </a:xfrm>
          <a:prstGeom prst="rect">
            <a:avLst/>
          </a:prstGeom>
          <a:noFill/>
          <a:ln/>
        </p:spPr>
        <p:txBody>
          <a:bodyPr wrap="square" lIns="0" tIns="0" rIns="0" bIns="0" rtlCol="0" anchor="ctr"/>
          <a:lstStyle/>
          <a:p>
            <a:pPr marL="0" indent="0">
              <a:buNone/>
            </a:pPr>
            <a:r>
              <a:rPr lang="en-US" sz="3000" b="1" dirty="0">
                <a:solidFill>
                  <a:schemeClr val="accent1"/>
                </a:solidFill>
              </a:rPr>
              <a:t>Recycling made fun.</a:t>
            </a:r>
            <a:endParaRPr lang="en-US" sz="3000" dirty="0"/>
          </a:p>
        </p:txBody>
      </p:sp>
      <p:sp>
        <p:nvSpPr>
          <p:cNvPr id="6" name="Subtitle"/>
          <p:cNvSpPr txBox="1"/>
          <p:nvPr/>
        </p:nvSpPr>
        <p:spPr>
          <a:xfrm>
            <a:off x="731520" y="3611880"/>
            <a:ext cx="6949440" cy="548640"/>
          </a:xfrm>
          <a:prstGeom prst="rect">
            <a:avLst/>
          </a:prstGeom>
          <a:noFill/>
          <a:ln/>
        </p:spPr>
        <p:txBody>
          <a:bodyPr wrap="square" lIns="0" tIns="0" rIns="0" bIns="0" rtlCol="0" anchor="ctr"/>
          <a:lstStyle/>
          <a:p>
            <a:pPr marL="0" indent="0">
              <a:buNone/>
            </a:pPr>
            <a:r>
              <a:rPr lang="en-US" sz="2200" dirty="0">
                <a:solidFill>
                  <a:schemeClr val="accent4"/>
                </a:solidFill>
              </a:rPr>
              <a:t>Turn everyday recycling into real-world rewards.</a:t>
            </a:r>
            <a:endParaRPr lang="en-US" sz="2200" dirty="0"/>
          </a:p>
        </p:txBody>
      </p:sp>
      <p:sp>
        <p:nvSpPr>
          <p:cNvPr id="7" name="Team line"/>
          <p:cNvSpPr txBox="1"/>
          <p:nvPr/>
        </p:nvSpPr>
        <p:spPr>
          <a:xfrm>
            <a:off x="731520" y="4846320"/>
            <a:ext cx="6949440" cy="365760"/>
          </a:xfrm>
          <a:prstGeom prst="rect">
            <a:avLst/>
          </a:prstGeom>
          <a:noFill/>
          <a:ln/>
        </p:spPr>
        <p:txBody>
          <a:bodyPr wrap="square" lIns="0" tIns="0" rIns="0" bIns="0" rtlCol="0" anchor="ctr"/>
          <a:lstStyle/>
          <a:p>
            <a:pPr marL="0" indent="0">
              <a:buNone/>
            </a:pPr>
            <a:r>
              <a:rPr lang="en-CH" sz="1400" dirty="0">
                <a:solidFill>
                  <a:schemeClr val="accent4"/>
                </a:solidFill>
              </a:rPr>
              <a:t>Arduino</a:t>
            </a:r>
            <a:r>
              <a:rPr lang="en-US" sz="1400" dirty="0">
                <a:solidFill>
                  <a:schemeClr val="accent4"/>
                </a:solidFill>
              </a:rPr>
              <a:t>·  SDG 11 Sustainable cities and communities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a:t>
            </a:fld>
            <a:endParaRPr lang="en-US"/>
          </a:p>
        </p:txBody>
      </p:sp>
      <p:pic>
        <p:nvPicPr>
          <p:cNvPr id="11" name="Picture 10" descr="Made Fun&#10;&#10;AI-generated content may be incorrect.">
            <a:extLst>
              <a:ext uri="{FF2B5EF4-FFF2-40B4-BE49-F238E27FC236}">
                <a16:creationId xmlns:a16="http://schemas.microsoft.com/office/drawing/2014/main" id="{F17BDBE0-BF24-B823-F4AE-F628CBA590A0}"/>
              </a:ext>
            </a:extLst>
          </p:cNvPr>
          <p:cNvPicPr>
            <a:picLocks noChangeAspect="1"/>
          </p:cNvPicPr>
          <p:nvPr/>
        </p:nvPicPr>
        <p:blipFill>
          <a:blip r:embed="rId3"/>
          <a:stretch>
            <a:fillRect/>
          </a:stretch>
        </p:blipFill>
        <p:spPr>
          <a:xfrm>
            <a:off x="7808631" y="1058461"/>
            <a:ext cx="3931920" cy="3931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3600" b="1" dirty="0">
                <a:solidFill>
                  <a:schemeClr val="tx1"/>
                </a:solidFill>
              </a:rPr>
              <a:t>The Problem</a:t>
            </a:r>
            <a:endParaRPr lang="en-US" sz="3600" dirty="0"/>
          </a:p>
        </p:txBody>
      </p:sp>
      <p:sp>
        <p:nvSpPr>
          <p:cNvPr id="3" name="Problem 1 circle"/>
          <p:cNvSpPr/>
          <p:nvPr/>
        </p:nvSpPr>
        <p:spPr>
          <a:xfrm>
            <a:off x="548640" y="1417320"/>
            <a:ext cx="685800" cy="685800"/>
          </a:xfrm>
          <a:prstGeom prst="ellipse">
            <a:avLst/>
          </a:prstGeom>
          <a:solidFill>
            <a:srgbClr val="F2A33A"/>
          </a:solidFill>
          <a:ln/>
        </p:spPr>
        <p:txBody>
          <a:bodyPr/>
          <a:lstStyle/>
          <a:p>
            <a:endParaRPr lang="en-CH"/>
          </a:p>
        </p:txBody>
      </p:sp>
      <p:pic>
        <p:nvPicPr>
          <p:cNvPr id="4" name="Problem 1 icon" descr="Problem 1"/>
          <p:cNvPicPr>
            <a:picLocks noChangeAspect="1"/>
          </p:cNvPicPr>
          <p:nvPr/>
        </p:nvPicPr>
        <p:blipFill>
          <a:blip r:embed="rId3"/>
          <a:stretch>
            <a:fillRect/>
          </a:stretch>
        </p:blipFill>
        <p:spPr>
          <a:xfrm>
            <a:off x="720090" y="1588770"/>
            <a:ext cx="342900" cy="342900"/>
          </a:xfrm>
          <a:prstGeom prst="rect">
            <a:avLst/>
          </a:prstGeom>
        </p:spPr>
      </p:pic>
      <p:sp>
        <p:nvSpPr>
          <p:cNvPr id="5" name="Problem text 1"/>
          <p:cNvSpPr txBox="1"/>
          <p:nvPr/>
        </p:nvSpPr>
        <p:spPr>
          <a:xfrm>
            <a:off x="1463040" y="1371600"/>
            <a:ext cx="5852160" cy="777240"/>
          </a:xfrm>
          <a:prstGeom prst="rect">
            <a:avLst/>
          </a:prstGeom>
          <a:noFill/>
          <a:ln/>
        </p:spPr>
        <p:txBody>
          <a:bodyPr wrap="square" lIns="0" tIns="0" rIns="0" bIns="0" rtlCol="0" anchor="ctr"/>
          <a:lstStyle/>
          <a:p>
            <a:pPr marL="0" indent="0">
              <a:buNone/>
            </a:pPr>
            <a:r>
              <a:rPr lang="en-US" sz="1800" dirty="0">
                <a:solidFill>
                  <a:schemeClr val="tx1"/>
                </a:solidFill>
              </a:rPr>
              <a:t>Recycling often provides little immediate reward.</a:t>
            </a:r>
            <a:endParaRPr lang="en-US" sz="1800" dirty="0"/>
          </a:p>
        </p:txBody>
      </p:sp>
      <p:sp>
        <p:nvSpPr>
          <p:cNvPr id="6" name="Problem 2 circle"/>
          <p:cNvSpPr/>
          <p:nvPr/>
        </p:nvSpPr>
        <p:spPr>
          <a:xfrm>
            <a:off x="548640" y="2331720"/>
            <a:ext cx="685800" cy="685800"/>
          </a:xfrm>
          <a:prstGeom prst="ellipse">
            <a:avLst/>
          </a:prstGeom>
          <a:solidFill>
            <a:srgbClr val="F2A33A"/>
          </a:solidFill>
          <a:ln/>
        </p:spPr>
        <p:txBody>
          <a:bodyPr/>
          <a:lstStyle/>
          <a:p>
            <a:endParaRPr lang="en-CH"/>
          </a:p>
        </p:txBody>
      </p:sp>
      <p:pic>
        <p:nvPicPr>
          <p:cNvPr id="7" name="Problem 2 icon" descr="Problem 2"/>
          <p:cNvPicPr>
            <a:picLocks noChangeAspect="1"/>
          </p:cNvPicPr>
          <p:nvPr/>
        </p:nvPicPr>
        <p:blipFill>
          <a:blip r:embed="rId4"/>
          <a:stretch>
            <a:fillRect/>
          </a:stretch>
        </p:blipFill>
        <p:spPr>
          <a:xfrm>
            <a:off x="720090" y="2503170"/>
            <a:ext cx="342900" cy="342900"/>
          </a:xfrm>
          <a:prstGeom prst="rect">
            <a:avLst/>
          </a:prstGeom>
        </p:spPr>
      </p:pic>
      <p:sp>
        <p:nvSpPr>
          <p:cNvPr id="8" name="Problem text 2"/>
          <p:cNvSpPr txBox="1"/>
          <p:nvPr/>
        </p:nvSpPr>
        <p:spPr>
          <a:xfrm>
            <a:off x="1463040" y="2286000"/>
            <a:ext cx="5852160" cy="777240"/>
          </a:xfrm>
          <a:prstGeom prst="rect">
            <a:avLst/>
          </a:prstGeom>
          <a:noFill/>
          <a:ln/>
        </p:spPr>
        <p:txBody>
          <a:bodyPr wrap="square" lIns="0" tIns="0" rIns="0" bIns="0" rtlCol="0" anchor="ctr"/>
          <a:lstStyle/>
          <a:p>
            <a:pPr marL="0" indent="0">
              <a:buNone/>
            </a:pPr>
            <a:r>
              <a:rPr lang="en-US" sz="1800" dirty="0">
                <a:solidFill>
                  <a:schemeClr val="tx1"/>
                </a:solidFill>
              </a:rPr>
              <a:t>Young people lack motivation to recycle regularly, why just not throw it away anywhere.</a:t>
            </a:r>
            <a:endParaRPr lang="en-US" sz="1800" dirty="0"/>
          </a:p>
        </p:txBody>
      </p:sp>
      <p:sp>
        <p:nvSpPr>
          <p:cNvPr id="9" name="Problem 3 circle"/>
          <p:cNvSpPr/>
          <p:nvPr/>
        </p:nvSpPr>
        <p:spPr>
          <a:xfrm>
            <a:off x="548640" y="3246120"/>
            <a:ext cx="685800" cy="685800"/>
          </a:xfrm>
          <a:prstGeom prst="ellipse">
            <a:avLst/>
          </a:prstGeom>
          <a:solidFill>
            <a:srgbClr val="F2A33A"/>
          </a:solidFill>
          <a:ln/>
        </p:spPr>
        <p:txBody>
          <a:bodyPr/>
          <a:lstStyle/>
          <a:p>
            <a:endParaRPr lang="en-CH"/>
          </a:p>
        </p:txBody>
      </p:sp>
      <p:pic>
        <p:nvPicPr>
          <p:cNvPr id="10" name="Problem 3 icon" descr="Problem 3"/>
          <p:cNvPicPr>
            <a:picLocks noChangeAspect="1"/>
          </p:cNvPicPr>
          <p:nvPr/>
        </p:nvPicPr>
        <p:blipFill>
          <a:blip r:embed="rId5"/>
          <a:stretch>
            <a:fillRect/>
          </a:stretch>
        </p:blipFill>
        <p:spPr>
          <a:xfrm>
            <a:off x="720090" y="3417570"/>
            <a:ext cx="342900" cy="342900"/>
          </a:xfrm>
          <a:prstGeom prst="rect">
            <a:avLst/>
          </a:prstGeom>
        </p:spPr>
      </p:pic>
      <p:sp>
        <p:nvSpPr>
          <p:cNvPr id="11" name="Problem text 3"/>
          <p:cNvSpPr txBox="1"/>
          <p:nvPr/>
        </p:nvSpPr>
        <p:spPr>
          <a:xfrm>
            <a:off x="1463040" y="3200400"/>
            <a:ext cx="5852160" cy="777240"/>
          </a:xfrm>
          <a:prstGeom prst="rect">
            <a:avLst/>
          </a:prstGeom>
          <a:noFill/>
          <a:ln/>
        </p:spPr>
        <p:txBody>
          <a:bodyPr wrap="square" lIns="0" tIns="0" rIns="0" bIns="0" rtlCol="0" anchor="ctr"/>
          <a:lstStyle/>
          <a:p>
            <a:pPr marL="0" indent="0">
              <a:buNone/>
            </a:pPr>
            <a:r>
              <a:rPr lang="en-US" sz="1800" dirty="0">
                <a:solidFill>
                  <a:schemeClr val="tx1"/>
                </a:solidFill>
              </a:rPr>
              <a:t>Sustainable habits can be difficult to build, our App is made to combat that.</a:t>
            </a:r>
            <a:endParaRPr lang="en-US" sz="1800" dirty="0"/>
          </a:p>
        </p:txBody>
      </p:sp>
      <p:sp>
        <p:nvSpPr>
          <p:cNvPr id="12" name="Hypothesis card"/>
          <p:cNvSpPr/>
          <p:nvPr/>
        </p:nvSpPr>
        <p:spPr>
          <a:xfrm>
            <a:off x="548640" y="4297680"/>
            <a:ext cx="6766560" cy="1417320"/>
          </a:xfrm>
          <a:prstGeom prst="roundRect">
            <a:avLst>
              <a:gd name="adj" fmla="val 9677"/>
            </a:avLst>
          </a:prstGeom>
          <a:solidFill>
            <a:srgbClr val="14342B"/>
          </a:solidFill>
          <a:ln/>
        </p:spPr>
        <p:txBody>
          <a:bodyPr/>
          <a:lstStyle/>
          <a:p>
            <a:endParaRPr lang="en-CH"/>
          </a:p>
        </p:txBody>
      </p:sp>
      <p:sp>
        <p:nvSpPr>
          <p:cNvPr id="13" name="Hypothesis"/>
          <p:cNvSpPr txBox="1"/>
          <p:nvPr/>
        </p:nvSpPr>
        <p:spPr>
          <a:xfrm>
            <a:off x="822960" y="4389120"/>
            <a:ext cx="6217920" cy="1234440"/>
          </a:xfrm>
          <a:prstGeom prst="rect">
            <a:avLst/>
          </a:prstGeom>
          <a:noFill/>
          <a:ln/>
        </p:spPr>
        <p:txBody>
          <a:bodyPr wrap="square" lIns="0" tIns="0" rIns="0" bIns="0" rtlCol="0" anchor="ctr"/>
          <a:lstStyle/>
          <a:p>
            <a:pPr marL="0" indent="0">
              <a:buNone/>
            </a:pPr>
            <a:r>
              <a:rPr lang="en-US" sz="2100" b="1" dirty="0">
                <a:solidFill>
                  <a:schemeClr val="accent1"/>
                </a:solidFill>
              </a:rPr>
              <a:t>Our hypothesis: </a:t>
            </a:r>
            <a:r>
              <a:rPr lang="en-US" sz="2100" dirty="0">
                <a:solidFill>
                  <a:schemeClr val="bg1"/>
                </a:solidFill>
              </a:rPr>
              <a:t>rewards, challenges and a sense of community can motivate action.</a:t>
            </a:r>
            <a:endParaRPr lang="en-US" sz="2100" dirty="0"/>
          </a:p>
        </p:txBody>
      </p:sp>
      <p:sp>
        <p:nvSpPr>
          <p:cNvPr id="14" name="Stats card"/>
          <p:cNvSpPr/>
          <p:nvPr/>
        </p:nvSpPr>
        <p:spPr>
          <a:xfrm>
            <a:off x="7772400" y="1417320"/>
            <a:ext cx="3840480" cy="4297680"/>
          </a:xfrm>
          <a:prstGeom prst="roundRect">
            <a:avLst>
              <a:gd name="adj" fmla="val 3571"/>
            </a:avLst>
          </a:prstGeom>
          <a:solidFill>
            <a:srgbClr val="EEF4EE"/>
          </a:solidFill>
          <a:ln/>
        </p:spPr>
        <p:txBody>
          <a:bodyPr/>
          <a:lstStyle/>
          <a:p>
            <a:endParaRPr lang="en-CH"/>
          </a:p>
        </p:txBody>
      </p:sp>
      <p:sp>
        <p:nvSpPr>
          <p:cNvPr id="15" name="Stat 1"/>
          <p:cNvSpPr txBox="1"/>
          <p:nvPr/>
        </p:nvSpPr>
        <p:spPr>
          <a:xfrm>
            <a:off x="8092440" y="1645920"/>
            <a:ext cx="3291840" cy="685800"/>
          </a:xfrm>
          <a:prstGeom prst="rect">
            <a:avLst/>
          </a:prstGeom>
          <a:noFill/>
          <a:ln/>
        </p:spPr>
        <p:txBody>
          <a:bodyPr wrap="square" lIns="0" tIns="0" rIns="0" bIns="0" rtlCol="0" anchor="ctr"/>
          <a:lstStyle/>
          <a:p>
            <a:pPr marL="0" indent="0">
              <a:buNone/>
            </a:pPr>
            <a:r>
              <a:rPr lang="en-US" sz="4400" b="1" dirty="0">
                <a:solidFill>
                  <a:schemeClr val="tx2"/>
                </a:solidFill>
              </a:rPr>
              <a:t>52%</a:t>
            </a:r>
            <a:endParaRPr lang="en-US" sz="4400" dirty="0"/>
          </a:p>
        </p:txBody>
      </p:sp>
      <p:sp>
        <p:nvSpPr>
          <p:cNvPr id="16" name="Stat label 1"/>
          <p:cNvSpPr txBox="1"/>
          <p:nvPr/>
        </p:nvSpPr>
        <p:spPr>
          <a:xfrm>
            <a:off x="8092440" y="2304288"/>
            <a:ext cx="3291840" cy="457200"/>
          </a:xfrm>
          <a:prstGeom prst="rect">
            <a:avLst/>
          </a:prstGeom>
          <a:noFill/>
          <a:ln/>
        </p:spPr>
        <p:txBody>
          <a:bodyPr wrap="square" lIns="0" tIns="0" rIns="0" bIns="0" rtlCol="0" anchor="ctr"/>
          <a:lstStyle/>
          <a:p>
            <a:pPr marL="0" indent="0">
              <a:buNone/>
            </a:pPr>
            <a:r>
              <a:rPr lang="en-US" sz="1400" dirty="0">
                <a:solidFill>
                  <a:schemeClr val="accent5"/>
                </a:solidFill>
              </a:rPr>
              <a:t>of Swiss municipal waste is recycled (2024)</a:t>
            </a:r>
            <a:endParaRPr lang="en-US" sz="1400" dirty="0"/>
          </a:p>
        </p:txBody>
      </p:sp>
      <p:sp>
        <p:nvSpPr>
          <p:cNvPr id="17" name="Stat 2"/>
          <p:cNvSpPr txBox="1"/>
          <p:nvPr/>
        </p:nvSpPr>
        <p:spPr>
          <a:xfrm>
            <a:off x="8092440" y="2990088"/>
            <a:ext cx="3291840" cy="685800"/>
          </a:xfrm>
          <a:prstGeom prst="rect">
            <a:avLst/>
          </a:prstGeom>
          <a:noFill/>
          <a:ln/>
        </p:spPr>
        <p:txBody>
          <a:bodyPr wrap="square" lIns="0" tIns="0" rIns="0" bIns="0" rtlCol="0" anchor="ctr"/>
          <a:lstStyle/>
          <a:p>
            <a:pPr marL="0" indent="0">
              <a:buNone/>
            </a:pPr>
            <a:r>
              <a:rPr lang="en-US" sz="4400" b="1" dirty="0">
                <a:solidFill>
                  <a:schemeClr val="tx2"/>
                </a:solidFill>
              </a:rPr>
              <a:t>20%+</a:t>
            </a:r>
            <a:endParaRPr lang="en-US" sz="4400" dirty="0"/>
          </a:p>
        </p:txBody>
      </p:sp>
      <p:sp>
        <p:nvSpPr>
          <p:cNvPr id="18" name="Stat label 2"/>
          <p:cNvSpPr txBox="1"/>
          <p:nvPr/>
        </p:nvSpPr>
        <p:spPr>
          <a:xfrm>
            <a:off x="8092440" y="3648456"/>
            <a:ext cx="3291840" cy="457200"/>
          </a:xfrm>
          <a:prstGeom prst="rect">
            <a:avLst/>
          </a:prstGeom>
          <a:noFill/>
          <a:ln/>
        </p:spPr>
        <p:txBody>
          <a:bodyPr wrap="square" lIns="0" tIns="0" rIns="0" bIns="0" rtlCol="0" anchor="ctr"/>
          <a:lstStyle/>
          <a:p>
            <a:pPr marL="0" indent="0">
              <a:buNone/>
            </a:pPr>
            <a:r>
              <a:rPr lang="en-US" sz="1400" dirty="0">
                <a:solidFill>
                  <a:schemeClr val="accent5"/>
                </a:solidFill>
              </a:rPr>
              <a:t>of each trash bag could still be recycled</a:t>
            </a:r>
            <a:endParaRPr lang="en-US" sz="1400" dirty="0"/>
          </a:p>
        </p:txBody>
      </p:sp>
      <p:sp>
        <p:nvSpPr>
          <p:cNvPr id="19" name="Stat 3"/>
          <p:cNvSpPr txBox="1"/>
          <p:nvPr/>
        </p:nvSpPr>
        <p:spPr>
          <a:xfrm>
            <a:off x="8092440" y="4334256"/>
            <a:ext cx="3291840" cy="685800"/>
          </a:xfrm>
          <a:prstGeom prst="rect">
            <a:avLst/>
          </a:prstGeom>
          <a:noFill/>
          <a:ln/>
        </p:spPr>
        <p:txBody>
          <a:bodyPr wrap="square" lIns="0" tIns="0" rIns="0" bIns="0" rtlCol="0" anchor="ctr"/>
          <a:lstStyle/>
          <a:p>
            <a:pPr marL="0" indent="0">
              <a:buNone/>
            </a:pPr>
            <a:r>
              <a:rPr lang="en-US" sz="4400" b="1" dirty="0">
                <a:solidFill>
                  <a:schemeClr val="tx2"/>
                </a:solidFill>
              </a:rPr>
              <a:t>671 kg</a:t>
            </a:r>
            <a:endParaRPr lang="en-US" sz="4400" dirty="0"/>
          </a:p>
        </p:txBody>
      </p:sp>
      <p:sp>
        <p:nvSpPr>
          <p:cNvPr id="20" name="Stat label 3"/>
          <p:cNvSpPr txBox="1"/>
          <p:nvPr/>
        </p:nvSpPr>
        <p:spPr>
          <a:xfrm>
            <a:off x="8092440" y="4992624"/>
            <a:ext cx="3291840" cy="457200"/>
          </a:xfrm>
          <a:prstGeom prst="rect">
            <a:avLst/>
          </a:prstGeom>
          <a:noFill/>
          <a:ln/>
        </p:spPr>
        <p:txBody>
          <a:bodyPr wrap="square" lIns="0" tIns="0" rIns="0" bIns="0" rtlCol="0" anchor="ctr"/>
          <a:lstStyle/>
          <a:p>
            <a:pPr marL="0" indent="0">
              <a:buNone/>
            </a:pPr>
            <a:r>
              <a:rPr lang="en-US" sz="1400" dirty="0">
                <a:solidFill>
                  <a:schemeClr val="accent5"/>
                </a:solidFill>
              </a:rPr>
              <a:t>municipal waste per person per year (2022)</a:t>
            </a:r>
            <a:endParaRPr lang="en-US" sz="1400" dirty="0"/>
          </a:p>
        </p:txBody>
      </p:sp>
      <p:sp>
        <p:nvSpPr>
          <p:cNvPr id="21" name="Source"/>
          <p:cNvSpPr txBox="1"/>
          <p:nvPr/>
        </p:nvSpPr>
        <p:spPr>
          <a:xfrm>
            <a:off x="548640" y="5989320"/>
            <a:ext cx="11064240" cy="274320"/>
          </a:xfrm>
          <a:prstGeom prst="rect">
            <a:avLst/>
          </a:prstGeom>
          <a:noFill/>
          <a:ln/>
        </p:spPr>
        <p:txBody>
          <a:bodyPr wrap="square" lIns="0" tIns="0" rIns="0" bIns="0" rtlCol="0" anchor="ctr"/>
          <a:lstStyle/>
          <a:p>
            <a:pPr marL="0" indent="0">
              <a:buNone/>
            </a:pPr>
            <a:r>
              <a:rPr lang="en-US" sz="1000" dirty="0">
                <a:solidFill>
                  <a:schemeClr val="accent5"/>
                </a:solidFill>
              </a:rPr>
              <a:t>Sources: Federal Office for the Environment (FOEN) via Keystone-SDA / blue News; swissinfo.ch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3600" b="1" dirty="0">
                <a:solidFill>
                  <a:schemeClr val="tx1"/>
                </a:solidFill>
              </a:rPr>
              <a:t>Our Solution</a:t>
            </a:r>
            <a:endParaRPr lang="en-US" sz="3600" dirty="0"/>
          </a:p>
        </p:txBody>
      </p:sp>
      <p:sp>
        <p:nvSpPr>
          <p:cNvPr id="3" name="Subtitle"/>
          <p:cNvSpPr txBox="1"/>
          <p:nvPr/>
        </p:nvSpPr>
        <p:spPr>
          <a:xfrm>
            <a:off x="548640" y="1143000"/>
            <a:ext cx="11064240" cy="457200"/>
          </a:xfrm>
          <a:prstGeom prst="rect">
            <a:avLst/>
          </a:prstGeom>
          <a:noFill/>
          <a:ln/>
        </p:spPr>
        <p:txBody>
          <a:bodyPr wrap="square" lIns="0" tIns="0" rIns="0" bIns="0" rtlCol="0" anchor="ctr"/>
          <a:lstStyle/>
          <a:p>
            <a:pPr marL="0" indent="0">
              <a:buNone/>
            </a:pPr>
            <a:r>
              <a:rPr lang="en-US" sz="2200" b="1" dirty="0">
                <a:solidFill>
                  <a:schemeClr val="tx2"/>
                </a:solidFill>
              </a:rPr>
              <a:t>RECYCL IT turns recycling into a game.</a:t>
            </a:r>
            <a:endParaRPr lang="en-US" sz="2200" dirty="0"/>
          </a:p>
        </p:txBody>
      </p:sp>
      <p:sp>
        <p:nvSpPr>
          <p:cNvPr id="4" name="Step card 1"/>
          <p:cNvSpPr/>
          <p:nvPr/>
        </p:nvSpPr>
        <p:spPr>
          <a:xfrm>
            <a:off x="548640" y="1874520"/>
            <a:ext cx="2103120" cy="2743200"/>
          </a:xfrm>
          <a:prstGeom prst="roundRect">
            <a:avLst>
              <a:gd name="adj" fmla="val 6522"/>
            </a:avLst>
          </a:prstGeom>
          <a:solidFill>
            <a:srgbClr val="EEF4EE"/>
          </a:solidFill>
          <a:ln/>
        </p:spPr>
        <p:txBody>
          <a:bodyPr/>
          <a:lstStyle/>
          <a:p>
            <a:endParaRPr lang="en-CH"/>
          </a:p>
        </p:txBody>
      </p:sp>
      <p:sp>
        <p:nvSpPr>
          <p:cNvPr id="5" name="Step 1 circle"/>
          <p:cNvSpPr/>
          <p:nvPr/>
        </p:nvSpPr>
        <p:spPr>
          <a:xfrm>
            <a:off x="777240" y="2103120"/>
            <a:ext cx="731520" cy="731520"/>
          </a:xfrm>
          <a:prstGeom prst="ellipse">
            <a:avLst/>
          </a:prstGeom>
          <a:solidFill>
            <a:srgbClr val="23704F"/>
          </a:solidFill>
          <a:ln/>
        </p:spPr>
        <p:txBody>
          <a:bodyPr/>
          <a:lstStyle/>
          <a:p>
            <a:endParaRPr lang="en-CH"/>
          </a:p>
        </p:txBody>
      </p:sp>
      <p:pic>
        <p:nvPicPr>
          <p:cNvPr id="6" name="Step 1 icon" descr="Step 1"/>
          <p:cNvPicPr>
            <a:picLocks noChangeAspect="1"/>
          </p:cNvPicPr>
          <p:nvPr/>
        </p:nvPicPr>
        <p:blipFill>
          <a:blip r:embed="rId3"/>
          <a:stretch>
            <a:fillRect/>
          </a:stretch>
        </p:blipFill>
        <p:spPr>
          <a:xfrm>
            <a:off x="960120" y="2286000"/>
            <a:ext cx="365760" cy="365760"/>
          </a:xfrm>
          <a:prstGeom prst="rect">
            <a:avLst/>
          </a:prstGeom>
        </p:spPr>
      </p:pic>
      <p:sp>
        <p:nvSpPr>
          <p:cNvPr id="7" name="Step number 1"/>
          <p:cNvSpPr txBox="1"/>
          <p:nvPr/>
        </p:nvSpPr>
        <p:spPr>
          <a:xfrm>
            <a:off x="1874520" y="2103120"/>
            <a:ext cx="548640" cy="731520"/>
          </a:xfrm>
          <a:prstGeom prst="rect">
            <a:avLst/>
          </a:prstGeom>
          <a:noFill/>
          <a:ln/>
        </p:spPr>
        <p:txBody>
          <a:bodyPr wrap="square" lIns="0" tIns="0" rIns="0" bIns="0" rtlCol="0" anchor="ctr"/>
          <a:lstStyle/>
          <a:p>
            <a:pPr marL="0" indent="0" algn="r">
              <a:buNone/>
            </a:pPr>
            <a:r>
              <a:rPr lang="en-US" sz="3600" b="1" dirty="0">
                <a:solidFill>
                  <a:schemeClr val="accent1"/>
                </a:solidFill>
              </a:rPr>
              <a:t>1</a:t>
            </a:r>
            <a:endParaRPr lang="en-US" sz="3600" dirty="0"/>
          </a:p>
        </p:txBody>
      </p:sp>
      <p:sp>
        <p:nvSpPr>
          <p:cNvPr id="8" name="Step text 1"/>
          <p:cNvSpPr txBox="1"/>
          <p:nvPr/>
        </p:nvSpPr>
        <p:spPr>
          <a:xfrm>
            <a:off x="777240" y="3017520"/>
            <a:ext cx="1691640" cy="1463040"/>
          </a:xfrm>
          <a:prstGeom prst="rect">
            <a:avLst/>
          </a:prstGeom>
          <a:noFill/>
          <a:ln/>
        </p:spPr>
        <p:txBody>
          <a:bodyPr wrap="square" lIns="0" tIns="0" rIns="0" bIns="0" rtlCol="0" anchor="t"/>
          <a:lstStyle/>
          <a:p>
            <a:pPr marL="0" indent="0">
              <a:buNone/>
            </a:pPr>
            <a:r>
              <a:rPr lang="en-US" sz="1600" dirty="0">
                <a:solidFill>
                  <a:schemeClr val="tx1"/>
                </a:solidFill>
              </a:rPr>
              <a:t>Record a verified recycling action.</a:t>
            </a:r>
            <a:endParaRPr lang="en-US" sz="1600" dirty="0"/>
          </a:p>
        </p:txBody>
      </p:sp>
      <p:sp>
        <p:nvSpPr>
          <p:cNvPr id="9" name="Step card 2"/>
          <p:cNvSpPr/>
          <p:nvPr/>
        </p:nvSpPr>
        <p:spPr>
          <a:xfrm>
            <a:off x="2788920" y="1874520"/>
            <a:ext cx="2103120" cy="2743200"/>
          </a:xfrm>
          <a:prstGeom prst="roundRect">
            <a:avLst>
              <a:gd name="adj" fmla="val 6522"/>
            </a:avLst>
          </a:prstGeom>
          <a:solidFill>
            <a:srgbClr val="EEF4EE"/>
          </a:solidFill>
          <a:ln/>
        </p:spPr>
        <p:txBody>
          <a:bodyPr/>
          <a:lstStyle/>
          <a:p>
            <a:endParaRPr lang="en-CH"/>
          </a:p>
        </p:txBody>
      </p:sp>
      <p:sp>
        <p:nvSpPr>
          <p:cNvPr id="10" name="Step 2 circle"/>
          <p:cNvSpPr/>
          <p:nvPr/>
        </p:nvSpPr>
        <p:spPr>
          <a:xfrm>
            <a:off x="3017520" y="2103120"/>
            <a:ext cx="731520" cy="731520"/>
          </a:xfrm>
          <a:prstGeom prst="ellipse">
            <a:avLst/>
          </a:prstGeom>
          <a:solidFill>
            <a:srgbClr val="23704F"/>
          </a:solidFill>
          <a:ln/>
        </p:spPr>
        <p:txBody>
          <a:bodyPr/>
          <a:lstStyle/>
          <a:p>
            <a:endParaRPr lang="en-CH"/>
          </a:p>
        </p:txBody>
      </p:sp>
      <p:pic>
        <p:nvPicPr>
          <p:cNvPr id="11" name="Step 2 icon" descr="Step 2"/>
          <p:cNvPicPr>
            <a:picLocks noChangeAspect="1"/>
          </p:cNvPicPr>
          <p:nvPr/>
        </p:nvPicPr>
        <p:blipFill>
          <a:blip r:embed="rId4"/>
          <a:stretch>
            <a:fillRect/>
          </a:stretch>
        </p:blipFill>
        <p:spPr>
          <a:xfrm>
            <a:off x="3200400" y="2286000"/>
            <a:ext cx="365760" cy="365760"/>
          </a:xfrm>
          <a:prstGeom prst="rect">
            <a:avLst/>
          </a:prstGeom>
        </p:spPr>
      </p:pic>
      <p:sp>
        <p:nvSpPr>
          <p:cNvPr id="12" name="Step number 2"/>
          <p:cNvSpPr txBox="1"/>
          <p:nvPr/>
        </p:nvSpPr>
        <p:spPr>
          <a:xfrm>
            <a:off x="4114800" y="2103120"/>
            <a:ext cx="548640" cy="731520"/>
          </a:xfrm>
          <a:prstGeom prst="rect">
            <a:avLst/>
          </a:prstGeom>
          <a:noFill/>
          <a:ln/>
        </p:spPr>
        <p:txBody>
          <a:bodyPr wrap="square" lIns="0" tIns="0" rIns="0" bIns="0" rtlCol="0" anchor="ctr"/>
          <a:lstStyle/>
          <a:p>
            <a:pPr marL="0" indent="0" algn="r">
              <a:buNone/>
            </a:pPr>
            <a:r>
              <a:rPr lang="en-US" sz="3600" b="1" dirty="0">
                <a:solidFill>
                  <a:schemeClr val="accent1"/>
                </a:solidFill>
              </a:rPr>
              <a:t>2</a:t>
            </a:r>
            <a:endParaRPr lang="en-US" sz="3600" dirty="0"/>
          </a:p>
        </p:txBody>
      </p:sp>
      <p:sp>
        <p:nvSpPr>
          <p:cNvPr id="13" name="Step text 2"/>
          <p:cNvSpPr txBox="1"/>
          <p:nvPr/>
        </p:nvSpPr>
        <p:spPr>
          <a:xfrm>
            <a:off x="3017520" y="3017520"/>
            <a:ext cx="1691640" cy="1463040"/>
          </a:xfrm>
          <a:prstGeom prst="rect">
            <a:avLst/>
          </a:prstGeom>
          <a:noFill/>
          <a:ln/>
        </p:spPr>
        <p:txBody>
          <a:bodyPr wrap="square" lIns="0" tIns="0" rIns="0" bIns="0" rtlCol="0" anchor="t"/>
          <a:lstStyle/>
          <a:p>
            <a:pPr marL="0" indent="0">
              <a:buNone/>
            </a:pPr>
            <a:r>
              <a:rPr lang="en-US" sz="1600" dirty="0">
                <a:solidFill>
                  <a:schemeClr val="tx1"/>
                </a:solidFill>
              </a:rPr>
              <a:t>Earn points.</a:t>
            </a:r>
            <a:endParaRPr lang="en-US" sz="1600" dirty="0"/>
          </a:p>
        </p:txBody>
      </p:sp>
      <p:sp>
        <p:nvSpPr>
          <p:cNvPr id="14" name="Step card 3"/>
          <p:cNvSpPr/>
          <p:nvPr/>
        </p:nvSpPr>
        <p:spPr>
          <a:xfrm>
            <a:off x="5029200" y="1874520"/>
            <a:ext cx="2103120" cy="2743200"/>
          </a:xfrm>
          <a:prstGeom prst="roundRect">
            <a:avLst>
              <a:gd name="adj" fmla="val 6522"/>
            </a:avLst>
          </a:prstGeom>
          <a:solidFill>
            <a:srgbClr val="EEF4EE"/>
          </a:solidFill>
          <a:ln/>
        </p:spPr>
        <p:txBody>
          <a:bodyPr/>
          <a:lstStyle/>
          <a:p>
            <a:endParaRPr lang="en-CH"/>
          </a:p>
        </p:txBody>
      </p:sp>
      <p:sp>
        <p:nvSpPr>
          <p:cNvPr id="15" name="Step 3 circle"/>
          <p:cNvSpPr/>
          <p:nvPr/>
        </p:nvSpPr>
        <p:spPr>
          <a:xfrm>
            <a:off x="5257800" y="2103120"/>
            <a:ext cx="731520" cy="731520"/>
          </a:xfrm>
          <a:prstGeom prst="ellipse">
            <a:avLst/>
          </a:prstGeom>
          <a:solidFill>
            <a:srgbClr val="23704F"/>
          </a:solidFill>
          <a:ln/>
        </p:spPr>
        <p:txBody>
          <a:bodyPr/>
          <a:lstStyle/>
          <a:p>
            <a:endParaRPr lang="en-CH"/>
          </a:p>
        </p:txBody>
      </p:sp>
      <p:pic>
        <p:nvPicPr>
          <p:cNvPr id="16" name="Step 3 icon" descr="Step 3"/>
          <p:cNvPicPr>
            <a:picLocks noChangeAspect="1"/>
          </p:cNvPicPr>
          <p:nvPr/>
        </p:nvPicPr>
        <p:blipFill>
          <a:blip r:embed="rId5"/>
          <a:stretch>
            <a:fillRect/>
          </a:stretch>
        </p:blipFill>
        <p:spPr>
          <a:xfrm>
            <a:off x="5440680" y="2286000"/>
            <a:ext cx="365760" cy="365760"/>
          </a:xfrm>
          <a:prstGeom prst="rect">
            <a:avLst/>
          </a:prstGeom>
        </p:spPr>
      </p:pic>
      <p:sp>
        <p:nvSpPr>
          <p:cNvPr id="17" name="Step number 3"/>
          <p:cNvSpPr txBox="1"/>
          <p:nvPr/>
        </p:nvSpPr>
        <p:spPr>
          <a:xfrm>
            <a:off x="6355080" y="2103120"/>
            <a:ext cx="548640" cy="731520"/>
          </a:xfrm>
          <a:prstGeom prst="rect">
            <a:avLst/>
          </a:prstGeom>
          <a:noFill/>
          <a:ln/>
        </p:spPr>
        <p:txBody>
          <a:bodyPr wrap="square" lIns="0" tIns="0" rIns="0" bIns="0" rtlCol="0" anchor="ctr"/>
          <a:lstStyle/>
          <a:p>
            <a:pPr marL="0" indent="0" algn="r">
              <a:buNone/>
            </a:pPr>
            <a:r>
              <a:rPr lang="en-US" sz="3600" b="1" dirty="0">
                <a:solidFill>
                  <a:schemeClr val="accent1"/>
                </a:solidFill>
              </a:rPr>
              <a:t>3</a:t>
            </a:r>
            <a:endParaRPr lang="en-US" sz="3600" dirty="0"/>
          </a:p>
        </p:txBody>
      </p:sp>
      <p:sp>
        <p:nvSpPr>
          <p:cNvPr id="18" name="Step text 3"/>
          <p:cNvSpPr txBox="1"/>
          <p:nvPr/>
        </p:nvSpPr>
        <p:spPr>
          <a:xfrm>
            <a:off x="5257800" y="3017520"/>
            <a:ext cx="1691640" cy="1463040"/>
          </a:xfrm>
          <a:prstGeom prst="rect">
            <a:avLst/>
          </a:prstGeom>
          <a:noFill/>
          <a:ln/>
        </p:spPr>
        <p:txBody>
          <a:bodyPr wrap="square" lIns="0" tIns="0" rIns="0" bIns="0" rtlCol="0" anchor="t"/>
          <a:lstStyle/>
          <a:p>
            <a:pPr marL="0" indent="0">
              <a:buNone/>
            </a:pPr>
            <a:r>
              <a:rPr lang="en-US" sz="1600" dirty="0">
                <a:solidFill>
                  <a:schemeClr val="tx1"/>
                </a:solidFill>
              </a:rPr>
              <a:t>Compete on leaderboards and join challenges.</a:t>
            </a:r>
            <a:endParaRPr lang="en-US" sz="1600" dirty="0"/>
          </a:p>
        </p:txBody>
      </p:sp>
      <p:sp>
        <p:nvSpPr>
          <p:cNvPr id="19" name="Step card 4"/>
          <p:cNvSpPr/>
          <p:nvPr/>
        </p:nvSpPr>
        <p:spPr>
          <a:xfrm>
            <a:off x="7269480" y="1874520"/>
            <a:ext cx="2103120" cy="2743200"/>
          </a:xfrm>
          <a:prstGeom prst="roundRect">
            <a:avLst>
              <a:gd name="adj" fmla="val 6522"/>
            </a:avLst>
          </a:prstGeom>
          <a:solidFill>
            <a:srgbClr val="EEF4EE"/>
          </a:solidFill>
          <a:ln/>
        </p:spPr>
        <p:txBody>
          <a:bodyPr/>
          <a:lstStyle/>
          <a:p>
            <a:endParaRPr lang="en-CH"/>
          </a:p>
        </p:txBody>
      </p:sp>
      <p:sp>
        <p:nvSpPr>
          <p:cNvPr id="20" name="Step 4 circle"/>
          <p:cNvSpPr/>
          <p:nvPr/>
        </p:nvSpPr>
        <p:spPr>
          <a:xfrm>
            <a:off x="7498080" y="2103120"/>
            <a:ext cx="731520" cy="731520"/>
          </a:xfrm>
          <a:prstGeom prst="ellipse">
            <a:avLst/>
          </a:prstGeom>
          <a:solidFill>
            <a:srgbClr val="23704F"/>
          </a:solidFill>
          <a:ln/>
        </p:spPr>
        <p:txBody>
          <a:bodyPr/>
          <a:lstStyle/>
          <a:p>
            <a:endParaRPr lang="en-CH"/>
          </a:p>
        </p:txBody>
      </p:sp>
      <p:pic>
        <p:nvPicPr>
          <p:cNvPr id="21" name="Step 4 icon" descr="Step 4"/>
          <p:cNvPicPr>
            <a:picLocks noChangeAspect="1"/>
          </p:cNvPicPr>
          <p:nvPr/>
        </p:nvPicPr>
        <p:blipFill>
          <a:blip r:embed="rId6"/>
          <a:stretch>
            <a:fillRect/>
          </a:stretch>
        </p:blipFill>
        <p:spPr>
          <a:xfrm>
            <a:off x="7680960" y="2286000"/>
            <a:ext cx="365760" cy="365760"/>
          </a:xfrm>
          <a:prstGeom prst="rect">
            <a:avLst/>
          </a:prstGeom>
        </p:spPr>
      </p:pic>
      <p:sp>
        <p:nvSpPr>
          <p:cNvPr id="22" name="Step number 4"/>
          <p:cNvSpPr txBox="1"/>
          <p:nvPr/>
        </p:nvSpPr>
        <p:spPr>
          <a:xfrm>
            <a:off x="8595360" y="2103120"/>
            <a:ext cx="548640" cy="731520"/>
          </a:xfrm>
          <a:prstGeom prst="rect">
            <a:avLst/>
          </a:prstGeom>
          <a:noFill/>
          <a:ln/>
        </p:spPr>
        <p:txBody>
          <a:bodyPr wrap="square" lIns="0" tIns="0" rIns="0" bIns="0" rtlCol="0" anchor="ctr"/>
          <a:lstStyle/>
          <a:p>
            <a:pPr marL="0" indent="0" algn="r">
              <a:buNone/>
            </a:pPr>
            <a:r>
              <a:rPr lang="en-US" sz="3600" b="1" dirty="0">
                <a:solidFill>
                  <a:schemeClr val="accent1"/>
                </a:solidFill>
              </a:rPr>
              <a:t>4</a:t>
            </a:r>
            <a:endParaRPr lang="en-US" sz="3600" dirty="0"/>
          </a:p>
        </p:txBody>
      </p:sp>
      <p:sp>
        <p:nvSpPr>
          <p:cNvPr id="23" name="Step text 4"/>
          <p:cNvSpPr txBox="1"/>
          <p:nvPr/>
        </p:nvSpPr>
        <p:spPr>
          <a:xfrm>
            <a:off x="7498080" y="3017520"/>
            <a:ext cx="1691640" cy="1463040"/>
          </a:xfrm>
          <a:prstGeom prst="rect">
            <a:avLst/>
          </a:prstGeom>
          <a:noFill/>
          <a:ln/>
        </p:spPr>
        <p:txBody>
          <a:bodyPr wrap="square" lIns="0" tIns="0" rIns="0" bIns="0" rtlCol="0" anchor="t"/>
          <a:lstStyle/>
          <a:p>
            <a:pPr marL="0" indent="0">
              <a:buNone/>
            </a:pPr>
            <a:r>
              <a:rPr lang="en-US" sz="1600" dirty="0">
                <a:solidFill>
                  <a:schemeClr val="tx1"/>
                </a:solidFill>
              </a:rPr>
              <a:t>Redeem points for local rewards.</a:t>
            </a:r>
            <a:endParaRPr lang="en-US" sz="1600" dirty="0"/>
          </a:p>
        </p:txBody>
      </p:sp>
      <p:sp>
        <p:nvSpPr>
          <p:cNvPr id="24" name="Step card 5"/>
          <p:cNvSpPr/>
          <p:nvPr/>
        </p:nvSpPr>
        <p:spPr>
          <a:xfrm>
            <a:off x="9509760" y="1874520"/>
            <a:ext cx="2103120" cy="2743200"/>
          </a:xfrm>
          <a:prstGeom prst="roundRect">
            <a:avLst>
              <a:gd name="adj" fmla="val 6522"/>
            </a:avLst>
          </a:prstGeom>
          <a:solidFill>
            <a:srgbClr val="EEF4EE"/>
          </a:solidFill>
          <a:ln/>
        </p:spPr>
        <p:txBody>
          <a:bodyPr/>
          <a:lstStyle/>
          <a:p>
            <a:endParaRPr lang="en-CH"/>
          </a:p>
        </p:txBody>
      </p:sp>
      <p:sp>
        <p:nvSpPr>
          <p:cNvPr id="25" name="Step 5 circle"/>
          <p:cNvSpPr/>
          <p:nvPr/>
        </p:nvSpPr>
        <p:spPr>
          <a:xfrm>
            <a:off x="9738360" y="2103120"/>
            <a:ext cx="731520" cy="731520"/>
          </a:xfrm>
          <a:prstGeom prst="ellipse">
            <a:avLst/>
          </a:prstGeom>
          <a:solidFill>
            <a:srgbClr val="23704F"/>
          </a:solidFill>
          <a:ln/>
        </p:spPr>
        <p:txBody>
          <a:bodyPr/>
          <a:lstStyle/>
          <a:p>
            <a:endParaRPr lang="en-CH"/>
          </a:p>
        </p:txBody>
      </p:sp>
      <p:pic>
        <p:nvPicPr>
          <p:cNvPr id="26" name="Step 5 icon" descr="Step 5"/>
          <p:cNvPicPr>
            <a:picLocks noChangeAspect="1"/>
          </p:cNvPicPr>
          <p:nvPr/>
        </p:nvPicPr>
        <p:blipFill>
          <a:blip r:embed="rId7"/>
          <a:stretch>
            <a:fillRect/>
          </a:stretch>
        </p:blipFill>
        <p:spPr>
          <a:xfrm>
            <a:off x="9921240" y="2286000"/>
            <a:ext cx="365760" cy="365760"/>
          </a:xfrm>
          <a:prstGeom prst="rect">
            <a:avLst/>
          </a:prstGeom>
        </p:spPr>
      </p:pic>
      <p:sp>
        <p:nvSpPr>
          <p:cNvPr id="27" name="Step number 5"/>
          <p:cNvSpPr txBox="1"/>
          <p:nvPr/>
        </p:nvSpPr>
        <p:spPr>
          <a:xfrm>
            <a:off x="10835640" y="2103120"/>
            <a:ext cx="548640" cy="731520"/>
          </a:xfrm>
          <a:prstGeom prst="rect">
            <a:avLst/>
          </a:prstGeom>
          <a:noFill/>
          <a:ln/>
        </p:spPr>
        <p:txBody>
          <a:bodyPr wrap="square" lIns="0" tIns="0" rIns="0" bIns="0" rtlCol="0" anchor="ctr"/>
          <a:lstStyle/>
          <a:p>
            <a:pPr marL="0" indent="0" algn="r">
              <a:buNone/>
            </a:pPr>
            <a:r>
              <a:rPr lang="en-US" sz="3600" b="1" dirty="0">
                <a:solidFill>
                  <a:schemeClr val="accent1"/>
                </a:solidFill>
              </a:rPr>
              <a:t>5</a:t>
            </a:r>
            <a:endParaRPr lang="en-US" sz="3600" dirty="0"/>
          </a:p>
        </p:txBody>
      </p:sp>
      <p:sp>
        <p:nvSpPr>
          <p:cNvPr id="28" name="Step text 5"/>
          <p:cNvSpPr txBox="1"/>
          <p:nvPr/>
        </p:nvSpPr>
        <p:spPr>
          <a:xfrm>
            <a:off x="9738360" y="3017520"/>
            <a:ext cx="1691640" cy="1463040"/>
          </a:xfrm>
          <a:prstGeom prst="rect">
            <a:avLst/>
          </a:prstGeom>
          <a:noFill/>
          <a:ln/>
        </p:spPr>
        <p:txBody>
          <a:bodyPr wrap="square" lIns="0" tIns="0" rIns="0" bIns="0" rtlCol="0" anchor="t"/>
          <a:lstStyle/>
          <a:p>
            <a:pPr marL="0" indent="0">
              <a:buNone/>
            </a:pPr>
            <a:r>
              <a:rPr lang="en-US" sz="1600" dirty="0">
                <a:solidFill>
                  <a:schemeClr val="tx1"/>
                </a:solidFill>
              </a:rPr>
              <a:t>Participate in local challenges and connect with people on our app.</a:t>
            </a:r>
            <a:endParaRPr lang="en-US" sz="1600" dirty="0"/>
          </a:p>
        </p:txBody>
      </p:sp>
      <p:sp>
        <p:nvSpPr>
          <p:cNvPr id="29" name="Demo callout"/>
          <p:cNvSpPr/>
          <p:nvPr/>
        </p:nvSpPr>
        <p:spPr>
          <a:xfrm>
            <a:off x="548640" y="4892040"/>
            <a:ext cx="11064240" cy="868680"/>
          </a:xfrm>
          <a:prstGeom prst="roundRect">
            <a:avLst>
              <a:gd name="adj" fmla="val 15789"/>
            </a:avLst>
          </a:prstGeom>
          <a:solidFill>
            <a:srgbClr val="F2A33A"/>
          </a:solidFill>
          <a:ln/>
        </p:spPr>
        <p:txBody>
          <a:bodyPr/>
          <a:lstStyle/>
          <a:p>
            <a:endParaRPr lang="en-CH"/>
          </a:p>
        </p:txBody>
      </p:sp>
      <p:pic>
        <p:nvPicPr>
          <p:cNvPr id="30" name="Phone icon" descr="Phone"/>
          <p:cNvPicPr>
            <a:picLocks noChangeAspect="1"/>
          </p:cNvPicPr>
          <p:nvPr/>
        </p:nvPicPr>
        <p:blipFill>
          <a:blip r:embed="rId8"/>
          <a:stretch>
            <a:fillRect/>
          </a:stretch>
        </p:blipFill>
        <p:spPr>
          <a:xfrm>
            <a:off x="868680" y="5074920"/>
            <a:ext cx="502920" cy="502920"/>
          </a:xfrm>
          <a:prstGeom prst="rect">
            <a:avLst/>
          </a:prstGeom>
        </p:spPr>
      </p:pic>
      <p:sp>
        <p:nvSpPr>
          <p:cNvPr id="31" name="Demo text"/>
          <p:cNvSpPr txBox="1"/>
          <p:nvPr/>
        </p:nvSpPr>
        <p:spPr>
          <a:xfrm>
            <a:off x="1600200" y="4892040"/>
            <a:ext cx="9784080" cy="868680"/>
          </a:xfrm>
          <a:prstGeom prst="rect">
            <a:avLst/>
          </a:prstGeom>
          <a:noFill/>
          <a:ln/>
        </p:spPr>
        <p:txBody>
          <a:bodyPr wrap="square" lIns="0" tIns="0" rIns="0" bIns="0" rtlCol="0" anchor="ctr"/>
          <a:lstStyle/>
          <a:p>
            <a:pPr marL="0" indent="0">
              <a:buNone/>
            </a:pPr>
            <a:r>
              <a:rPr lang="en-US" sz="2200" b="1" dirty="0">
                <a:solidFill>
                  <a:schemeClr val="tx1"/>
                </a:solidFill>
              </a:rPr>
              <a:t>Demo: Show the app and its core features.</a:t>
            </a:r>
            <a:endParaRPr lang="en-US" sz="2200" dirty="0"/>
          </a:p>
        </p:txBody>
      </p:sp>
      <p:sp>
        <p:nvSpPr>
          <p:cNvPr id="3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3600" b="1" dirty="0">
                <a:solidFill>
                  <a:schemeClr val="tx1"/>
                </a:solidFill>
              </a:rPr>
              <a:t>Business Model</a:t>
            </a:r>
            <a:endParaRPr lang="en-US" sz="3600" dirty="0"/>
          </a:p>
        </p:txBody>
      </p:sp>
      <p:sp>
        <p:nvSpPr>
          <p:cNvPr id="3" name="Subtitle"/>
          <p:cNvSpPr txBox="1"/>
          <p:nvPr/>
        </p:nvSpPr>
        <p:spPr>
          <a:xfrm>
            <a:off x="548640" y="1143000"/>
            <a:ext cx="11064240" cy="457200"/>
          </a:xfrm>
          <a:prstGeom prst="rect">
            <a:avLst/>
          </a:prstGeom>
          <a:noFill/>
          <a:ln/>
        </p:spPr>
        <p:txBody>
          <a:bodyPr wrap="square" lIns="0" tIns="0" rIns="0" bIns="0" rtlCol="0" anchor="ctr"/>
          <a:lstStyle/>
          <a:p>
            <a:pPr marL="0" indent="0">
              <a:buNone/>
            </a:pPr>
            <a:r>
              <a:rPr lang="en-US" sz="2200" b="1" dirty="0">
                <a:solidFill>
                  <a:schemeClr val="tx2"/>
                </a:solidFill>
              </a:rPr>
              <a:t>Free for you, supported by partners.</a:t>
            </a:r>
            <a:endParaRPr lang="en-US" sz="2200" dirty="0"/>
          </a:p>
        </p:txBody>
      </p:sp>
      <p:sp>
        <p:nvSpPr>
          <p:cNvPr id="4" name="Partner card 1"/>
          <p:cNvSpPr/>
          <p:nvPr/>
        </p:nvSpPr>
        <p:spPr>
          <a:xfrm>
            <a:off x="548640" y="1874520"/>
            <a:ext cx="3566160" cy="2743200"/>
          </a:xfrm>
          <a:prstGeom prst="roundRect">
            <a:avLst>
              <a:gd name="adj" fmla="val 5000"/>
            </a:avLst>
          </a:prstGeom>
          <a:solidFill>
            <a:srgbClr val="EEF4EE"/>
          </a:solidFill>
          <a:ln/>
        </p:spPr>
        <p:txBody>
          <a:bodyPr/>
          <a:lstStyle/>
          <a:p>
            <a:endParaRPr lang="en-CH"/>
          </a:p>
        </p:txBody>
      </p:sp>
      <p:sp>
        <p:nvSpPr>
          <p:cNvPr id="5" name="Municipalities circle"/>
          <p:cNvSpPr/>
          <p:nvPr/>
        </p:nvSpPr>
        <p:spPr>
          <a:xfrm>
            <a:off x="822960" y="2103120"/>
            <a:ext cx="777240" cy="777240"/>
          </a:xfrm>
          <a:prstGeom prst="ellipse">
            <a:avLst/>
          </a:prstGeom>
          <a:solidFill>
            <a:srgbClr val="23704F"/>
          </a:solidFill>
          <a:ln/>
        </p:spPr>
        <p:txBody>
          <a:bodyPr/>
          <a:lstStyle/>
          <a:p>
            <a:endParaRPr lang="en-CH"/>
          </a:p>
        </p:txBody>
      </p:sp>
      <p:pic>
        <p:nvPicPr>
          <p:cNvPr id="6" name="Municipalities icon" descr="Municipalities"/>
          <p:cNvPicPr>
            <a:picLocks noChangeAspect="1"/>
          </p:cNvPicPr>
          <p:nvPr/>
        </p:nvPicPr>
        <p:blipFill>
          <a:blip r:embed="rId3"/>
          <a:stretch>
            <a:fillRect/>
          </a:stretch>
        </p:blipFill>
        <p:spPr>
          <a:xfrm>
            <a:off x="1017270" y="2297430"/>
            <a:ext cx="388620" cy="388620"/>
          </a:xfrm>
          <a:prstGeom prst="rect">
            <a:avLst/>
          </a:prstGeom>
        </p:spPr>
      </p:pic>
      <p:sp>
        <p:nvSpPr>
          <p:cNvPr id="7" name="Municipalities header"/>
          <p:cNvSpPr txBox="1"/>
          <p:nvPr/>
        </p:nvSpPr>
        <p:spPr>
          <a:xfrm>
            <a:off x="822960" y="3017520"/>
            <a:ext cx="3017520" cy="457200"/>
          </a:xfrm>
          <a:prstGeom prst="rect">
            <a:avLst/>
          </a:prstGeom>
          <a:noFill/>
          <a:ln/>
        </p:spPr>
        <p:txBody>
          <a:bodyPr wrap="square" lIns="0" tIns="0" rIns="0" bIns="0" rtlCol="0" anchor="ctr"/>
          <a:lstStyle/>
          <a:p>
            <a:pPr marL="0" indent="0">
              <a:buNone/>
            </a:pPr>
            <a:r>
              <a:rPr lang="en-US" sz="2200" b="1" dirty="0">
                <a:solidFill>
                  <a:schemeClr val="tx1"/>
                </a:solidFill>
              </a:rPr>
              <a:t>Municipalities</a:t>
            </a:r>
            <a:endParaRPr lang="en-US" sz="2200" dirty="0"/>
          </a:p>
        </p:txBody>
      </p:sp>
      <p:sp>
        <p:nvSpPr>
          <p:cNvPr id="8" name="Municipalities text"/>
          <p:cNvSpPr txBox="1"/>
          <p:nvPr/>
        </p:nvSpPr>
        <p:spPr>
          <a:xfrm>
            <a:off x="822960" y="3520440"/>
            <a:ext cx="3017520" cy="1005840"/>
          </a:xfrm>
          <a:prstGeom prst="rect">
            <a:avLst/>
          </a:prstGeom>
          <a:noFill/>
          <a:ln/>
        </p:spPr>
        <p:txBody>
          <a:bodyPr wrap="square" lIns="0" tIns="0" rIns="0" bIns="0" rtlCol="0" anchor="t"/>
          <a:lstStyle/>
          <a:p>
            <a:pPr marL="0" indent="0">
              <a:buNone/>
            </a:pPr>
            <a:r>
              <a:rPr lang="en-US" sz="1600" dirty="0">
                <a:solidFill>
                  <a:schemeClr val="accent5"/>
                </a:solidFill>
              </a:rPr>
              <a:t>potential funding for local sustainability initiatives, which they already do in other events.</a:t>
            </a:r>
            <a:endParaRPr lang="en-US" sz="1600" dirty="0"/>
          </a:p>
        </p:txBody>
      </p:sp>
      <p:sp>
        <p:nvSpPr>
          <p:cNvPr id="9" name="Partner card 2"/>
          <p:cNvSpPr/>
          <p:nvPr/>
        </p:nvSpPr>
        <p:spPr>
          <a:xfrm>
            <a:off x="4297680" y="1874520"/>
            <a:ext cx="3566160" cy="2743200"/>
          </a:xfrm>
          <a:prstGeom prst="roundRect">
            <a:avLst>
              <a:gd name="adj" fmla="val 5000"/>
            </a:avLst>
          </a:prstGeom>
          <a:solidFill>
            <a:srgbClr val="EEF4EE"/>
          </a:solidFill>
          <a:ln/>
        </p:spPr>
        <p:txBody>
          <a:bodyPr/>
          <a:lstStyle/>
          <a:p>
            <a:endParaRPr lang="en-CH"/>
          </a:p>
        </p:txBody>
      </p:sp>
      <p:sp>
        <p:nvSpPr>
          <p:cNvPr id="10" name="Businesses circle"/>
          <p:cNvSpPr/>
          <p:nvPr/>
        </p:nvSpPr>
        <p:spPr>
          <a:xfrm>
            <a:off x="4572000" y="2103120"/>
            <a:ext cx="777240" cy="777240"/>
          </a:xfrm>
          <a:prstGeom prst="ellipse">
            <a:avLst/>
          </a:prstGeom>
          <a:solidFill>
            <a:srgbClr val="23704F"/>
          </a:solidFill>
          <a:ln/>
        </p:spPr>
        <p:txBody>
          <a:bodyPr/>
          <a:lstStyle/>
          <a:p>
            <a:endParaRPr lang="en-CH"/>
          </a:p>
        </p:txBody>
      </p:sp>
      <p:pic>
        <p:nvPicPr>
          <p:cNvPr id="11" name="Businesses icon" descr="Businesses"/>
          <p:cNvPicPr>
            <a:picLocks noChangeAspect="1"/>
          </p:cNvPicPr>
          <p:nvPr/>
        </p:nvPicPr>
        <p:blipFill>
          <a:blip r:embed="rId4"/>
          <a:stretch>
            <a:fillRect/>
          </a:stretch>
        </p:blipFill>
        <p:spPr>
          <a:xfrm>
            <a:off x="4766310" y="2297430"/>
            <a:ext cx="388620" cy="388620"/>
          </a:xfrm>
          <a:prstGeom prst="rect">
            <a:avLst/>
          </a:prstGeom>
        </p:spPr>
      </p:pic>
      <p:sp>
        <p:nvSpPr>
          <p:cNvPr id="12" name="Businesses header"/>
          <p:cNvSpPr txBox="1"/>
          <p:nvPr/>
        </p:nvSpPr>
        <p:spPr>
          <a:xfrm>
            <a:off x="4572000" y="3017520"/>
            <a:ext cx="3017520" cy="457200"/>
          </a:xfrm>
          <a:prstGeom prst="rect">
            <a:avLst/>
          </a:prstGeom>
          <a:noFill/>
          <a:ln/>
        </p:spPr>
        <p:txBody>
          <a:bodyPr wrap="square" lIns="0" tIns="0" rIns="0" bIns="0" rtlCol="0" anchor="ctr"/>
          <a:lstStyle/>
          <a:p>
            <a:pPr marL="0" indent="0">
              <a:buNone/>
            </a:pPr>
            <a:r>
              <a:rPr lang="en-US" sz="2200" b="1" dirty="0">
                <a:solidFill>
                  <a:schemeClr val="tx1"/>
                </a:solidFill>
              </a:rPr>
              <a:t>Businesses</a:t>
            </a:r>
            <a:endParaRPr lang="en-US" sz="2200" dirty="0"/>
          </a:p>
        </p:txBody>
      </p:sp>
      <p:sp>
        <p:nvSpPr>
          <p:cNvPr id="13" name="Businesses text"/>
          <p:cNvSpPr txBox="1"/>
          <p:nvPr/>
        </p:nvSpPr>
        <p:spPr>
          <a:xfrm>
            <a:off x="4572000" y="3520440"/>
            <a:ext cx="3017520" cy="1005840"/>
          </a:xfrm>
          <a:prstGeom prst="rect">
            <a:avLst/>
          </a:prstGeom>
          <a:noFill/>
          <a:ln/>
        </p:spPr>
        <p:txBody>
          <a:bodyPr wrap="square" lIns="0" tIns="0" rIns="0" bIns="0" rtlCol="0" anchor="t"/>
          <a:lstStyle/>
          <a:p>
            <a:pPr marL="0" indent="0">
              <a:buNone/>
            </a:pPr>
            <a:r>
              <a:rPr lang="en-US" sz="1600" dirty="0">
                <a:solidFill>
                  <a:schemeClr val="accent5"/>
                </a:solidFill>
              </a:rPr>
              <a:t>sponsor discounts and rewards so we both win.</a:t>
            </a:r>
            <a:endParaRPr lang="en-US" sz="1600" dirty="0"/>
          </a:p>
        </p:txBody>
      </p:sp>
      <p:sp>
        <p:nvSpPr>
          <p:cNvPr id="14" name="Partner card 3"/>
          <p:cNvSpPr/>
          <p:nvPr/>
        </p:nvSpPr>
        <p:spPr>
          <a:xfrm>
            <a:off x="8046720" y="1874520"/>
            <a:ext cx="3566160" cy="2743200"/>
          </a:xfrm>
          <a:prstGeom prst="roundRect">
            <a:avLst>
              <a:gd name="adj" fmla="val 5000"/>
            </a:avLst>
          </a:prstGeom>
          <a:solidFill>
            <a:srgbClr val="EEF4EE"/>
          </a:solidFill>
          <a:ln/>
        </p:spPr>
        <p:txBody>
          <a:bodyPr/>
          <a:lstStyle/>
          <a:p>
            <a:endParaRPr lang="en-CH"/>
          </a:p>
        </p:txBody>
      </p:sp>
      <p:sp>
        <p:nvSpPr>
          <p:cNvPr id="15" name="Nonprofits circle"/>
          <p:cNvSpPr/>
          <p:nvPr/>
        </p:nvSpPr>
        <p:spPr>
          <a:xfrm>
            <a:off x="8321040" y="2103120"/>
            <a:ext cx="777240" cy="777240"/>
          </a:xfrm>
          <a:prstGeom prst="ellipse">
            <a:avLst/>
          </a:prstGeom>
          <a:solidFill>
            <a:srgbClr val="23704F"/>
          </a:solidFill>
          <a:ln/>
        </p:spPr>
        <p:txBody>
          <a:bodyPr/>
          <a:lstStyle/>
          <a:p>
            <a:endParaRPr lang="en-CH"/>
          </a:p>
        </p:txBody>
      </p:sp>
      <p:pic>
        <p:nvPicPr>
          <p:cNvPr id="16" name="Nonprofits icon" descr="Nonprofits"/>
          <p:cNvPicPr>
            <a:picLocks noChangeAspect="1"/>
          </p:cNvPicPr>
          <p:nvPr/>
        </p:nvPicPr>
        <p:blipFill>
          <a:blip r:embed="rId5"/>
          <a:stretch>
            <a:fillRect/>
          </a:stretch>
        </p:blipFill>
        <p:spPr>
          <a:xfrm>
            <a:off x="8515350" y="2297430"/>
            <a:ext cx="388620" cy="388620"/>
          </a:xfrm>
          <a:prstGeom prst="rect">
            <a:avLst/>
          </a:prstGeom>
        </p:spPr>
      </p:pic>
      <p:sp>
        <p:nvSpPr>
          <p:cNvPr id="17" name="Nonprofits header"/>
          <p:cNvSpPr txBox="1"/>
          <p:nvPr/>
        </p:nvSpPr>
        <p:spPr>
          <a:xfrm>
            <a:off x="8321040" y="3017520"/>
            <a:ext cx="3017520" cy="457200"/>
          </a:xfrm>
          <a:prstGeom prst="rect">
            <a:avLst/>
          </a:prstGeom>
          <a:noFill/>
          <a:ln/>
        </p:spPr>
        <p:txBody>
          <a:bodyPr wrap="square" lIns="0" tIns="0" rIns="0" bIns="0" rtlCol="0" anchor="ctr"/>
          <a:lstStyle/>
          <a:p>
            <a:pPr marL="0" indent="0">
              <a:buNone/>
            </a:pPr>
            <a:r>
              <a:rPr lang="en-US" sz="2200" b="1" dirty="0">
                <a:solidFill>
                  <a:schemeClr val="tx1"/>
                </a:solidFill>
              </a:rPr>
              <a:t>Nonprofits</a:t>
            </a:r>
            <a:endParaRPr lang="en-US" sz="2200" dirty="0"/>
          </a:p>
        </p:txBody>
      </p:sp>
      <p:sp>
        <p:nvSpPr>
          <p:cNvPr id="18" name="Nonprofits text"/>
          <p:cNvSpPr txBox="1"/>
          <p:nvPr/>
        </p:nvSpPr>
        <p:spPr>
          <a:xfrm>
            <a:off x="8321040" y="3520440"/>
            <a:ext cx="3017520" cy="1005840"/>
          </a:xfrm>
          <a:prstGeom prst="rect">
            <a:avLst/>
          </a:prstGeom>
          <a:noFill/>
          <a:ln/>
        </p:spPr>
        <p:txBody>
          <a:bodyPr wrap="square" lIns="0" tIns="0" rIns="0" bIns="0" rtlCol="0" anchor="t"/>
          <a:lstStyle/>
          <a:p>
            <a:pPr marL="0" indent="0">
              <a:buNone/>
            </a:pPr>
            <a:r>
              <a:rPr lang="en-US" sz="1600" dirty="0">
                <a:solidFill>
                  <a:schemeClr val="accent5"/>
                </a:solidFill>
              </a:rPr>
              <a:t>support community events, help us get notices and fight the whole issue.</a:t>
            </a:r>
            <a:endParaRPr lang="en-US" sz="1600" dirty="0"/>
          </a:p>
        </p:txBody>
      </p:sp>
      <p:sp>
        <p:nvSpPr>
          <p:cNvPr id="19" name="Next step strip"/>
          <p:cNvSpPr/>
          <p:nvPr/>
        </p:nvSpPr>
        <p:spPr>
          <a:xfrm>
            <a:off x="548640" y="4892040"/>
            <a:ext cx="11064240" cy="868680"/>
          </a:xfrm>
          <a:prstGeom prst="roundRect">
            <a:avLst>
              <a:gd name="adj" fmla="val 15789"/>
            </a:avLst>
          </a:prstGeom>
          <a:solidFill>
            <a:srgbClr val="14342B"/>
          </a:solidFill>
          <a:ln/>
        </p:spPr>
        <p:txBody>
          <a:bodyPr/>
          <a:lstStyle/>
          <a:p>
            <a:endParaRPr lang="en-CH"/>
          </a:p>
        </p:txBody>
      </p:sp>
      <p:sp>
        <p:nvSpPr>
          <p:cNvPr id="20" name="Next step text"/>
          <p:cNvSpPr txBox="1"/>
          <p:nvPr/>
        </p:nvSpPr>
        <p:spPr>
          <a:xfrm>
            <a:off x="868680" y="4892040"/>
            <a:ext cx="10515600" cy="868680"/>
          </a:xfrm>
          <a:prstGeom prst="rect">
            <a:avLst/>
          </a:prstGeom>
          <a:noFill/>
          <a:ln/>
        </p:spPr>
        <p:txBody>
          <a:bodyPr wrap="square" lIns="0" tIns="0" rIns="0" bIns="0" rtlCol="0" anchor="ctr"/>
          <a:lstStyle/>
          <a:p>
            <a:pPr marL="0" indent="0">
              <a:buNone/>
            </a:pPr>
            <a:r>
              <a:rPr lang="en-US" sz="2000" b="1" dirty="0">
                <a:solidFill>
                  <a:schemeClr val="accent1"/>
                </a:solidFill>
              </a:rPr>
              <a:t>Next step: </a:t>
            </a:r>
            <a:r>
              <a:rPr lang="en-US" sz="2000" dirty="0">
                <a:solidFill>
                  <a:schemeClr val="bg1"/>
                </a:solidFill>
              </a:rPr>
              <a:t>validate partner interest, operating costs, and funding.</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3600" b="1" dirty="0">
                <a:solidFill>
                  <a:schemeClr val="tx1"/>
                </a:solidFill>
              </a:rPr>
              <a:t>Why RECYCL IT?</a:t>
            </a:r>
            <a:endParaRPr lang="en-US" sz="3600" dirty="0"/>
          </a:p>
        </p:txBody>
      </p:sp>
      <p:sp>
        <p:nvSpPr>
          <p:cNvPr id="3" name="Subtitle"/>
          <p:cNvSpPr txBox="1"/>
          <p:nvPr/>
        </p:nvSpPr>
        <p:spPr>
          <a:xfrm>
            <a:off x="548640" y="1143000"/>
            <a:ext cx="11064240" cy="457200"/>
          </a:xfrm>
          <a:prstGeom prst="rect">
            <a:avLst/>
          </a:prstGeom>
          <a:noFill/>
          <a:ln/>
        </p:spPr>
        <p:txBody>
          <a:bodyPr wrap="square" lIns="0" tIns="0" rIns="0" bIns="0" rtlCol="0" anchor="ctr"/>
          <a:lstStyle/>
          <a:p>
            <a:pPr marL="0" indent="0">
              <a:buNone/>
            </a:pPr>
            <a:r>
              <a:rPr lang="en-US" sz="2200" b="1" dirty="0">
                <a:solidFill>
                  <a:schemeClr val="tx2"/>
                </a:solidFill>
              </a:rPr>
              <a:t>More than a recycling information tool.</a:t>
            </a:r>
            <a:endParaRPr lang="en-US" sz="2200" dirty="0"/>
          </a:p>
        </p:txBody>
      </p:sp>
      <p:sp>
        <p:nvSpPr>
          <p:cNvPr id="4" name="USP tile 1"/>
          <p:cNvSpPr/>
          <p:nvPr/>
        </p:nvSpPr>
        <p:spPr>
          <a:xfrm>
            <a:off x="548640" y="1828800"/>
            <a:ext cx="3566160" cy="1005840"/>
          </a:xfrm>
          <a:prstGeom prst="roundRect">
            <a:avLst>
              <a:gd name="adj" fmla="val 13636"/>
            </a:avLst>
          </a:prstGeom>
          <a:solidFill>
            <a:srgbClr val="EEF4EE"/>
          </a:solidFill>
          <a:ln/>
        </p:spPr>
        <p:txBody>
          <a:bodyPr/>
          <a:lstStyle/>
          <a:p>
            <a:endParaRPr lang="en-CH"/>
          </a:p>
        </p:txBody>
      </p:sp>
      <p:sp>
        <p:nvSpPr>
          <p:cNvPr id="5" name="USP 1 circle"/>
          <p:cNvSpPr/>
          <p:nvPr/>
        </p:nvSpPr>
        <p:spPr>
          <a:xfrm>
            <a:off x="731520" y="1993392"/>
            <a:ext cx="676656" cy="676656"/>
          </a:xfrm>
          <a:prstGeom prst="ellipse">
            <a:avLst/>
          </a:prstGeom>
          <a:solidFill>
            <a:srgbClr val="F2A33A"/>
          </a:solidFill>
          <a:ln/>
        </p:spPr>
        <p:txBody>
          <a:bodyPr/>
          <a:lstStyle/>
          <a:p>
            <a:endParaRPr lang="en-CH"/>
          </a:p>
        </p:txBody>
      </p:sp>
      <p:pic>
        <p:nvPicPr>
          <p:cNvPr id="6" name="USP 1 icon" descr="USP 1"/>
          <p:cNvPicPr>
            <a:picLocks noChangeAspect="1"/>
          </p:cNvPicPr>
          <p:nvPr/>
        </p:nvPicPr>
        <p:blipFill>
          <a:blip r:embed="rId3"/>
          <a:stretch>
            <a:fillRect/>
          </a:stretch>
        </p:blipFill>
        <p:spPr>
          <a:xfrm>
            <a:off x="900684" y="2162556"/>
            <a:ext cx="338328" cy="338328"/>
          </a:xfrm>
          <a:prstGeom prst="rect">
            <a:avLst/>
          </a:prstGeom>
        </p:spPr>
      </p:pic>
      <p:sp>
        <p:nvSpPr>
          <p:cNvPr id="7" name="USP text 1"/>
          <p:cNvSpPr txBox="1"/>
          <p:nvPr/>
        </p:nvSpPr>
        <p:spPr>
          <a:xfrm>
            <a:off x="1554480" y="1828800"/>
            <a:ext cx="2423160" cy="1005840"/>
          </a:xfrm>
          <a:prstGeom prst="rect">
            <a:avLst/>
          </a:prstGeom>
          <a:noFill/>
          <a:ln/>
        </p:spPr>
        <p:txBody>
          <a:bodyPr wrap="square" lIns="0" tIns="0" rIns="0" bIns="0" rtlCol="0" anchor="ctr"/>
          <a:lstStyle/>
          <a:p>
            <a:pPr marL="0" indent="0">
              <a:buNone/>
            </a:pPr>
            <a:r>
              <a:rPr lang="en-US" sz="1600" b="1" dirty="0">
                <a:solidFill>
                  <a:schemeClr val="tx1"/>
                </a:solidFill>
              </a:rPr>
              <a:t>Gamification and point-based rewards</a:t>
            </a:r>
            <a:endParaRPr lang="en-US" sz="1600" dirty="0"/>
          </a:p>
        </p:txBody>
      </p:sp>
      <p:sp>
        <p:nvSpPr>
          <p:cNvPr id="8" name="USP tile 2"/>
          <p:cNvSpPr/>
          <p:nvPr/>
        </p:nvSpPr>
        <p:spPr>
          <a:xfrm>
            <a:off x="4297680" y="1828800"/>
            <a:ext cx="3566160" cy="1005840"/>
          </a:xfrm>
          <a:prstGeom prst="roundRect">
            <a:avLst>
              <a:gd name="adj" fmla="val 13636"/>
            </a:avLst>
          </a:prstGeom>
          <a:solidFill>
            <a:srgbClr val="EEF4EE"/>
          </a:solidFill>
          <a:ln/>
        </p:spPr>
        <p:txBody>
          <a:bodyPr/>
          <a:lstStyle/>
          <a:p>
            <a:endParaRPr lang="en-CH"/>
          </a:p>
        </p:txBody>
      </p:sp>
      <p:sp>
        <p:nvSpPr>
          <p:cNvPr id="9" name="USP 2 circle"/>
          <p:cNvSpPr/>
          <p:nvPr/>
        </p:nvSpPr>
        <p:spPr>
          <a:xfrm>
            <a:off x="4480560" y="1993392"/>
            <a:ext cx="676656" cy="676656"/>
          </a:xfrm>
          <a:prstGeom prst="ellipse">
            <a:avLst/>
          </a:prstGeom>
          <a:solidFill>
            <a:srgbClr val="F2A33A"/>
          </a:solidFill>
          <a:ln/>
        </p:spPr>
        <p:txBody>
          <a:bodyPr/>
          <a:lstStyle/>
          <a:p>
            <a:endParaRPr lang="en-CH"/>
          </a:p>
        </p:txBody>
      </p:sp>
      <p:pic>
        <p:nvPicPr>
          <p:cNvPr id="10" name="USP 2 icon" descr="USP 2"/>
          <p:cNvPicPr>
            <a:picLocks noChangeAspect="1"/>
          </p:cNvPicPr>
          <p:nvPr/>
        </p:nvPicPr>
        <p:blipFill>
          <a:blip r:embed="rId4"/>
          <a:stretch>
            <a:fillRect/>
          </a:stretch>
        </p:blipFill>
        <p:spPr>
          <a:xfrm>
            <a:off x="4649724" y="2162556"/>
            <a:ext cx="338328" cy="338328"/>
          </a:xfrm>
          <a:prstGeom prst="rect">
            <a:avLst/>
          </a:prstGeom>
        </p:spPr>
      </p:pic>
      <p:sp>
        <p:nvSpPr>
          <p:cNvPr id="11" name="USP text 2"/>
          <p:cNvSpPr txBox="1"/>
          <p:nvPr/>
        </p:nvSpPr>
        <p:spPr>
          <a:xfrm>
            <a:off x="5303520" y="1828800"/>
            <a:ext cx="2423160" cy="1005840"/>
          </a:xfrm>
          <a:prstGeom prst="rect">
            <a:avLst/>
          </a:prstGeom>
          <a:noFill/>
          <a:ln/>
        </p:spPr>
        <p:txBody>
          <a:bodyPr wrap="square" lIns="0" tIns="0" rIns="0" bIns="0" rtlCol="0" anchor="ctr"/>
          <a:lstStyle/>
          <a:p>
            <a:pPr marL="0" indent="0">
              <a:buNone/>
            </a:pPr>
            <a:r>
              <a:rPr lang="en-US" sz="1600" b="1" dirty="0">
                <a:solidFill>
                  <a:schemeClr val="tx1"/>
                </a:solidFill>
              </a:rPr>
              <a:t>Friendly competition through leaderboards</a:t>
            </a:r>
            <a:endParaRPr lang="en-US" sz="1600" dirty="0"/>
          </a:p>
        </p:txBody>
      </p:sp>
      <p:sp>
        <p:nvSpPr>
          <p:cNvPr id="12" name="USP tile 3"/>
          <p:cNvSpPr/>
          <p:nvPr/>
        </p:nvSpPr>
        <p:spPr>
          <a:xfrm>
            <a:off x="8046720" y="1828800"/>
            <a:ext cx="3566160" cy="1005840"/>
          </a:xfrm>
          <a:prstGeom prst="roundRect">
            <a:avLst>
              <a:gd name="adj" fmla="val 13636"/>
            </a:avLst>
          </a:prstGeom>
          <a:solidFill>
            <a:srgbClr val="EEF4EE"/>
          </a:solidFill>
          <a:ln/>
        </p:spPr>
        <p:txBody>
          <a:bodyPr/>
          <a:lstStyle/>
          <a:p>
            <a:endParaRPr lang="en-CH"/>
          </a:p>
        </p:txBody>
      </p:sp>
      <p:sp>
        <p:nvSpPr>
          <p:cNvPr id="13" name="USP 3 circle"/>
          <p:cNvSpPr/>
          <p:nvPr/>
        </p:nvSpPr>
        <p:spPr>
          <a:xfrm>
            <a:off x="8229600" y="1993392"/>
            <a:ext cx="676656" cy="676656"/>
          </a:xfrm>
          <a:prstGeom prst="ellipse">
            <a:avLst/>
          </a:prstGeom>
          <a:solidFill>
            <a:srgbClr val="F2A33A"/>
          </a:solidFill>
          <a:ln/>
        </p:spPr>
        <p:txBody>
          <a:bodyPr/>
          <a:lstStyle/>
          <a:p>
            <a:endParaRPr lang="en-CH"/>
          </a:p>
        </p:txBody>
      </p:sp>
      <p:pic>
        <p:nvPicPr>
          <p:cNvPr id="14" name="USP 3 icon" descr="USP 3"/>
          <p:cNvPicPr>
            <a:picLocks noChangeAspect="1"/>
          </p:cNvPicPr>
          <p:nvPr/>
        </p:nvPicPr>
        <p:blipFill>
          <a:blip r:embed="rId5"/>
          <a:stretch>
            <a:fillRect/>
          </a:stretch>
        </p:blipFill>
        <p:spPr>
          <a:xfrm>
            <a:off x="8398764" y="2162556"/>
            <a:ext cx="338328" cy="338328"/>
          </a:xfrm>
          <a:prstGeom prst="rect">
            <a:avLst/>
          </a:prstGeom>
        </p:spPr>
      </p:pic>
      <p:sp>
        <p:nvSpPr>
          <p:cNvPr id="15" name="USP text 3"/>
          <p:cNvSpPr txBox="1"/>
          <p:nvPr/>
        </p:nvSpPr>
        <p:spPr>
          <a:xfrm>
            <a:off x="9052560" y="1828800"/>
            <a:ext cx="2423160" cy="1005840"/>
          </a:xfrm>
          <a:prstGeom prst="rect">
            <a:avLst/>
          </a:prstGeom>
          <a:noFill/>
          <a:ln/>
        </p:spPr>
        <p:txBody>
          <a:bodyPr wrap="square" lIns="0" tIns="0" rIns="0" bIns="0" rtlCol="0" anchor="ctr"/>
          <a:lstStyle/>
          <a:p>
            <a:pPr marL="0" indent="0">
              <a:buNone/>
            </a:pPr>
            <a:r>
              <a:rPr lang="en-US" sz="1600" b="1" dirty="0">
                <a:solidFill>
                  <a:schemeClr val="tx1"/>
                </a:solidFill>
              </a:rPr>
              <a:t>Local Swiss partnerships and community challenges</a:t>
            </a:r>
            <a:endParaRPr lang="en-US" sz="1600" dirty="0"/>
          </a:p>
        </p:txBody>
      </p:sp>
      <p:sp>
        <p:nvSpPr>
          <p:cNvPr id="16" name="USP tile 4"/>
          <p:cNvSpPr/>
          <p:nvPr/>
        </p:nvSpPr>
        <p:spPr>
          <a:xfrm>
            <a:off x="548640" y="2971800"/>
            <a:ext cx="3566160" cy="1005840"/>
          </a:xfrm>
          <a:prstGeom prst="roundRect">
            <a:avLst>
              <a:gd name="adj" fmla="val 13636"/>
            </a:avLst>
          </a:prstGeom>
          <a:solidFill>
            <a:srgbClr val="EEF4EE"/>
          </a:solidFill>
          <a:ln/>
        </p:spPr>
        <p:txBody>
          <a:bodyPr/>
          <a:lstStyle/>
          <a:p>
            <a:endParaRPr lang="en-CH"/>
          </a:p>
        </p:txBody>
      </p:sp>
      <p:sp>
        <p:nvSpPr>
          <p:cNvPr id="17" name="USP 4 circle"/>
          <p:cNvSpPr/>
          <p:nvPr/>
        </p:nvSpPr>
        <p:spPr>
          <a:xfrm>
            <a:off x="731520" y="3136392"/>
            <a:ext cx="676656" cy="676656"/>
          </a:xfrm>
          <a:prstGeom prst="ellipse">
            <a:avLst/>
          </a:prstGeom>
          <a:solidFill>
            <a:srgbClr val="F2A33A"/>
          </a:solidFill>
          <a:ln/>
        </p:spPr>
        <p:txBody>
          <a:bodyPr/>
          <a:lstStyle/>
          <a:p>
            <a:endParaRPr lang="en-CH"/>
          </a:p>
        </p:txBody>
      </p:sp>
      <p:pic>
        <p:nvPicPr>
          <p:cNvPr id="18" name="USP 4 icon" descr="USP 4"/>
          <p:cNvPicPr>
            <a:picLocks noChangeAspect="1"/>
          </p:cNvPicPr>
          <p:nvPr/>
        </p:nvPicPr>
        <p:blipFill>
          <a:blip r:embed="rId6"/>
          <a:stretch>
            <a:fillRect/>
          </a:stretch>
        </p:blipFill>
        <p:spPr>
          <a:xfrm>
            <a:off x="900684" y="3305556"/>
            <a:ext cx="338328" cy="338328"/>
          </a:xfrm>
          <a:prstGeom prst="rect">
            <a:avLst/>
          </a:prstGeom>
        </p:spPr>
      </p:pic>
      <p:sp>
        <p:nvSpPr>
          <p:cNvPr id="19" name="USP text 4"/>
          <p:cNvSpPr txBox="1"/>
          <p:nvPr/>
        </p:nvSpPr>
        <p:spPr>
          <a:xfrm>
            <a:off x="1554480" y="2971800"/>
            <a:ext cx="2423160" cy="1005840"/>
          </a:xfrm>
          <a:prstGeom prst="rect">
            <a:avLst/>
          </a:prstGeom>
          <a:noFill/>
          <a:ln/>
        </p:spPr>
        <p:txBody>
          <a:bodyPr wrap="square" lIns="0" tIns="0" rIns="0" bIns="0" rtlCol="0" anchor="ctr"/>
          <a:lstStyle/>
          <a:p>
            <a:pPr marL="0" indent="0">
              <a:buNone/>
            </a:pPr>
            <a:r>
              <a:rPr lang="en-US" sz="1600" b="1" dirty="0">
                <a:solidFill>
                  <a:schemeClr val="tx1"/>
                </a:solidFill>
              </a:rPr>
              <a:t>Events that encourage participation</a:t>
            </a:r>
            <a:endParaRPr lang="en-US" sz="1600" dirty="0"/>
          </a:p>
        </p:txBody>
      </p:sp>
      <p:sp>
        <p:nvSpPr>
          <p:cNvPr id="20" name="USP tile 5"/>
          <p:cNvSpPr/>
          <p:nvPr/>
        </p:nvSpPr>
        <p:spPr>
          <a:xfrm>
            <a:off x="4297680" y="2971800"/>
            <a:ext cx="3566160" cy="1005840"/>
          </a:xfrm>
          <a:prstGeom prst="roundRect">
            <a:avLst>
              <a:gd name="adj" fmla="val 13636"/>
            </a:avLst>
          </a:prstGeom>
          <a:solidFill>
            <a:srgbClr val="EEF4EE"/>
          </a:solidFill>
          <a:ln/>
        </p:spPr>
        <p:txBody>
          <a:bodyPr/>
          <a:lstStyle/>
          <a:p>
            <a:endParaRPr lang="en-CH"/>
          </a:p>
        </p:txBody>
      </p:sp>
      <p:sp>
        <p:nvSpPr>
          <p:cNvPr id="21" name="USP 5 circle"/>
          <p:cNvSpPr/>
          <p:nvPr/>
        </p:nvSpPr>
        <p:spPr>
          <a:xfrm>
            <a:off x="4480560" y="3136392"/>
            <a:ext cx="676656" cy="676656"/>
          </a:xfrm>
          <a:prstGeom prst="ellipse">
            <a:avLst/>
          </a:prstGeom>
          <a:solidFill>
            <a:srgbClr val="F2A33A"/>
          </a:solidFill>
          <a:ln/>
        </p:spPr>
        <p:txBody>
          <a:bodyPr/>
          <a:lstStyle/>
          <a:p>
            <a:endParaRPr lang="en-CH"/>
          </a:p>
        </p:txBody>
      </p:sp>
      <p:pic>
        <p:nvPicPr>
          <p:cNvPr id="22" name="USP 5 icon" descr="USP 5"/>
          <p:cNvPicPr>
            <a:picLocks noChangeAspect="1"/>
          </p:cNvPicPr>
          <p:nvPr/>
        </p:nvPicPr>
        <p:blipFill>
          <a:blip r:embed="rId7"/>
          <a:stretch>
            <a:fillRect/>
          </a:stretch>
        </p:blipFill>
        <p:spPr>
          <a:xfrm>
            <a:off x="4649724" y="3305556"/>
            <a:ext cx="338328" cy="338328"/>
          </a:xfrm>
          <a:prstGeom prst="rect">
            <a:avLst/>
          </a:prstGeom>
        </p:spPr>
      </p:pic>
      <p:sp>
        <p:nvSpPr>
          <p:cNvPr id="23" name="USP text 5"/>
          <p:cNvSpPr txBox="1"/>
          <p:nvPr/>
        </p:nvSpPr>
        <p:spPr>
          <a:xfrm>
            <a:off x="5303520" y="2971800"/>
            <a:ext cx="2423160" cy="1005840"/>
          </a:xfrm>
          <a:prstGeom prst="rect">
            <a:avLst/>
          </a:prstGeom>
          <a:noFill/>
          <a:ln/>
        </p:spPr>
        <p:txBody>
          <a:bodyPr wrap="square" lIns="0" tIns="0" rIns="0" bIns="0" rtlCol="0" anchor="ctr"/>
          <a:lstStyle/>
          <a:p>
            <a:pPr marL="0" indent="0">
              <a:buNone/>
            </a:pPr>
            <a:r>
              <a:rPr lang="en-US" sz="1600" b="1" dirty="0">
                <a:solidFill>
                  <a:schemeClr val="tx1"/>
                </a:solidFill>
              </a:rPr>
              <a:t>Building a habit</a:t>
            </a:r>
            <a:endParaRPr lang="en-US" sz="1600" dirty="0"/>
          </a:p>
        </p:txBody>
      </p:sp>
      <p:sp>
        <p:nvSpPr>
          <p:cNvPr id="24" name="USP tile 6"/>
          <p:cNvSpPr/>
          <p:nvPr/>
        </p:nvSpPr>
        <p:spPr>
          <a:xfrm>
            <a:off x="8046720" y="2971800"/>
            <a:ext cx="3566160" cy="1005840"/>
          </a:xfrm>
          <a:prstGeom prst="roundRect">
            <a:avLst>
              <a:gd name="adj" fmla="val 13636"/>
            </a:avLst>
          </a:prstGeom>
          <a:solidFill>
            <a:srgbClr val="EEF4EE"/>
          </a:solidFill>
          <a:ln/>
        </p:spPr>
        <p:txBody>
          <a:bodyPr/>
          <a:lstStyle/>
          <a:p>
            <a:endParaRPr lang="en-CH"/>
          </a:p>
        </p:txBody>
      </p:sp>
      <p:sp>
        <p:nvSpPr>
          <p:cNvPr id="25" name="USP 6 circle"/>
          <p:cNvSpPr/>
          <p:nvPr/>
        </p:nvSpPr>
        <p:spPr>
          <a:xfrm>
            <a:off x="8229600" y="3136392"/>
            <a:ext cx="676656" cy="676656"/>
          </a:xfrm>
          <a:prstGeom prst="ellipse">
            <a:avLst/>
          </a:prstGeom>
          <a:solidFill>
            <a:srgbClr val="F2A33A"/>
          </a:solidFill>
          <a:ln/>
        </p:spPr>
        <p:txBody>
          <a:bodyPr/>
          <a:lstStyle/>
          <a:p>
            <a:endParaRPr lang="en-CH"/>
          </a:p>
        </p:txBody>
      </p:sp>
      <p:pic>
        <p:nvPicPr>
          <p:cNvPr id="26" name="USP 6 icon" descr="USP 6"/>
          <p:cNvPicPr>
            <a:picLocks noChangeAspect="1"/>
          </p:cNvPicPr>
          <p:nvPr/>
        </p:nvPicPr>
        <p:blipFill>
          <a:blip r:embed="rId8"/>
          <a:stretch>
            <a:fillRect/>
          </a:stretch>
        </p:blipFill>
        <p:spPr>
          <a:xfrm>
            <a:off x="8398764" y="3305556"/>
            <a:ext cx="338328" cy="338328"/>
          </a:xfrm>
          <a:prstGeom prst="rect">
            <a:avLst/>
          </a:prstGeom>
        </p:spPr>
      </p:pic>
      <p:sp>
        <p:nvSpPr>
          <p:cNvPr id="27" name="USP text 6"/>
          <p:cNvSpPr txBox="1"/>
          <p:nvPr/>
        </p:nvSpPr>
        <p:spPr>
          <a:xfrm>
            <a:off x="9052560" y="2971800"/>
            <a:ext cx="2423160" cy="1005840"/>
          </a:xfrm>
          <a:prstGeom prst="rect">
            <a:avLst/>
          </a:prstGeom>
          <a:noFill/>
          <a:ln/>
        </p:spPr>
        <p:txBody>
          <a:bodyPr wrap="square" lIns="0" tIns="0" rIns="0" bIns="0" rtlCol="0" anchor="ctr"/>
          <a:lstStyle/>
          <a:p>
            <a:pPr marL="0" indent="0">
              <a:buNone/>
            </a:pPr>
            <a:r>
              <a:rPr lang="en-US" sz="1600" b="1" dirty="0">
                <a:solidFill>
                  <a:schemeClr val="tx1"/>
                </a:solidFill>
              </a:rPr>
              <a:t>Doing that extra step!</a:t>
            </a:r>
            <a:endParaRPr lang="en-US" sz="1600" dirty="0"/>
          </a:p>
        </p:txBody>
      </p:sp>
      <p:sp>
        <p:nvSpPr>
          <p:cNvPr id="28" name="Competition card"/>
          <p:cNvSpPr/>
          <p:nvPr/>
        </p:nvSpPr>
        <p:spPr>
          <a:xfrm>
            <a:off x="548640" y="4251960"/>
            <a:ext cx="11064240" cy="1463040"/>
          </a:xfrm>
          <a:prstGeom prst="roundRect">
            <a:avLst>
              <a:gd name="adj" fmla="val 9375"/>
            </a:avLst>
          </a:prstGeom>
          <a:solidFill>
            <a:srgbClr val="14342B"/>
          </a:solidFill>
          <a:ln/>
        </p:spPr>
        <p:txBody>
          <a:bodyPr/>
          <a:lstStyle/>
          <a:p>
            <a:endParaRPr lang="en-CH"/>
          </a:p>
        </p:txBody>
      </p:sp>
      <p:sp>
        <p:nvSpPr>
          <p:cNvPr id="29" name="Handshake circle"/>
          <p:cNvSpPr/>
          <p:nvPr/>
        </p:nvSpPr>
        <p:spPr>
          <a:xfrm>
            <a:off x="868680" y="4572000"/>
            <a:ext cx="822960" cy="822960"/>
          </a:xfrm>
          <a:prstGeom prst="ellipse">
            <a:avLst/>
          </a:prstGeom>
          <a:solidFill>
            <a:srgbClr val="F2A33A"/>
          </a:solidFill>
          <a:ln/>
        </p:spPr>
        <p:txBody>
          <a:bodyPr/>
          <a:lstStyle/>
          <a:p>
            <a:endParaRPr lang="en-CH"/>
          </a:p>
        </p:txBody>
      </p:sp>
      <p:pic>
        <p:nvPicPr>
          <p:cNvPr id="30" name="Handshake icon" descr="Handshake"/>
          <p:cNvPicPr>
            <a:picLocks noChangeAspect="1"/>
          </p:cNvPicPr>
          <p:nvPr/>
        </p:nvPicPr>
        <p:blipFill>
          <a:blip r:embed="rId9"/>
          <a:stretch>
            <a:fillRect/>
          </a:stretch>
        </p:blipFill>
        <p:spPr>
          <a:xfrm>
            <a:off x="1074420" y="4777740"/>
            <a:ext cx="411480" cy="411480"/>
          </a:xfrm>
          <a:prstGeom prst="rect">
            <a:avLst/>
          </a:prstGeom>
        </p:spPr>
      </p:pic>
      <p:sp>
        <p:nvSpPr>
          <p:cNvPr id="31" name="Competition text"/>
          <p:cNvSpPr txBox="1"/>
          <p:nvPr/>
        </p:nvSpPr>
        <p:spPr>
          <a:xfrm>
            <a:off x="1965960" y="4343400"/>
            <a:ext cx="9418320" cy="1280160"/>
          </a:xfrm>
          <a:prstGeom prst="rect">
            <a:avLst/>
          </a:prstGeom>
          <a:noFill/>
          <a:ln/>
        </p:spPr>
        <p:txBody>
          <a:bodyPr wrap="square" lIns="0" tIns="0" rIns="0" bIns="0" rtlCol="0" anchor="ctr"/>
          <a:lstStyle/>
          <a:p>
            <a:pPr marL="0" indent="0">
              <a:buNone/>
            </a:pPr>
            <a:r>
              <a:rPr lang="en-US" sz="1900" dirty="0">
                <a:solidFill>
                  <a:schemeClr val="bg1"/>
                </a:solidFill>
              </a:rPr>
              <a:t>Our regional competition are raw tools, not an experience. We are in the same boat and they could help us, scale our app faster and prevent waste!</a:t>
            </a:r>
            <a:endParaRPr lang="en-US" sz="1900" dirty="0"/>
          </a:p>
        </p:txBody>
      </p:sp>
      <p:sp>
        <p:nvSpPr>
          <p:cNvPr id="32" name="Source"/>
          <p:cNvSpPr txBox="1"/>
          <p:nvPr/>
        </p:nvSpPr>
        <p:spPr>
          <a:xfrm>
            <a:off x="548640" y="5989320"/>
            <a:ext cx="11064240" cy="274320"/>
          </a:xfrm>
          <a:prstGeom prst="rect">
            <a:avLst/>
          </a:prstGeom>
          <a:noFill/>
          <a:ln/>
        </p:spPr>
        <p:txBody>
          <a:bodyPr wrap="square" lIns="0" tIns="0" rIns="0" bIns="0" rtlCol="0" anchor="ctr"/>
          <a:lstStyle/>
          <a:p>
            <a:pPr marL="0" indent="0">
              <a:buNone/>
            </a:pPr>
            <a:r>
              <a:rPr lang="en-US" sz="1000" dirty="0">
                <a:solidFill>
                  <a:schemeClr val="accent5"/>
                </a:solidFill>
              </a:rPr>
              <a:t>For example, the Recycling Map app by IGORA already lists 16,000+ Swiss collection points. Source: App Store listing.</a:t>
            </a:r>
            <a:endParaRPr lang="en-US" sz="1000" dirty="0"/>
          </a:p>
        </p:txBody>
      </p:sp>
      <p:sp>
        <p:nvSpPr>
          <p:cNvPr id="3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3600" b="1" dirty="0">
                <a:solidFill>
                  <a:schemeClr val="tx1"/>
                </a:solidFill>
              </a:rPr>
              <a:t>Marketing &amp; Next Steps</a:t>
            </a:r>
            <a:endParaRPr lang="en-US" sz="3600" dirty="0"/>
          </a:p>
        </p:txBody>
      </p:sp>
      <p:sp>
        <p:nvSpPr>
          <p:cNvPr id="3" name="Subtitle"/>
          <p:cNvSpPr txBox="1"/>
          <p:nvPr/>
        </p:nvSpPr>
        <p:spPr>
          <a:xfrm>
            <a:off x="548640" y="1143000"/>
            <a:ext cx="11064240" cy="457200"/>
          </a:xfrm>
          <a:prstGeom prst="rect">
            <a:avLst/>
          </a:prstGeom>
          <a:noFill/>
          <a:ln/>
        </p:spPr>
        <p:txBody>
          <a:bodyPr wrap="square" lIns="0" tIns="0" rIns="0" bIns="0" rtlCol="0" anchor="ctr"/>
          <a:lstStyle/>
          <a:p>
            <a:pPr marL="0" indent="0">
              <a:buNone/>
            </a:pPr>
            <a:r>
              <a:rPr lang="en-US" sz="2200" b="1" dirty="0">
                <a:solidFill>
                  <a:schemeClr val="tx2"/>
                </a:solidFill>
              </a:rPr>
              <a:t>Start local. Scale gradually.</a:t>
            </a:r>
            <a:endParaRPr lang="en-US" sz="2200" dirty="0"/>
          </a:p>
        </p:txBody>
      </p:sp>
      <p:sp>
        <p:nvSpPr>
          <p:cNvPr id="4" name="Pilot pill"/>
          <p:cNvSpPr/>
          <p:nvPr/>
        </p:nvSpPr>
        <p:spPr>
          <a:xfrm>
            <a:off x="548640" y="1828800"/>
            <a:ext cx="3611880" cy="457200"/>
          </a:xfrm>
          <a:prstGeom prst="roundRect">
            <a:avLst>
              <a:gd name="adj" fmla="val 50000"/>
            </a:avLst>
          </a:prstGeom>
          <a:solidFill>
            <a:schemeClr val="bg2"/>
          </a:solidFill>
          <a:ln/>
        </p:spPr>
        <p:txBody>
          <a:bodyPr/>
          <a:lstStyle/>
          <a:p>
            <a:endParaRPr lang="en-CH"/>
          </a:p>
        </p:txBody>
      </p:sp>
      <p:sp>
        <p:nvSpPr>
          <p:cNvPr id="5" name="Pilot label"/>
          <p:cNvSpPr txBox="1"/>
          <p:nvPr/>
        </p:nvSpPr>
        <p:spPr>
          <a:xfrm>
            <a:off x="548640" y="1828800"/>
            <a:ext cx="3611880" cy="457200"/>
          </a:xfrm>
          <a:prstGeom prst="rect">
            <a:avLst/>
          </a:prstGeom>
          <a:noFill/>
          <a:ln/>
        </p:spPr>
        <p:txBody>
          <a:bodyPr wrap="square" lIns="0" tIns="0" rIns="0" bIns="0" rtlCol="0" anchor="ctr"/>
          <a:lstStyle/>
          <a:p>
            <a:pPr marL="0" indent="0" algn="ctr">
              <a:buNone/>
            </a:pPr>
            <a:r>
              <a:rPr lang="en-US" sz="1600" b="1" dirty="0">
                <a:solidFill>
                  <a:schemeClr val="tx2"/>
                </a:solidFill>
              </a:rPr>
              <a:t>Pilot</a:t>
            </a:r>
            <a:endParaRPr lang="en-US" sz="1600" dirty="0"/>
          </a:p>
        </p:txBody>
      </p:sp>
      <p:sp>
        <p:nvSpPr>
          <p:cNvPr id="6" name="Learn pill"/>
          <p:cNvSpPr/>
          <p:nvPr/>
        </p:nvSpPr>
        <p:spPr>
          <a:xfrm>
            <a:off x="4297680" y="1828800"/>
            <a:ext cx="3611880" cy="457200"/>
          </a:xfrm>
          <a:prstGeom prst="roundRect">
            <a:avLst>
              <a:gd name="adj" fmla="val 50000"/>
            </a:avLst>
          </a:prstGeom>
          <a:solidFill>
            <a:schemeClr val="bg2"/>
          </a:solidFill>
          <a:ln/>
        </p:spPr>
        <p:txBody>
          <a:bodyPr/>
          <a:lstStyle/>
          <a:p>
            <a:endParaRPr lang="en-CH"/>
          </a:p>
        </p:txBody>
      </p:sp>
      <p:sp>
        <p:nvSpPr>
          <p:cNvPr id="7" name="Learn label"/>
          <p:cNvSpPr txBox="1"/>
          <p:nvPr/>
        </p:nvSpPr>
        <p:spPr>
          <a:xfrm>
            <a:off x="4297680" y="1828800"/>
            <a:ext cx="3611880" cy="457200"/>
          </a:xfrm>
          <a:prstGeom prst="rect">
            <a:avLst/>
          </a:prstGeom>
          <a:noFill/>
          <a:ln/>
        </p:spPr>
        <p:txBody>
          <a:bodyPr wrap="square" lIns="0" tIns="0" rIns="0" bIns="0" rtlCol="0" anchor="ctr"/>
          <a:lstStyle/>
          <a:p>
            <a:pPr marL="0" indent="0" algn="ctr">
              <a:buNone/>
            </a:pPr>
            <a:r>
              <a:rPr lang="en-US" sz="1600" b="1" dirty="0">
                <a:solidFill>
                  <a:schemeClr val="tx2"/>
                </a:solidFill>
              </a:rPr>
              <a:t>Learn</a:t>
            </a:r>
            <a:endParaRPr lang="en-US" sz="1600" dirty="0"/>
          </a:p>
        </p:txBody>
      </p:sp>
      <p:sp>
        <p:nvSpPr>
          <p:cNvPr id="8" name="Grow pill"/>
          <p:cNvSpPr/>
          <p:nvPr/>
        </p:nvSpPr>
        <p:spPr>
          <a:xfrm>
            <a:off x="8046720" y="1828800"/>
            <a:ext cx="3611880" cy="457200"/>
          </a:xfrm>
          <a:prstGeom prst="roundRect">
            <a:avLst>
              <a:gd name="adj" fmla="val 50000"/>
            </a:avLst>
          </a:prstGeom>
          <a:solidFill>
            <a:schemeClr val="bg2"/>
          </a:solidFill>
          <a:ln/>
        </p:spPr>
        <p:txBody>
          <a:bodyPr/>
          <a:lstStyle/>
          <a:p>
            <a:endParaRPr lang="en-CH"/>
          </a:p>
        </p:txBody>
      </p:sp>
      <p:sp>
        <p:nvSpPr>
          <p:cNvPr id="9" name="Grow label"/>
          <p:cNvSpPr txBox="1"/>
          <p:nvPr/>
        </p:nvSpPr>
        <p:spPr>
          <a:xfrm>
            <a:off x="8046720" y="1828800"/>
            <a:ext cx="3611880" cy="457200"/>
          </a:xfrm>
          <a:prstGeom prst="rect">
            <a:avLst/>
          </a:prstGeom>
          <a:noFill/>
          <a:ln/>
        </p:spPr>
        <p:txBody>
          <a:bodyPr wrap="square" lIns="0" tIns="0" rIns="0" bIns="0" rtlCol="0" anchor="ctr"/>
          <a:lstStyle/>
          <a:p>
            <a:pPr marL="0" indent="0" algn="ctr">
              <a:buNone/>
            </a:pPr>
            <a:r>
              <a:rPr lang="en-US" sz="1600" b="1" dirty="0">
                <a:solidFill>
                  <a:schemeClr val="tx2"/>
                </a:solidFill>
              </a:rPr>
              <a:t>Grow</a:t>
            </a:r>
            <a:endParaRPr lang="en-US" sz="1600" dirty="0"/>
          </a:p>
        </p:txBody>
      </p:sp>
      <p:sp>
        <p:nvSpPr>
          <p:cNvPr id="10" name="Timeline line"/>
          <p:cNvSpPr/>
          <p:nvPr/>
        </p:nvSpPr>
        <p:spPr>
          <a:xfrm>
            <a:off x="1097280" y="2862072"/>
            <a:ext cx="9966960" cy="54864"/>
          </a:xfrm>
          <a:prstGeom prst="rect">
            <a:avLst/>
          </a:prstGeom>
          <a:solidFill>
            <a:schemeClr val="accent4"/>
          </a:solidFill>
          <a:ln/>
        </p:spPr>
        <p:txBody>
          <a:bodyPr/>
          <a:lstStyle/>
          <a:p>
            <a:endParaRPr lang="en-CH"/>
          </a:p>
        </p:txBody>
      </p:sp>
      <p:sp>
        <p:nvSpPr>
          <p:cNvPr id="11" name="Node 1"/>
          <p:cNvSpPr/>
          <p:nvPr/>
        </p:nvSpPr>
        <p:spPr>
          <a:xfrm>
            <a:off x="1097280" y="2560320"/>
            <a:ext cx="658368" cy="658368"/>
          </a:xfrm>
          <a:prstGeom prst="ellipse">
            <a:avLst/>
          </a:prstGeom>
          <a:solidFill>
            <a:srgbClr val="F2A33A"/>
          </a:solidFill>
          <a:ln/>
        </p:spPr>
        <p:txBody>
          <a:bodyPr/>
          <a:lstStyle/>
          <a:p>
            <a:endParaRPr lang="en-CH"/>
          </a:p>
        </p:txBody>
      </p:sp>
      <p:sp>
        <p:nvSpPr>
          <p:cNvPr id="12" name="Node number 1"/>
          <p:cNvSpPr txBox="1"/>
          <p:nvPr/>
        </p:nvSpPr>
        <p:spPr>
          <a:xfrm>
            <a:off x="1097280" y="2560320"/>
            <a:ext cx="658368" cy="658368"/>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13" name="Step 1"/>
          <p:cNvSpPr txBox="1"/>
          <p:nvPr/>
        </p:nvSpPr>
        <p:spPr>
          <a:xfrm>
            <a:off x="548640" y="3429000"/>
            <a:ext cx="1755648" cy="1325880"/>
          </a:xfrm>
          <a:prstGeom prst="rect">
            <a:avLst/>
          </a:prstGeom>
          <a:noFill/>
          <a:ln/>
        </p:spPr>
        <p:txBody>
          <a:bodyPr wrap="square" lIns="0" tIns="0" rIns="0" bIns="0" rtlCol="0" anchor="t"/>
          <a:lstStyle/>
          <a:p>
            <a:pPr marL="0" indent="0" algn="ctr">
              <a:buNone/>
            </a:pPr>
            <a:r>
              <a:rPr lang="en-US" sz="1500" dirty="0">
                <a:solidFill>
                  <a:schemeClr val="tx1"/>
                </a:solidFill>
              </a:rPr>
              <a:t>Start small with a city and work our way up.</a:t>
            </a:r>
            <a:endParaRPr lang="en-US" sz="1500" dirty="0"/>
          </a:p>
        </p:txBody>
      </p:sp>
      <p:sp>
        <p:nvSpPr>
          <p:cNvPr id="14" name="Node 2"/>
          <p:cNvSpPr/>
          <p:nvPr/>
        </p:nvSpPr>
        <p:spPr>
          <a:xfrm>
            <a:off x="2971800" y="2560320"/>
            <a:ext cx="658368" cy="658368"/>
          </a:xfrm>
          <a:prstGeom prst="ellipse">
            <a:avLst/>
          </a:prstGeom>
          <a:solidFill>
            <a:srgbClr val="F2A33A"/>
          </a:solidFill>
          <a:ln/>
        </p:spPr>
        <p:txBody>
          <a:bodyPr/>
          <a:lstStyle/>
          <a:p>
            <a:endParaRPr lang="en-CH"/>
          </a:p>
        </p:txBody>
      </p:sp>
      <p:sp>
        <p:nvSpPr>
          <p:cNvPr id="15" name="Node number 2"/>
          <p:cNvSpPr txBox="1"/>
          <p:nvPr/>
        </p:nvSpPr>
        <p:spPr>
          <a:xfrm>
            <a:off x="2971800" y="2560320"/>
            <a:ext cx="658368" cy="658368"/>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6" name="Step 2"/>
          <p:cNvSpPr txBox="1"/>
          <p:nvPr/>
        </p:nvSpPr>
        <p:spPr>
          <a:xfrm>
            <a:off x="2423160" y="3429000"/>
            <a:ext cx="1755648" cy="1325880"/>
          </a:xfrm>
          <a:prstGeom prst="rect">
            <a:avLst/>
          </a:prstGeom>
          <a:noFill/>
          <a:ln/>
        </p:spPr>
        <p:txBody>
          <a:bodyPr wrap="square" lIns="0" tIns="0" rIns="0" bIns="0" rtlCol="0" anchor="t"/>
          <a:lstStyle/>
          <a:p>
            <a:pPr marL="0" indent="0" algn="ctr">
              <a:buNone/>
            </a:pPr>
            <a:r>
              <a:rPr lang="en-US" sz="1500" dirty="0">
                <a:solidFill>
                  <a:schemeClr val="tx1"/>
                </a:solidFill>
              </a:rPr>
              <a:t>Recruit users through schools, social media, word-of-mouth and partners.</a:t>
            </a:r>
            <a:endParaRPr lang="en-US" sz="1500" dirty="0"/>
          </a:p>
        </p:txBody>
      </p:sp>
      <p:sp>
        <p:nvSpPr>
          <p:cNvPr id="17" name="Node 3"/>
          <p:cNvSpPr/>
          <p:nvPr/>
        </p:nvSpPr>
        <p:spPr>
          <a:xfrm>
            <a:off x="4846320" y="2560320"/>
            <a:ext cx="658368" cy="658368"/>
          </a:xfrm>
          <a:prstGeom prst="ellipse">
            <a:avLst/>
          </a:prstGeom>
          <a:solidFill>
            <a:srgbClr val="23704F"/>
          </a:solidFill>
          <a:ln/>
        </p:spPr>
        <p:txBody>
          <a:bodyPr/>
          <a:lstStyle/>
          <a:p>
            <a:endParaRPr lang="en-CH"/>
          </a:p>
        </p:txBody>
      </p:sp>
      <p:sp>
        <p:nvSpPr>
          <p:cNvPr id="18" name="Node number 3"/>
          <p:cNvSpPr txBox="1"/>
          <p:nvPr/>
        </p:nvSpPr>
        <p:spPr>
          <a:xfrm>
            <a:off x="4846320" y="2560320"/>
            <a:ext cx="658368" cy="658368"/>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9" name="Step 3"/>
          <p:cNvSpPr txBox="1"/>
          <p:nvPr/>
        </p:nvSpPr>
        <p:spPr>
          <a:xfrm>
            <a:off x="4297680" y="3429000"/>
            <a:ext cx="1755648" cy="1325880"/>
          </a:xfrm>
          <a:prstGeom prst="rect">
            <a:avLst/>
          </a:prstGeom>
          <a:noFill/>
          <a:ln/>
        </p:spPr>
        <p:txBody>
          <a:bodyPr wrap="square" lIns="0" tIns="0" rIns="0" bIns="0" rtlCol="0" anchor="t"/>
          <a:lstStyle/>
          <a:p>
            <a:pPr marL="0" indent="0" algn="ctr">
              <a:buNone/>
            </a:pPr>
            <a:r>
              <a:rPr lang="en-US" sz="1500" dirty="0">
                <a:solidFill>
                  <a:schemeClr val="tx1"/>
                </a:solidFill>
              </a:rPr>
              <a:t>Measure participation, retention, and recycling activity.</a:t>
            </a:r>
            <a:endParaRPr lang="en-US" sz="1500" dirty="0"/>
          </a:p>
        </p:txBody>
      </p:sp>
      <p:sp>
        <p:nvSpPr>
          <p:cNvPr id="20" name="Node 4"/>
          <p:cNvSpPr/>
          <p:nvPr/>
        </p:nvSpPr>
        <p:spPr>
          <a:xfrm>
            <a:off x="6720840" y="2560320"/>
            <a:ext cx="658368" cy="658368"/>
          </a:xfrm>
          <a:prstGeom prst="ellipse">
            <a:avLst/>
          </a:prstGeom>
          <a:solidFill>
            <a:srgbClr val="23704F"/>
          </a:solidFill>
          <a:ln/>
        </p:spPr>
        <p:txBody>
          <a:bodyPr/>
          <a:lstStyle/>
          <a:p>
            <a:endParaRPr lang="en-CH"/>
          </a:p>
        </p:txBody>
      </p:sp>
      <p:sp>
        <p:nvSpPr>
          <p:cNvPr id="21" name="Node number 4"/>
          <p:cNvSpPr txBox="1"/>
          <p:nvPr/>
        </p:nvSpPr>
        <p:spPr>
          <a:xfrm>
            <a:off x="6720840" y="2560320"/>
            <a:ext cx="658368" cy="658368"/>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22" name="Step 4"/>
          <p:cNvSpPr txBox="1"/>
          <p:nvPr/>
        </p:nvSpPr>
        <p:spPr>
          <a:xfrm>
            <a:off x="6172200" y="3429000"/>
            <a:ext cx="1755648" cy="1325880"/>
          </a:xfrm>
          <a:prstGeom prst="rect">
            <a:avLst/>
          </a:prstGeom>
          <a:noFill/>
          <a:ln/>
        </p:spPr>
        <p:txBody>
          <a:bodyPr wrap="square" lIns="0" tIns="0" rIns="0" bIns="0" rtlCol="0" anchor="t"/>
          <a:lstStyle/>
          <a:p>
            <a:pPr marL="0" indent="0" algn="ctr">
              <a:buNone/>
            </a:pPr>
            <a:r>
              <a:rPr lang="en-US" sz="1500" dirty="0">
                <a:solidFill>
                  <a:schemeClr val="tx1"/>
                </a:solidFill>
              </a:rPr>
              <a:t>Improve verification</a:t>
            </a:r>
            <a:r>
              <a:rPr lang="en-CH" sz="1500" dirty="0">
                <a:solidFill>
                  <a:schemeClr val="tx1"/>
                </a:solidFill>
              </a:rPr>
              <a:t>, fraud detection</a:t>
            </a:r>
            <a:r>
              <a:rPr lang="en-US" sz="1500" dirty="0">
                <a:solidFill>
                  <a:schemeClr val="tx1"/>
                </a:solidFill>
              </a:rPr>
              <a:t> and reward options.</a:t>
            </a:r>
            <a:endParaRPr lang="en-US" sz="1500" dirty="0"/>
          </a:p>
        </p:txBody>
      </p:sp>
      <p:sp>
        <p:nvSpPr>
          <p:cNvPr id="23" name="Node 5"/>
          <p:cNvSpPr/>
          <p:nvPr/>
        </p:nvSpPr>
        <p:spPr>
          <a:xfrm>
            <a:off x="8595360" y="2560320"/>
            <a:ext cx="658368" cy="658368"/>
          </a:xfrm>
          <a:prstGeom prst="ellipse">
            <a:avLst/>
          </a:prstGeom>
          <a:solidFill>
            <a:srgbClr val="23704F"/>
          </a:solidFill>
          <a:ln/>
        </p:spPr>
        <p:txBody>
          <a:bodyPr/>
          <a:lstStyle/>
          <a:p>
            <a:endParaRPr lang="en-CH"/>
          </a:p>
        </p:txBody>
      </p:sp>
      <p:sp>
        <p:nvSpPr>
          <p:cNvPr id="24" name="Node number 5"/>
          <p:cNvSpPr txBox="1"/>
          <p:nvPr/>
        </p:nvSpPr>
        <p:spPr>
          <a:xfrm>
            <a:off x="8595360" y="2560320"/>
            <a:ext cx="658368" cy="658368"/>
          </a:xfrm>
          <a:prstGeom prst="rect">
            <a:avLst/>
          </a:prstGeom>
          <a:noFill/>
          <a:ln/>
        </p:spPr>
        <p:txBody>
          <a:bodyPr wrap="square" lIns="0" tIns="0" rIns="0" bIns="0" rtlCol="0" anchor="ctr"/>
          <a:lstStyle/>
          <a:p>
            <a:pPr marL="0" indent="0" algn="ctr">
              <a:buNone/>
            </a:pPr>
            <a:r>
              <a:rPr lang="en-US" sz="2000" b="1" dirty="0">
                <a:solidFill>
                  <a:schemeClr val="bg1"/>
                </a:solidFill>
              </a:rPr>
              <a:t>5</a:t>
            </a:r>
            <a:endParaRPr lang="en-US" sz="2000" dirty="0"/>
          </a:p>
        </p:txBody>
      </p:sp>
      <p:sp>
        <p:nvSpPr>
          <p:cNvPr id="25" name="Step 5"/>
          <p:cNvSpPr txBox="1"/>
          <p:nvPr/>
        </p:nvSpPr>
        <p:spPr>
          <a:xfrm>
            <a:off x="8046720" y="3429000"/>
            <a:ext cx="1755648" cy="1325880"/>
          </a:xfrm>
          <a:prstGeom prst="rect">
            <a:avLst/>
          </a:prstGeom>
          <a:noFill/>
          <a:ln/>
        </p:spPr>
        <p:txBody>
          <a:bodyPr wrap="square" lIns="0" tIns="0" rIns="0" bIns="0" rtlCol="0" anchor="t"/>
          <a:lstStyle/>
          <a:p>
            <a:pPr marL="0" indent="0" algn="ctr">
              <a:buNone/>
            </a:pPr>
            <a:r>
              <a:rPr lang="en-US" sz="1500" dirty="0">
                <a:solidFill>
                  <a:schemeClr val="tx1"/>
                </a:solidFill>
              </a:rPr>
              <a:t>Expand to additional Swiss communities</a:t>
            </a:r>
            <a:endParaRPr lang="en-US" sz="1500" dirty="0"/>
          </a:p>
        </p:txBody>
      </p:sp>
      <p:sp>
        <p:nvSpPr>
          <p:cNvPr id="26" name="Node 6"/>
          <p:cNvSpPr/>
          <p:nvPr/>
        </p:nvSpPr>
        <p:spPr>
          <a:xfrm>
            <a:off x="10469880" y="2560320"/>
            <a:ext cx="658368" cy="658368"/>
          </a:xfrm>
          <a:prstGeom prst="ellipse">
            <a:avLst/>
          </a:prstGeom>
          <a:solidFill>
            <a:srgbClr val="23704F"/>
          </a:solidFill>
          <a:ln/>
        </p:spPr>
        <p:txBody>
          <a:bodyPr/>
          <a:lstStyle/>
          <a:p>
            <a:endParaRPr lang="en-CH"/>
          </a:p>
        </p:txBody>
      </p:sp>
      <p:sp>
        <p:nvSpPr>
          <p:cNvPr id="27" name="Node number 6"/>
          <p:cNvSpPr txBox="1"/>
          <p:nvPr/>
        </p:nvSpPr>
        <p:spPr>
          <a:xfrm>
            <a:off x="10469880" y="2560320"/>
            <a:ext cx="658368" cy="658368"/>
          </a:xfrm>
          <a:prstGeom prst="rect">
            <a:avLst/>
          </a:prstGeom>
          <a:noFill/>
          <a:ln/>
        </p:spPr>
        <p:txBody>
          <a:bodyPr wrap="square" lIns="0" tIns="0" rIns="0" bIns="0" rtlCol="0" anchor="ctr"/>
          <a:lstStyle/>
          <a:p>
            <a:pPr marL="0" indent="0" algn="ctr">
              <a:buNone/>
            </a:pPr>
            <a:r>
              <a:rPr lang="en-US" sz="2000" b="1" dirty="0">
                <a:solidFill>
                  <a:schemeClr val="bg1"/>
                </a:solidFill>
              </a:rPr>
              <a:t>6</a:t>
            </a:r>
            <a:endParaRPr lang="en-US" sz="2000" dirty="0"/>
          </a:p>
        </p:txBody>
      </p:sp>
      <p:sp>
        <p:nvSpPr>
          <p:cNvPr id="28" name="Step 6"/>
          <p:cNvSpPr txBox="1"/>
          <p:nvPr/>
        </p:nvSpPr>
        <p:spPr>
          <a:xfrm>
            <a:off x="9921240" y="3429000"/>
            <a:ext cx="1755648" cy="1325880"/>
          </a:xfrm>
          <a:prstGeom prst="rect">
            <a:avLst/>
          </a:prstGeom>
          <a:noFill/>
          <a:ln/>
        </p:spPr>
        <p:txBody>
          <a:bodyPr wrap="square" lIns="0" tIns="0" rIns="0" bIns="0" rtlCol="0" anchor="t"/>
          <a:lstStyle/>
          <a:p>
            <a:pPr marL="0" indent="0" algn="ctr">
              <a:buNone/>
            </a:pPr>
            <a:r>
              <a:rPr lang="en-US" sz="1500" dirty="0">
                <a:solidFill>
                  <a:schemeClr val="tx1"/>
                </a:solidFill>
              </a:rPr>
              <a:t>Work with our Competitors to tackle the real issue we are fighting.</a:t>
            </a:r>
            <a:endParaRPr lang="en-US" sz="1500" dirty="0"/>
          </a:p>
        </p:txBody>
      </p:sp>
      <p:sp>
        <p:nvSpPr>
          <p:cNvPr id="29" name="Pilot strip"/>
          <p:cNvSpPr/>
          <p:nvPr/>
        </p:nvSpPr>
        <p:spPr>
          <a:xfrm>
            <a:off x="548640" y="4983480"/>
            <a:ext cx="11064240" cy="777240"/>
          </a:xfrm>
          <a:prstGeom prst="roundRect">
            <a:avLst>
              <a:gd name="adj" fmla="val 17647"/>
            </a:avLst>
          </a:prstGeom>
          <a:solidFill>
            <a:srgbClr val="14342B"/>
          </a:solidFill>
          <a:ln/>
        </p:spPr>
        <p:txBody>
          <a:bodyPr/>
          <a:lstStyle/>
          <a:p>
            <a:endParaRPr lang="en-CH"/>
          </a:p>
        </p:txBody>
      </p:sp>
      <p:sp>
        <p:nvSpPr>
          <p:cNvPr id="30" name="Pilot text"/>
          <p:cNvSpPr txBox="1"/>
          <p:nvPr/>
        </p:nvSpPr>
        <p:spPr>
          <a:xfrm>
            <a:off x="868680" y="4983480"/>
            <a:ext cx="10515600" cy="777240"/>
          </a:xfrm>
          <a:prstGeom prst="rect">
            <a:avLst/>
          </a:prstGeom>
          <a:noFill/>
          <a:ln/>
        </p:spPr>
        <p:txBody>
          <a:bodyPr wrap="square" lIns="0" tIns="0" rIns="0" bIns="0" rtlCol="0" anchor="ctr"/>
          <a:lstStyle/>
          <a:p>
            <a:pPr marL="0" indent="0">
              <a:buNone/>
            </a:pPr>
            <a:r>
              <a:rPr lang="en-US" sz="1900" b="1" dirty="0">
                <a:solidFill>
                  <a:schemeClr val="accent1"/>
                </a:solidFill>
              </a:rPr>
              <a:t>First pilot: </a:t>
            </a:r>
            <a:r>
              <a:rPr lang="en-CH" sz="1900" dirty="0" err="1">
                <a:solidFill>
                  <a:schemeClr val="bg1"/>
                </a:solidFill>
              </a:rPr>
              <a:t>Rotkreuz</a:t>
            </a:r>
            <a:r>
              <a:rPr lang="en-CH" sz="1900" dirty="0">
                <a:solidFill>
                  <a:schemeClr val="bg1"/>
                </a:solidFill>
              </a:rPr>
              <a:t>:</a:t>
            </a:r>
            <a:r>
              <a:rPr lang="en-US" sz="1900" dirty="0">
                <a:solidFill>
                  <a:schemeClr val="bg1"/>
                </a:solidFill>
              </a:rPr>
              <a:t> Success = users who come back and recycle more.</a:t>
            </a:r>
            <a:r>
              <a:rPr lang="en-CH" sz="1900" dirty="0">
                <a:solidFill>
                  <a:schemeClr val="bg1"/>
                </a:solidFill>
              </a:rPr>
              <a:t> And give us feedback.</a:t>
            </a:r>
            <a:endParaRPr lang="en-US" sz="1900" dirty="0"/>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3600" b="1" dirty="0">
                <a:solidFill>
                  <a:schemeClr val="tx1"/>
                </a:solidFill>
              </a:rPr>
              <a:t>Risks and Our Answers</a:t>
            </a:r>
            <a:endParaRPr lang="en-US" sz="3600" dirty="0"/>
          </a:p>
        </p:txBody>
      </p:sp>
      <p:sp>
        <p:nvSpPr>
          <p:cNvPr id="3" name="Risk row 1"/>
          <p:cNvSpPr/>
          <p:nvPr/>
        </p:nvSpPr>
        <p:spPr>
          <a:xfrm>
            <a:off x="548640" y="1325880"/>
            <a:ext cx="11064240" cy="777240"/>
          </a:xfrm>
          <a:prstGeom prst="roundRect">
            <a:avLst>
              <a:gd name="adj" fmla="val 17647"/>
            </a:avLst>
          </a:prstGeom>
          <a:solidFill>
            <a:srgbClr val="EEF4EE"/>
          </a:solidFill>
          <a:ln/>
        </p:spPr>
        <p:txBody>
          <a:bodyPr/>
          <a:lstStyle/>
          <a:p>
            <a:endParaRPr lang="en-CH"/>
          </a:p>
        </p:txBody>
      </p:sp>
      <p:sp>
        <p:nvSpPr>
          <p:cNvPr id="4" name="Risk 1 circle"/>
          <p:cNvSpPr/>
          <p:nvPr/>
        </p:nvSpPr>
        <p:spPr>
          <a:xfrm>
            <a:off x="731520" y="1417320"/>
            <a:ext cx="594360" cy="594360"/>
          </a:xfrm>
          <a:prstGeom prst="ellipse">
            <a:avLst/>
          </a:prstGeom>
          <a:solidFill>
            <a:srgbClr val="F2A33A"/>
          </a:solidFill>
          <a:ln/>
        </p:spPr>
        <p:txBody>
          <a:bodyPr/>
          <a:lstStyle/>
          <a:p>
            <a:endParaRPr lang="en-CH"/>
          </a:p>
        </p:txBody>
      </p:sp>
      <p:pic>
        <p:nvPicPr>
          <p:cNvPr id="5" name="Risk 1 icon" descr="Risk 1"/>
          <p:cNvPicPr>
            <a:picLocks noChangeAspect="1"/>
          </p:cNvPicPr>
          <p:nvPr/>
        </p:nvPicPr>
        <p:blipFill>
          <a:blip r:embed="rId3"/>
          <a:stretch>
            <a:fillRect/>
          </a:stretch>
        </p:blipFill>
        <p:spPr>
          <a:xfrm>
            <a:off x="880110" y="1565910"/>
            <a:ext cx="297180" cy="297180"/>
          </a:xfrm>
          <a:prstGeom prst="rect">
            <a:avLst/>
          </a:prstGeom>
        </p:spPr>
      </p:pic>
      <p:sp>
        <p:nvSpPr>
          <p:cNvPr id="6" name="Risk 1"/>
          <p:cNvSpPr txBox="1"/>
          <p:nvPr/>
        </p:nvSpPr>
        <p:spPr>
          <a:xfrm>
            <a:off x="1554480" y="1325880"/>
            <a:ext cx="3383280" cy="777240"/>
          </a:xfrm>
          <a:prstGeom prst="rect">
            <a:avLst/>
          </a:prstGeom>
          <a:noFill/>
          <a:ln/>
        </p:spPr>
        <p:txBody>
          <a:bodyPr wrap="square" lIns="0" tIns="0" rIns="0" bIns="0" rtlCol="0" anchor="ctr"/>
          <a:lstStyle/>
          <a:p>
            <a:pPr marL="0" indent="0">
              <a:buNone/>
            </a:pPr>
            <a:r>
              <a:rPr lang="en-US" sz="1700" b="1" dirty="0">
                <a:solidFill>
                  <a:schemeClr val="tx1"/>
                </a:solidFill>
              </a:rPr>
              <a:t>Funding depends on partners</a:t>
            </a:r>
            <a:endParaRPr lang="en-US" sz="1700" dirty="0"/>
          </a:p>
        </p:txBody>
      </p:sp>
      <p:sp>
        <p:nvSpPr>
          <p:cNvPr id="7" name="Answer 1"/>
          <p:cNvSpPr txBox="1"/>
          <p:nvPr/>
        </p:nvSpPr>
        <p:spPr>
          <a:xfrm>
            <a:off x="5029200" y="1325880"/>
            <a:ext cx="6400800" cy="777240"/>
          </a:xfrm>
          <a:prstGeom prst="rect">
            <a:avLst/>
          </a:prstGeom>
          <a:noFill/>
          <a:ln/>
        </p:spPr>
        <p:txBody>
          <a:bodyPr wrap="square" lIns="0" tIns="0" rIns="0" bIns="0" rtlCol="0" anchor="ctr"/>
          <a:lstStyle/>
          <a:p>
            <a:pPr marL="0" indent="0">
              <a:buNone/>
            </a:pPr>
            <a:r>
              <a:rPr lang="en-US" sz="1600" dirty="0">
                <a:solidFill>
                  <a:schemeClr val="accent5"/>
                </a:solidFill>
              </a:rPr>
              <a:t>Three funding sources; from year 2, six partner towns cover running costs</a:t>
            </a:r>
            <a:endParaRPr lang="en-US" sz="1600" dirty="0"/>
          </a:p>
        </p:txBody>
      </p:sp>
      <p:sp>
        <p:nvSpPr>
          <p:cNvPr id="8" name="Risk row 2"/>
          <p:cNvSpPr/>
          <p:nvPr/>
        </p:nvSpPr>
        <p:spPr>
          <a:xfrm>
            <a:off x="548640" y="2240280"/>
            <a:ext cx="11064240" cy="777240"/>
          </a:xfrm>
          <a:prstGeom prst="roundRect">
            <a:avLst>
              <a:gd name="adj" fmla="val 17647"/>
            </a:avLst>
          </a:prstGeom>
          <a:solidFill>
            <a:srgbClr val="FFFFFF"/>
          </a:solidFill>
          <a:ln/>
        </p:spPr>
        <p:txBody>
          <a:bodyPr/>
          <a:lstStyle/>
          <a:p>
            <a:endParaRPr lang="en-CH"/>
          </a:p>
        </p:txBody>
      </p:sp>
      <p:sp>
        <p:nvSpPr>
          <p:cNvPr id="9" name="Risk 2 circle"/>
          <p:cNvSpPr/>
          <p:nvPr/>
        </p:nvSpPr>
        <p:spPr>
          <a:xfrm>
            <a:off x="731520" y="2331720"/>
            <a:ext cx="594360" cy="594360"/>
          </a:xfrm>
          <a:prstGeom prst="ellipse">
            <a:avLst/>
          </a:prstGeom>
          <a:solidFill>
            <a:srgbClr val="F2A33A"/>
          </a:solidFill>
          <a:ln/>
        </p:spPr>
        <p:txBody>
          <a:bodyPr/>
          <a:lstStyle/>
          <a:p>
            <a:endParaRPr lang="en-CH"/>
          </a:p>
        </p:txBody>
      </p:sp>
      <p:pic>
        <p:nvPicPr>
          <p:cNvPr id="10" name="Risk 2 icon" descr="Risk 2"/>
          <p:cNvPicPr>
            <a:picLocks noChangeAspect="1"/>
          </p:cNvPicPr>
          <p:nvPr/>
        </p:nvPicPr>
        <p:blipFill>
          <a:blip r:embed="rId4"/>
          <a:stretch>
            <a:fillRect/>
          </a:stretch>
        </p:blipFill>
        <p:spPr>
          <a:xfrm>
            <a:off x="880110" y="2480310"/>
            <a:ext cx="297180" cy="297180"/>
          </a:xfrm>
          <a:prstGeom prst="rect">
            <a:avLst/>
          </a:prstGeom>
        </p:spPr>
      </p:pic>
      <p:sp>
        <p:nvSpPr>
          <p:cNvPr id="11" name="Risk 2"/>
          <p:cNvSpPr txBox="1"/>
          <p:nvPr/>
        </p:nvSpPr>
        <p:spPr>
          <a:xfrm>
            <a:off x="1554480" y="2240280"/>
            <a:ext cx="3383280" cy="777240"/>
          </a:xfrm>
          <a:prstGeom prst="rect">
            <a:avLst/>
          </a:prstGeom>
          <a:noFill/>
          <a:ln/>
        </p:spPr>
        <p:txBody>
          <a:bodyPr wrap="square" lIns="0" tIns="0" rIns="0" bIns="0" rtlCol="0" anchor="ctr"/>
          <a:lstStyle/>
          <a:p>
            <a:pPr marL="0" indent="0">
              <a:buNone/>
            </a:pPr>
            <a:r>
              <a:rPr lang="en-US" sz="1700" b="1" dirty="0">
                <a:solidFill>
                  <a:schemeClr val="tx1"/>
                </a:solidFill>
              </a:rPr>
              <a:t>People cheat for points</a:t>
            </a:r>
            <a:endParaRPr lang="en-US" sz="1700" dirty="0"/>
          </a:p>
        </p:txBody>
      </p:sp>
      <p:sp>
        <p:nvSpPr>
          <p:cNvPr id="12" name="Answer 2"/>
          <p:cNvSpPr txBox="1"/>
          <p:nvPr/>
        </p:nvSpPr>
        <p:spPr>
          <a:xfrm>
            <a:off x="5029200" y="2240280"/>
            <a:ext cx="6400800" cy="777240"/>
          </a:xfrm>
          <a:prstGeom prst="rect">
            <a:avLst/>
          </a:prstGeom>
          <a:noFill/>
          <a:ln/>
        </p:spPr>
        <p:txBody>
          <a:bodyPr wrap="square" lIns="0" tIns="0" rIns="0" bIns="0" rtlCol="0" anchor="ctr"/>
          <a:lstStyle/>
          <a:p>
            <a:pPr marL="0" indent="0">
              <a:buNone/>
            </a:pPr>
            <a:r>
              <a:rPr lang="en-US" sz="1600" dirty="0">
                <a:solidFill>
                  <a:schemeClr val="accent5"/>
                </a:solidFill>
              </a:rPr>
              <a:t>Verified actions: check-in at a real collection point, daily point caps</a:t>
            </a:r>
            <a:r>
              <a:rPr lang="en-CH" sz="1600" dirty="0">
                <a:solidFill>
                  <a:schemeClr val="accent5"/>
                </a:solidFill>
              </a:rPr>
              <a:t> and fraud detection after getting sufficient data, first manual.</a:t>
            </a:r>
            <a:endParaRPr lang="en-US" sz="1600" dirty="0"/>
          </a:p>
        </p:txBody>
      </p:sp>
      <p:sp>
        <p:nvSpPr>
          <p:cNvPr id="13" name="Risk row 3"/>
          <p:cNvSpPr/>
          <p:nvPr/>
        </p:nvSpPr>
        <p:spPr>
          <a:xfrm>
            <a:off x="548640" y="3154680"/>
            <a:ext cx="11064240" cy="777240"/>
          </a:xfrm>
          <a:prstGeom prst="roundRect">
            <a:avLst>
              <a:gd name="adj" fmla="val 17647"/>
            </a:avLst>
          </a:prstGeom>
          <a:solidFill>
            <a:srgbClr val="EEF4EE"/>
          </a:solidFill>
          <a:ln/>
        </p:spPr>
        <p:txBody>
          <a:bodyPr/>
          <a:lstStyle/>
          <a:p>
            <a:endParaRPr lang="en-CH"/>
          </a:p>
        </p:txBody>
      </p:sp>
      <p:sp>
        <p:nvSpPr>
          <p:cNvPr id="14" name="Risk 3 circle"/>
          <p:cNvSpPr/>
          <p:nvPr/>
        </p:nvSpPr>
        <p:spPr>
          <a:xfrm>
            <a:off x="731520" y="3246120"/>
            <a:ext cx="594360" cy="594360"/>
          </a:xfrm>
          <a:prstGeom prst="ellipse">
            <a:avLst/>
          </a:prstGeom>
          <a:solidFill>
            <a:srgbClr val="F2A33A"/>
          </a:solidFill>
          <a:ln/>
        </p:spPr>
        <p:txBody>
          <a:bodyPr/>
          <a:lstStyle/>
          <a:p>
            <a:endParaRPr lang="en-CH"/>
          </a:p>
        </p:txBody>
      </p:sp>
      <p:pic>
        <p:nvPicPr>
          <p:cNvPr id="15" name="Risk 3 icon" descr="Risk 3"/>
          <p:cNvPicPr>
            <a:picLocks noChangeAspect="1"/>
          </p:cNvPicPr>
          <p:nvPr/>
        </p:nvPicPr>
        <p:blipFill>
          <a:blip r:embed="rId5"/>
          <a:stretch>
            <a:fillRect/>
          </a:stretch>
        </p:blipFill>
        <p:spPr>
          <a:xfrm>
            <a:off x="880110" y="3394710"/>
            <a:ext cx="297180" cy="297180"/>
          </a:xfrm>
          <a:prstGeom prst="rect">
            <a:avLst/>
          </a:prstGeom>
        </p:spPr>
      </p:pic>
      <p:sp>
        <p:nvSpPr>
          <p:cNvPr id="16" name="Risk 3"/>
          <p:cNvSpPr txBox="1"/>
          <p:nvPr/>
        </p:nvSpPr>
        <p:spPr>
          <a:xfrm>
            <a:off x="1554480" y="3154680"/>
            <a:ext cx="3383280" cy="777240"/>
          </a:xfrm>
          <a:prstGeom prst="rect">
            <a:avLst/>
          </a:prstGeom>
          <a:noFill/>
          <a:ln/>
        </p:spPr>
        <p:txBody>
          <a:bodyPr wrap="square" lIns="0" tIns="0" rIns="0" bIns="0" rtlCol="0" anchor="ctr"/>
          <a:lstStyle/>
          <a:p>
            <a:pPr marL="0" indent="0">
              <a:buNone/>
            </a:pPr>
            <a:r>
              <a:rPr lang="en-US" sz="1700" b="1" dirty="0">
                <a:solidFill>
                  <a:schemeClr val="tx1"/>
                </a:solidFill>
              </a:rPr>
              <a:t>Rewards get expensive</a:t>
            </a:r>
            <a:endParaRPr lang="en-US" sz="1700" dirty="0"/>
          </a:p>
        </p:txBody>
      </p:sp>
      <p:sp>
        <p:nvSpPr>
          <p:cNvPr id="17" name="Answer 3"/>
          <p:cNvSpPr txBox="1"/>
          <p:nvPr/>
        </p:nvSpPr>
        <p:spPr>
          <a:xfrm>
            <a:off x="5029200" y="3154680"/>
            <a:ext cx="6400800" cy="777240"/>
          </a:xfrm>
          <a:prstGeom prst="rect">
            <a:avLst/>
          </a:prstGeom>
          <a:noFill/>
          <a:ln/>
        </p:spPr>
        <p:txBody>
          <a:bodyPr wrap="square" lIns="0" tIns="0" rIns="0" bIns="0" rtlCol="0" anchor="ctr"/>
          <a:lstStyle/>
          <a:p>
            <a:pPr marL="0" indent="0">
              <a:buNone/>
            </a:pPr>
            <a:r>
              <a:rPr lang="en-US" sz="1600" dirty="0">
                <a:solidFill>
                  <a:schemeClr val="accent5"/>
                </a:solidFill>
              </a:rPr>
              <a:t>Rewards are sponsored by local businesses in exchange for visibility</a:t>
            </a:r>
            <a:endParaRPr lang="en-US" sz="1600" dirty="0"/>
          </a:p>
        </p:txBody>
      </p:sp>
      <p:sp>
        <p:nvSpPr>
          <p:cNvPr id="18" name="Risk row 4"/>
          <p:cNvSpPr/>
          <p:nvPr/>
        </p:nvSpPr>
        <p:spPr>
          <a:xfrm>
            <a:off x="548640" y="4069080"/>
            <a:ext cx="11064240" cy="777240"/>
          </a:xfrm>
          <a:prstGeom prst="roundRect">
            <a:avLst>
              <a:gd name="adj" fmla="val 17647"/>
            </a:avLst>
          </a:prstGeom>
          <a:solidFill>
            <a:srgbClr val="FFFFFF"/>
          </a:solidFill>
          <a:ln/>
        </p:spPr>
        <p:txBody>
          <a:bodyPr/>
          <a:lstStyle/>
          <a:p>
            <a:endParaRPr lang="en-CH"/>
          </a:p>
        </p:txBody>
      </p:sp>
      <p:sp>
        <p:nvSpPr>
          <p:cNvPr id="19" name="Risk 4 circle"/>
          <p:cNvSpPr/>
          <p:nvPr/>
        </p:nvSpPr>
        <p:spPr>
          <a:xfrm>
            <a:off x="731520" y="4160520"/>
            <a:ext cx="594360" cy="594360"/>
          </a:xfrm>
          <a:prstGeom prst="ellipse">
            <a:avLst/>
          </a:prstGeom>
          <a:solidFill>
            <a:srgbClr val="F2A33A"/>
          </a:solidFill>
          <a:ln/>
        </p:spPr>
        <p:txBody>
          <a:bodyPr/>
          <a:lstStyle/>
          <a:p>
            <a:endParaRPr lang="en-CH"/>
          </a:p>
        </p:txBody>
      </p:sp>
      <p:pic>
        <p:nvPicPr>
          <p:cNvPr id="20" name="Risk 4 icon" descr="Risk 4"/>
          <p:cNvPicPr>
            <a:picLocks noChangeAspect="1"/>
          </p:cNvPicPr>
          <p:nvPr/>
        </p:nvPicPr>
        <p:blipFill>
          <a:blip r:embed="rId6"/>
          <a:stretch>
            <a:fillRect/>
          </a:stretch>
        </p:blipFill>
        <p:spPr>
          <a:xfrm>
            <a:off x="880110" y="4309110"/>
            <a:ext cx="297180" cy="297180"/>
          </a:xfrm>
          <a:prstGeom prst="rect">
            <a:avLst/>
          </a:prstGeom>
        </p:spPr>
      </p:pic>
      <p:sp>
        <p:nvSpPr>
          <p:cNvPr id="21" name="Risk 4"/>
          <p:cNvSpPr txBox="1"/>
          <p:nvPr/>
        </p:nvSpPr>
        <p:spPr>
          <a:xfrm>
            <a:off x="1554480" y="4069080"/>
            <a:ext cx="3383280" cy="777240"/>
          </a:xfrm>
          <a:prstGeom prst="rect">
            <a:avLst/>
          </a:prstGeom>
          <a:noFill/>
          <a:ln/>
        </p:spPr>
        <p:txBody>
          <a:bodyPr wrap="square" lIns="0" tIns="0" rIns="0" bIns="0" rtlCol="0" anchor="ctr"/>
          <a:lstStyle/>
          <a:p>
            <a:pPr marL="0" indent="0">
              <a:buNone/>
            </a:pPr>
            <a:r>
              <a:rPr lang="en-US" sz="1700" b="1" dirty="0">
                <a:solidFill>
                  <a:schemeClr val="tx1"/>
                </a:solidFill>
              </a:rPr>
              <a:t>The novelty wears off</a:t>
            </a:r>
            <a:endParaRPr lang="en-US" sz="1700" dirty="0"/>
          </a:p>
        </p:txBody>
      </p:sp>
      <p:sp>
        <p:nvSpPr>
          <p:cNvPr id="22" name="Answer 4"/>
          <p:cNvSpPr txBox="1"/>
          <p:nvPr/>
        </p:nvSpPr>
        <p:spPr>
          <a:xfrm>
            <a:off x="5029200" y="4069080"/>
            <a:ext cx="6400800" cy="777240"/>
          </a:xfrm>
          <a:prstGeom prst="rect">
            <a:avLst/>
          </a:prstGeom>
          <a:noFill/>
          <a:ln/>
        </p:spPr>
        <p:txBody>
          <a:bodyPr wrap="square" lIns="0" tIns="0" rIns="0" bIns="0" rtlCol="0" anchor="ctr"/>
          <a:lstStyle/>
          <a:p>
            <a:pPr marL="0" indent="0">
              <a:buNone/>
            </a:pPr>
            <a:r>
              <a:rPr lang="en-US" sz="1600" dirty="0">
                <a:solidFill>
                  <a:schemeClr val="accent5"/>
                </a:solidFill>
              </a:rPr>
              <a:t>Seasonal challenges</a:t>
            </a:r>
            <a:r>
              <a:rPr lang="en-CH" sz="1600" dirty="0">
                <a:solidFill>
                  <a:schemeClr val="accent5"/>
                </a:solidFill>
              </a:rPr>
              <a:t>, keeping things fresh</a:t>
            </a:r>
            <a:r>
              <a:rPr lang="en-US" sz="1600" dirty="0">
                <a:solidFill>
                  <a:schemeClr val="accent5"/>
                </a:solidFill>
              </a:rPr>
              <a:t>, team goals and local events keep people coming back</a:t>
            </a:r>
            <a:endParaRPr lang="en-US" sz="1600" dirty="0"/>
          </a:p>
        </p:txBody>
      </p:sp>
      <p:sp>
        <p:nvSpPr>
          <p:cNvPr id="23" name="Risk row 5"/>
          <p:cNvSpPr/>
          <p:nvPr/>
        </p:nvSpPr>
        <p:spPr>
          <a:xfrm>
            <a:off x="548640" y="4983480"/>
            <a:ext cx="11064240" cy="777240"/>
          </a:xfrm>
          <a:prstGeom prst="roundRect">
            <a:avLst>
              <a:gd name="adj" fmla="val 17647"/>
            </a:avLst>
          </a:prstGeom>
          <a:solidFill>
            <a:srgbClr val="EEF4EE"/>
          </a:solidFill>
          <a:ln/>
        </p:spPr>
        <p:txBody>
          <a:bodyPr/>
          <a:lstStyle/>
          <a:p>
            <a:endParaRPr lang="en-CH"/>
          </a:p>
        </p:txBody>
      </p:sp>
      <p:sp>
        <p:nvSpPr>
          <p:cNvPr id="24" name="Risk 5 circle"/>
          <p:cNvSpPr/>
          <p:nvPr/>
        </p:nvSpPr>
        <p:spPr>
          <a:xfrm>
            <a:off x="731520" y="5074920"/>
            <a:ext cx="594360" cy="594360"/>
          </a:xfrm>
          <a:prstGeom prst="ellipse">
            <a:avLst/>
          </a:prstGeom>
          <a:solidFill>
            <a:srgbClr val="F2A33A"/>
          </a:solidFill>
          <a:ln/>
        </p:spPr>
        <p:txBody>
          <a:bodyPr/>
          <a:lstStyle/>
          <a:p>
            <a:endParaRPr lang="en-CH"/>
          </a:p>
        </p:txBody>
      </p:sp>
      <p:pic>
        <p:nvPicPr>
          <p:cNvPr id="25" name="Risk 5 icon" descr="Risk 5"/>
          <p:cNvPicPr>
            <a:picLocks noChangeAspect="1"/>
          </p:cNvPicPr>
          <p:nvPr/>
        </p:nvPicPr>
        <p:blipFill>
          <a:blip r:embed="rId7"/>
          <a:stretch>
            <a:fillRect/>
          </a:stretch>
        </p:blipFill>
        <p:spPr>
          <a:xfrm>
            <a:off x="880110" y="5223510"/>
            <a:ext cx="297180" cy="297180"/>
          </a:xfrm>
          <a:prstGeom prst="rect">
            <a:avLst/>
          </a:prstGeom>
        </p:spPr>
      </p:pic>
      <p:sp>
        <p:nvSpPr>
          <p:cNvPr id="26" name="Risk 5"/>
          <p:cNvSpPr txBox="1"/>
          <p:nvPr/>
        </p:nvSpPr>
        <p:spPr>
          <a:xfrm>
            <a:off x="1554480" y="4983480"/>
            <a:ext cx="3383280" cy="777240"/>
          </a:xfrm>
          <a:prstGeom prst="rect">
            <a:avLst/>
          </a:prstGeom>
          <a:noFill/>
          <a:ln/>
        </p:spPr>
        <p:txBody>
          <a:bodyPr wrap="square" lIns="0" tIns="0" rIns="0" bIns="0" rtlCol="0" anchor="ctr"/>
          <a:lstStyle/>
          <a:p>
            <a:pPr marL="0" indent="0">
              <a:buNone/>
            </a:pPr>
            <a:r>
              <a:rPr lang="en-US" sz="1700" b="1" dirty="0">
                <a:solidFill>
                  <a:schemeClr val="tx1"/>
                </a:solidFill>
              </a:rPr>
              <a:t>Privacy</a:t>
            </a:r>
            <a:endParaRPr lang="en-US" sz="1700" dirty="0"/>
          </a:p>
        </p:txBody>
      </p:sp>
      <p:sp>
        <p:nvSpPr>
          <p:cNvPr id="27" name="Answer 5"/>
          <p:cNvSpPr txBox="1"/>
          <p:nvPr/>
        </p:nvSpPr>
        <p:spPr>
          <a:xfrm>
            <a:off x="5029200" y="4983480"/>
            <a:ext cx="6400800" cy="777240"/>
          </a:xfrm>
          <a:prstGeom prst="rect">
            <a:avLst/>
          </a:prstGeom>
          <a:noFill/>
          <a:ln/>
        </p:spPr>
        <p:txBody>
          <a:bodyPr wrap="square" lIns="0" tIns="0" rIns="0" bIns="0" rtlCol="0" anchor="ctr"/>
          <a:lstStyle/>
          <a:p>
            <a:pPr marL="0" indent="0">
              <a:buNone/>
            </a:pPr>
            <a:r>
              <a:rPr lang="en-US" sz="1600" dirty="0">
                <a:solidFill>
                  <a:schemeClr val="accent5"/>
                </a:solidFill>
              </a:rPr>
              <a:t>No ads, no selling data, partners only see anonymised totals (Swiss </a:t>
            </a:r>
            <a:r>
              <a:rPr lang="en-US" sz="1600" dirty="0" err="1">
                <a:solidFill>
                  <a:schemeClr val="accent5"/>
                </a:solidFill>
              </a:rPr>
              <a:t>nFADP</a:t>
            </a:r>
            <a:r>
              <a:rPr lang="en-US" sz="1600" dirty="0">
                <a:solidFill>
                  <a:schemeClr val="accent5"/>
                </a:solidFill>
              </a:rPr>
              <a:t>)</a:t>
            </a:r>
            <a:r>
              <a:rPr lang="en-CH" sz="1600" dirty="0">
                <a:solidFill>
                  <a:schemeClr val="accent5"/>
                </a:solidFill>
              </a:rPr>
              <a:t>, your data is your property!</a:t>
            </a:r>
            <a:endParaRPr lang="en-US" sz="16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167180-6BA3-C78B-5C86-84EAC99AB63E}"/>
              </a:ext>
            </a:extLst>
          </p:cNvPr>
          <p:cNvSpPr txBox="1"/>
          <p:nvPr/>
        </p:nvSpPr>
        <p:spPr>
          <a:xfrm>
            <a:off x="974558" y="1120676"/>
            <a:ext cx="10756231" cy="4862870"/>
          </a:xfrm>
          <a:prstGeom prst="rect">
            <a:avLst/>
          </a:prstGeom>
          <a:noFill/>
        </p:spPr>
        <p:txBody>
          <a:bodyPr wrap="square" rtlCol="0">
            <a:spAutoFit/>
          </a:bodyPr>
          <a:lstStyle/>
          <a:p>
            <a:r>
              <a:rPr lang="en-CH" sz="48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Our Team:</a:t>
            </a:r>
          </a:p>
          <a:p>
            <a:endParaRPr lang="en-CH" dirty="0">
              <a:solidFill>
                <a:schemeClr val="bg1"/>
              </a:solidFill>
            </a:endParaRPr>
          </a:p>
          <a:p>
            <a:endParaRPr lang="en-CH" dirty="0">
              <a:solidFill>
                <a:schemeClr val="bg1"/>
              </a:solidFill>
            </a:endParaRPr>
          </a:p>
          <a:p>
            <a:r>
              <a:rPr lang="en-CH" sz="3200" dirty="0">
                <a:solidFill>
                  <a:schemeClr val="bg1"/>
                </a:solidFill>
                <a:latin typeface="Times New Roman" panose="02020603050405020304" pitchFamily="18" charset="0"/>
                <a:cs typeface="Times New Roman" panose="02020603050405020304" pitchFamily="18" charset="0"/>
              </a:rPr>
              <a:t>Thorben Che Koch: App developer and leader</a:t>
            </a:r>
          </a:p>
          <a:p>
            <a:r>
              <a:rPr lang="en-CH" sz="3200" dirty="0" err="1">
                <a:solidFill>
                  <a:schemeClr val="bg1"/>
                </a:solidFill>
                <a:latin typeface="Times New Roman" panose="02020603050405020304" pitchFamily="18" charset="0"/>
                <a:cs typeface="Times New Roman" panose="02020603050405020304" pitchFamily="18" charset="0"/>
              </a:rPr>
              <a:t>Pipatsakorn</a:t>
            </a:r>
            <a:r>
              <a:rPr lang="en-CH" sz="3200" dirty="0">
                <a:solidFill>
                  <a:schemeClr val="bg1"/>
                </a:solidFill>
                <a:latin typeface="Times New Roman" panose="02020603050405020304" pitchFamily="18" charset="0"/>
                <a:cs typeface="Times New Roman" panose="02020603050405020304" pitchFamily="18" charset="0"/>
              </a:rPr>
              <a:t> </a:t>
            </a:r>
            <a:r>
              <a:rPr lang="en-CH" sz="3200" dirty="0" err="1">
                <a:solidFill>
                  <a:schemeClr val="bg1"/>
                </a:solidFill>
                <a:latin typeface="Times New Roman" panose="02020603050405020304" pitchFamily="18" charset="0"/>
                <a:cs typeface="Times New Roman" panose="02020603050405020304" pitchFamily="18" charset="0"/>
              </a:rPr>
              <a:t>Namthirash</a:t>
            </a:r>
            <a:r>
              <a:rPr lang="en-CH" sz="3200" dirty="0">
                <a:solidFill>
                  <a:schemeClr val="bg1"/>
                </a:solidFill>
                <a:latin typeface="Times New Roman" panose="02020603050405020304" pitchFamily="18" charset="0"/>
                <a:cs typeface="Times New Roman" panose="02020603050405020304" pitchFamily="18" charset="0"/>
              </a:rPr>
              <a:t>: App design and </a:t>
            </a:r>
            <a:r>
              <a:rPr lang="en-CH" sz="3200" dirty="0" err="1">
                <a:solidFill>
                  <a:schemeClr val="bg1"/>
                </a:solidFill>
                <a:latin typeface="Times New Roman" panose="02020603050405020304" pitchFamily="18" charset="0"/>
                <a:cs typeface="Times New Roman" panose="02020603050405020304" pitchFamily="18" charset="0"/>
              </a:rPr>
              <a:t>Powerpoints</a:t>
            </a:r>
            <a:endParaRPr lang="en-CH" sz="3200" dirty="0">
              <a:solidFill>
                <a:schemeClr val="bg1"/>
              </a:solidFill>
              <a:latin typeface="Times New Roman" panose="02020603050405020304" pitchFamily="18" charset="0"/>
              <a:cs typeface="Times New Roman" panose="02020603050405020304" pitchFamily="18" charset="0"/>
            </a:endParaRPr>
          </a:p>
          <a:p>
            <a:r>
              <a:rPr lang="en-CH" sz="3200" dirty="0">
                <a:solidFill>
                  <a:schemeClr val="bg1"/>
                </a:solidFill>
                <a:latin typeface="Times New Roman" panose="02020603050405020304" pitchFamily="18" charset="0"/>
                <a:cs typeface="Times New Roman" panose="02020603050405020304" pitchFamily="18" charset="0"/>
              </a:rPr>
              <a:t>Gabriel da </a:t>
            </a:r>
            <a:r>
              <a:rPr lang="en-CH" sz="3200" dirty="0" err="1">
                <a:solidFill>
                  <a:schemeClr val="bg1"/>
                </a:solidFill>
                <a:latin typeface="Times New Roman" panose="02020603050405020304" pitchFamily="18" charset="0"/>
                <a:cs typeface="Times New Roman" panose="02020603050405020304" pitchFamily="18" charset="0"/>
              </a:rPr>
              <a:t>Fonseac</a:t>
            </a:r>
            <a:r>
              <a:rPr lang="en-CH" sz="3200" dirty="0">
                <a:solidFill>
                  <a:schemeClr val="bg1"/>
                </a:solidFill>
                <a:latin typeface="Times New Roman" panose="02020603050405020304" pitchFamily="18" charset="0"/>
                <a:cs typeface="Times New Roman" panose="02020603050405020304" pitchFamily="18" charset="0"/>
              </a:rPr>
              <a:t>: Research and all around help</a:t>
            </a:r>
          </a:p>
          <a:p>
            <a:endParaRPr lang="en-CH" sz="3200" dirty="0">
              <a:solidFill>
                <a:schemeClr val="bg1"/>
              </a:solidFill>
              <a:latin typeface="Times New Roman" panose="02020603050405020304" pitchFamily="18" charset="0"/>
              <a:cs typeface="Times New Roman" panose="02020603050405020304" pitchFamily="18" charset="0"/>
            </a:endParaRPr>
          </a:p>
          <a:p>
            <a:r>
              <a:rPr lang="en-CH" sz="3200" i="1" dirty="0">
                <a:solidFill>
                  <a:schemeClr val="bg1"/>
                </a:solidFill>
                <a:latin typeface="Times New Roman" panose="02020603050405020304" pitchFamily="18" charset="0"/>
                <a:cs typeface="Times New Roman" panose="02020603050405020304" pitchFamily="18" charset="0"/>
              </a:rPr>
              <a:t>Usage of AI:</a:t>
            </a:r>
          </a:p>
          <a:p>
            <a:r>
              <a:rPr lang="en-CH" sz="2400" dirty="0">
                <a:solidFill>
                  <a:schemeClr val="bg1"/>
                </a:solidFill>
                <a:latin typeface="Times New Roman" panose="02020603050405020304" pitchFamily="18" charset="0"/>
                <a:cs typeface="Times New Roman" panose="02020603050405020304" pitchFamily="18" charset="0"/>
              </a:rPr>
              <a:t>Bring our idea from paper to working Website with full mobile support and help with PowerPoints.</a:t>
            </a:r>
          </a:p>
          <a:p>
            <a:endParaRPr lang="en-CH" dirty="0">
              <a:solidFill>
                <a:schemeClr val="bg1"/>
              </a:solidFill>
            </a:endParaRPr>
          </a:p>
        </p:txBody>
      </p:sp>
    </p:spTree>
    <p:extLst>
      <p:ext uri="{BB962C8B-B14F-4D97-AF65-F5344CB8AC3E}">
        <p14:creationId xmlns:p14="http://schemas.microsoft.com/office/powerpoint/2010/main" val="3621072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731520" y="1600200"/>
            <a:ext cx="7132320" cy="365760"/>
          </a:xfrm>
          <a:prstGeom prst="rect">
            <a:avLst/>
          </a:prstGeom>
          <a:noFill/>
          <a:ln/>
        </p:spPr>
        <p:txBody>
          <a:bodyPr wrap="square" lIns="0" tIns="0" rIns="0" bIns="0" rtlCol="0" anchor="ctr"/>
          <a:lstStyle/>
          <a:p>
            <a:pPr marL="0" indent="0">
              <a:buNone/>
            </a:pPr>
            <a:r>
              <a:rPr lang="en-US" sz="1600" b="1" kern="0" spc="400" dirty="0">
                <a:solidFill>
                  <a:schemeClr val="accent1"/>
                </a:solidFill>
              </a:rPr>
              <a:t>OUR VISION</a:t>
            </a:r>
            <a:endParaRPr lang="en-US" sz="1600" dirty="0"/>
          </a:p>
        </p:txBody>
      </p:sp>
      <p:sp>
        <p:nvSpPr>
          <p:cNvPr id="3" name="Vision"/>
          <p:cNvSpPr txBox="1"/>
          <p:nvPr/>
        </p:nvSpPr>
        <p:spPr>
          <a:xfrm>
            <a:off x="731520" y="2057400"/>
            <a:ext cx="7132320" cy="1325880"/>
          </a:xfrm>
          <a:prstGeom prst="rect">
            <a:avLst/>
          </a:prstGeom>
          <a:noFill/>
          <a:ln/>
        </p:spPr>
        <p:txBody>
          <a:bodyPr wrap="square" lIns="0" tIns="0" rIns="0" bIns="0" rtlCol="0" anchor="t"/>
          <a:lstStyle/>
          <a:p>
            <a:pPr marL="0" indent="0">
              <a:buNone/>
            </a:pPr>
            <a:r>
              <a:rPr lang="en-US" sz="3600" b="1" dirty="0">
                <a:solidFill>
                  <a:schemeClr val="bg1"/>
                </a:solidFill>
              </a:rPr>
              <a:t>Make sustainability rewarding. Make recycling a habit.</a:t>
            </a:r>
            <a:endParaRPr lang="en-US" sz="3600" dirty="0"/>
          </a:p>
        </p:txBody>
      </p:sp>
      <p:sp>
        <p:nvSpPr>
          <p:cNvPr id="4" name="Motto"/>
          <p:cNvSpPr txBox="1"/>
          <p:nvPr/>
        </p:nvSpPr>
        <p:spPr>
          <a:xfrm>
            <a:off x="731520" y="3611880"/>
            <a:ext cx="7132320" cy="822960"/>
          </a:xfrm>
          <a:prstGeom prst="rect">
            <a:avLst/>
          </a:prstGeom>
          <a:noFill/>
          <a:ln/>
        </p:spPr>
        <p:txBody>
          <a:bodyPr wrap="square" lIns="0" tIns="0" rIns="0" bIns="0" rtlCol="0" anchor="t"/>
          <a:lstStyle/>
          <a:p>
            <a:pPr marL="0" indent="0">
              <a:buNone/>
            </a:pPr>
            <a:r>
              <a:rPr lang="en-US" sz="2400" b="1" dirty="0">
                <a:solidFill>
                  <a:schemeClr val="accent1"/>
                </a:solidFill>
              </a:rPr>
              <a:t>One action. One reward. A better community. A better future!</a:t>
            </a:r>
            <a:endParaRPr lang="en-US" sz="2400" dirty="0"/>
          </a:p>
        </p:txBody>
      </p:sp>
      <p:sp>
        <p:nvSpPr>
          <p:cNvPr id="5" name="Thanks"/>
          <p:cNvSpPr txBox="1"/>
          <p:nvPr/>
        </p:nvSpPr>
        <p:spPr>
          <a:xfrm>
            <a:off x="731520" y="4617720"/>
            <a:ext cx="7132320" cy="457200"/>
          </a:xfrm>
          <a:prstGeom prst="rect">
            <a:avLst/>
          </a:prstGeom>
          <a:noFill/>
          <a:ln/>
        </p:spPr>
        <p:txBody>
          <a:bodyPr wrap="square" lIns="0" tIns="0" rIns="0" bIns="0" rtlCol="0" anchor="ctr"/>
          <a:lstStyle/>
          <a:p>
            <a:pPr marL="0" indent="0">
              <a:buNone/>
            </a:pPr>
            <a:r>
              <a:rPr lang="en-US" sz="2200" dirty="0">
                <a:solidFill>
                  <a:schemeClr val="accent4"/>
                </a:solidFill>
              </a:rPr>
              <a:t>Thank you for listening!</a:t>
            </a:r>
            <a:endParaRPr lang="en-US" sz="2200" dirty="0"/>
          </a:p>
        </p:txBody>
      </p:sp>
      <p:sp>
        <p:nvSpPr>
          <p:cNvPr id="6" name="Badge circle"/>
          <p:cNvSpPr/>
          <p:nvPr/>
        </p:nvSpPr>
        <p:spPr>
          <a:xfrm>
            <a:off x="8138160" y="1691640"/>
            <a:ext cx="3291840" cy="3291840"/>
          </a:xfrm>
          <a:prstGeom prst="ellipse">
            <a:avLst/>
          </a:prstGeom>
          <a:solidFill>
            <a:schemeClr val="accent1"/>
          </a:solidFill>
          <a:ln/>
        </p:spPr>
        <p:txBody>
          <a:bodyPr/>
          <a:lstStyle/>
          <a:p>
            <a:endParaRPr lang="en-CH"/>
          </a:p>
        </p:txBody>
      </p:sp>
      <p:pic>
        <p:nvPicPr>
          <p:cNvPr id="7" name="Leaf icon" descr="Leaf"/>
          <p:cNvPicPr>
            <a:picLocks noChangeAspect="1"/>
          </p:cNvPicPr>
          <p:nvPr/>
        </p:nvPicPr>
        <p:blipFill>
          <a:blip r:embed="rId3"/>
          <a:stretch>
            <a:fillRect/>
          </a:stretch>
        </p:blipFill>
        <p:spPr>
          <a:xfrm>
            <a:off x="8869680" y="2423160"/>
            <a:ext cx="1828800" cy="182880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9</a:t>
            </a:fld>
            <a:endParaRPr lang="en-US"/>
          </a:p>
        </p:txBody>
      </p:sp>
    </p:spTree>
  </p:cSld>
  <p:clrMapOvr>
    <a:masterClrMapping/>
  </p:clrMapOvr>
</p:sld>
</file>

<file path=ppt/theme/theme1.xml><?xml version="1.0" encoding="utf-8"?>
<a:theme xmlns:a="http://schemas.openxmlformats.org/drawingml/2006/main" name="RECYCL IT">
  <a:themeElements>
    <a:clrScheme name="RECYCL IT">
      <a:dk1>
        <a:srgbClr val="14342B"/>
      </a:dk1>
      <a:lt1>
        <a:srgbClr val="FFFFFF"/>
      </a:lt1>
      <a:dk2>
        <a:srgbClr val="23704F"/>
      </a:dk2>
      <a:lt2>
        <a:srgbClr val="EEF4EE"/>
      </a:lt2>
      <a:accent1>
        <a:srgbClr val="F2A33A"/>
      </a:accent1>
      <a:accent2>
        <a:srgbClr val="23704F"/>
      </a:accent2>
      <a:accent3>
        <a:srgbClr val="5FAF7E"/>
      </a:accent3>
      <a:accent4>
        <a:srgbClr val="C9DCD3"/>
      </a:accent4>
      <a:accent5>
        <a:srgbClr val="44524C"/>
      </a:accent5>
      <a:accent6>
        <a:srgbClr val="E35D3A"/>
      </a:accent6>
      <a:hlink>
        <a:srgbClr val="23704F"/>
      </a:hlink>
      <a:folHlink>
        <a:srgbClr val="44524C"/>
      </a:folHlink>
    </a:clrScheme>
    <a:fontScheme name="RECYCL I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1276</Words>
  <Application>Microsoft Office PowerPoint</Application>
  <PresentationFormat>Widescreen</PresentationFormat>
  <Paragraphs>114</Paragraphs>
  <Slides>9</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ADLaM Display</vt:lpstr>
      <vt:lpstr>Arial</vt:lpstr>
      <vt:lpstr>Calibri</vt:lpstr>
      <vt:lpstr>Times New Roman</vt:lpstr>
      <vt:lpstr>RECYCL IT</vt:lpstr>
      <vt:lpstr>PowerPoint Presentation</vt:lpstr>
      <vt:lpstr>The Problem</vt:lpstr>
      <vt:lpstr>Our Solution</vt:lpstr>
      <vt:lpstr>Business Model</vt:lpstr>
      <vt:lpstr>Why RECYCL IT?</vt:lpstr>
      <vt:lpstr>Marketing &amp; Next Steps</vt:lpstr>
      <vt:lpstr>Risks and Our Answers</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RECYCL IT! – 4 min pitch</dc:title>
  <dc:subject>PptxGenJS Presentation</dc:subject>
  <dc:creator>PptxGenJS</dc:creator>
  <cp:lastModifiedBy>Thorben Che Koch</cp:lastModifiedBy>
  <cp:revision>3</cp:revision>
  <dcterms:created xsi:type="dcterms:W3CDTF">2026-10-24T01:41:37Z</dcterms:created>
  <dcterms:modified xsi:type="dcterms:W3CDTF">2026-10-24T03:03:43Z</dcterms:modified>
</cp:coreProperties>
</file>