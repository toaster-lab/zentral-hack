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8" r:id="rId3"/>
    <p:sldId id="259" r:id="rId4"/>
    <p:sldId id="261" r:id="rId5"/>
    <p:sldId id="262" r:id="rId6"/>
    <p:sldId id="263" r:id="rId7"/>
    <p:sldId id="264"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948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Gabriel opens.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pays? Not the residents. Three paying groups: municipalities, employers, local shops and brands. The first customer we are going after is Gemeinde Risch in Rotkreuz, about 11,000 residents; our demo already runs on real OpenStreetMap data there. First target employer: Roche Diagnostics Rotkreuz, almost 3,000 employees. Handover to Euro.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use it for free, organisations pay. Municipality licence: 80 Rappen per resident per year, minimum 3,000 francs; Risch about 9,000 a year. Employer challenges: 3 francs per employee per year. Sponsored quests: 1,500 francs per monthly quest.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Switzerland has 2,110 municipalities and about 9 million residents. At 80 Rappen per resident, the municipal market alone is about 7 million francs a year. Central Switzerland, around 850,000 residents, is about 680,000 francs. Our first target, the Canton of Zug with 11 municipalities, is about 100,000 francs a year. Best-known competitor: Recycling Map, over 16,000 collection points. It tells you where; we tell you what, and reward it. No other app sells to employers.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see our QR code on the recycling station or in the municipality newsletter. They scan their first product and get an answer in seconds. They log their recycling and earn points. They come back for monthly quests and challenges with friends. And they redeem points at local sponsors, which is why sponsors pay 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strategy: sell to the organisation and let it bring the users. Step one: pilot with Risch in 2027, QR stickers on every station and an article in the Gemeinde newsletter; costs almost nothing and reaches every household. Step two: an employer challenge at Roche Rotkreuz via their intranet. Step three: use the Risch numbers as a case study to sell to the other Zug municipalities in 2028, through the cantonal network of waste managers. Then Central Switzerland in 2029.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BubbleCycle: free for people, paid by the ones who save money when people recycle right.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560320"/>
            <a:ext cx="8046720" cy="146304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457200" y="4754880"/>
            <a:ext cx="3657600" cy="274320"/>
          </a:xfrm>
          <a:prstGeom prst="rect">
            <a:avLst/>
          </a:prstGeom>
          <a:noFill/>
          <a:ln/>
        </p:spPr>
        <p:txBody>
          <a:bodyPr wrap="square" rtlCol="0" anchor="ctr"/>
          <a:lstStyle/>
          <a:p>
            <a:pPr marL="0" indent="0">
              <a:buNone/>
            </a:pPr>
            <a:r>
              <a:rPr lang="en-US" sz="1000" dirty="0">
                <a:solidFill>
                  <a:schemeClr val="accent4"/>
                </a:solidFill>
              </a:rPr>
              <a:t>BubbleCycle · Market Pitch</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02340"/>
            <a:ext cx="8046720" cy="1097280"/>
          </a:xfrm>
          <a:prstGeom prst="rect">
            <a:avLst/>
          </a:prstGeom>
          <a:noFill/>
          <a:ln/>
        </p:spPr>
        <p:txBody>
          <a:bodyPr wrap="square" rtlCol="0" anchor="b"/>
          <a:lstStyle/>
          <a:p>
            <a:r>
              <a:rPr lang="en-US" dirty="0">
                <a:latin typeface="ADLaM Display" panose="020F0502020204030204" pitchFamily="2" charset="0"/>
                <a:ea typeface="ADLaM Display" panose="020F0502020204030204" pitchFamily="2" charset="0"/>
                <a:cs typeface="ADLaM Display" panose="020F0502020204030204" pitchFamily="2" charset="0"/>
              </a:rPr>
              <a:t>RECYCL  IT!</a:t>
            </a:r>
            <a:br>
              <a:rPr lang="en-US" dirty="0">
                <a:latin typeface="ADLaM Display" panose="020F0502020204030204" pitchFamily="2" charset="0"/>
                <a:ea typeface="ADLaM Display" panose="020F0502020204030204" pitchFamily="2" charset="0"/>
                <a:cs typeface="ADLaM Display" panose="020F0502020204030204" pitchFamily="2" charset="0"/>
              </a:rPr>
            </a:br>
            <a:endParaRPr lang="en-US" sz="4400" dirty="0"/>
          </a:p>
        </p:txBody>
      </p:sp>
      <p:sp>
        <p:nvSpPr>
          <p:cNvPr id="3" name="Text 0"/>
          <p:cNvSpPr>
            <a:spLocks noGrp="1"/>
          </p:cNvSpPr>
          <p:nvPr>
            <p:ph type="body" idx="101" hasCustomPrompt="1"/>
          </p:nvPr>
        </p:nvSpPr>
        <p:spPr>
          <a:xfrm>
            <a:off x="548640" y="2560320"/>
            <a:ext cx="8046720" cy="1463040"/>
          </a:xfrm>
          <a:prstGeom prst="rect">
            <a:avLst/>
          </a:prstGeom>
          <a:noFill/>
          <a:ln/>
        </p:spPr>
        <p:txBody>
          <a:bodyPr wrap="square" rtlCol="0" anchor="t"/>
          <a:lstStyle/>
          <a:p>
            <a:pPr marL="0" indent="0" algn="l">
              <a:buNone/>
            </a:pPr>
            <a:r>
              <a:rPr lang="en-US" sz="1800" dirty="0">
                <a:solidFill>
                  <a:schemeClr val="accent5"/>
                </a:solidFill>
              </a:rPr>
              <a:t>Recycle right. Get rewarded.</a:t>
            </a:r>
            <a:endParaRPr lang="en-US" sz="1800" dirty="0"/>
          </a:p>
          <a:p>
            <a:pPr marL="0" indent="0" algn="l">
              <a:buNone/>
            </a:pPr>
            <a:r>
              <a:rPr lang="en-US" sz="1800" dirty="0">
                <a:solidFill>
                  <a:schemeClr val="accent5"/>
                </a:solidFill>
              </a:rPr>
              <a:t>Market Pitch · Zentral-Hack 2026 · Thorben, Euro, Gabriel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Free for residents, paid by three groups</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
        <p:nvSpPr>
          <p:cNvPr id="3" name="Shape 1"/>
          <p:cNvSpPr/>
          <p:nvPr/>
        </p:nvSpPr>
        <p:spPr>
          <a:xfrm>
            <a:off x="457200" y="1234440"/>
            <a:ext cx="2606040" cy="274320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4" name="Shape 2"/>
          <p:cNvSpPr/>
          <p:nvPr/>
        </p:nvSpPr>
        <p:spPr>
          <a:xfrm>
            <a:off x="685800" y="1417320"/>
            <a:ext cx="548640" cy="548640"/>
          </a:xfrm>
          <a:prstGeom prst="ellipse">
            <a:avLst/>
          </a:prstGeom>
          <a:solidFill>
            <a:schemeClr val="accent1"/>
          </a:solidFill>
          <a:ln w="12700">
            <a:solidFill>
              <a:schemeClr val="accent1"/>
            </a:solidFill>
            <a:prstDash val="solid"/>
          </a:ln>
        </p:spPr>
        <p:txBody>
          <a:bodyPr/>
          <a:lstStyle/>
          <a:p>
            <a:endParaRPr lang="en-CH"/>
          </a:p>
        </p:txBody>
      </p:sp>
      <p:sp>
        <p:nvSpPr>
          <p:cNvPr id="5" name="Text 3"/>
          <p:cNvSpPr txBox="1"/>
          <p:nvPr/>
        </p:nvSpPr>
        <p:spPr>
          <a:xfrm>
            <a:off x="685800"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685800" y="2103120"/>
            <a:ext cx="219456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Municipalities</a:t>
            </a:r>
            <a:endParaRPr lang="en-US" sz="2000" dirty="0"/>
          </a:p>
        </p:txBody>
      </p:sp>
      <p:sp>
        <p:nvSpPr>
          <p:cNvPr id="7" name="Text 5"/>
          <p:cNvSpPr txBox="1"/>
          <p:nvPr/>
        </p:nvSpPr>
        <p:spPr>
          <a:xfrm>
            <a:off x="685800" y="2560320"/>
            <a:ext cx="2194560" cy="731520"/>
          </a:xfrm>
          <a:prstGeom prst="rect">
            <a:avLst/>
          </a:prstGeom>
          <a:noFill/>
          <a:ln/>
        </p:spPr>
        <p:txBody>
          <a:bodyPr wrap="square" lIns="0" tIns="0" rIns="0" bIns="0" rtlCol="0" anchor="ctr"/>
          <a:lstStyle/>
          <a:p>
            <a:pPr marL="0" indent="0">
              <a:buNone/>
            </a:pPr>
            <a:r>
              <a:rPr lang="en-US" sz="1400" dirty="0">
                <a:solidFill>
                  <a:schemeClr val="tx1"/>
                </a:solidFill>
              </a:rPr>
              <a:t>Save disposal costs from wrongly sorted waste</a:t>
            </a:r>
            <a:endParaRPr lang="en-US" sz="1400" dirty="0"/>
          </a:p>
        </p:txBody>
      </p:sp>
      <p:sp>
        <p:nvSpPr>
          <p:cNvPr id="8" name="Text 6"/>
          <p:cNvSpPr txBox="1"/>
          <p:nvPr/>
        </p:nvSpPr>
        <p:spPr>
          <a:xfrm>
            <a:off x="685800" y="3337560"/>
            <a:ext cx="2194560" cy="502920"/>
          </a:xfrm>
          <a:prstGeom prst="rect">
            <a:avLst/>
          </a:prstGeom>
          <a:noFill/>
          <a:ln/>
        </p:spPr>
        <p:txBody>
          <a:bodyPr wrap="square" lIns="0" tIns="0" rIns="0" bIns="0" rtlCol="0" anchor="ctr"/>
          <a:lstStyle/>
          <a:p>
            <a:pPr marL="0" indent="0">
              <a:buNone/>
            </a:pPr>
            <a:r>
              <a:rPr lang="en-US" sz="1300" b="1" dirty="0">
                <a:solidFill>
                  <a:schemeClr val="accent1"/>
                </a:solidFill>
              </a:rPr>
              <a:t>First: Gemeinde Risch, ~11,200 residents</a:t>
            </a:r>
            <a:endParaRPr lang="en-US" sz="1300" dirty="0"/>
          </a:p>
        </p:txBody>
      </p:sp>
      <p:sp>
        <p:nvSpPr>
          <p:cNvPr id="9" name="Shape 7"/>
          <p:cNvSpPr/>
          <p:nvPr/>
        </p:nvSpPr>
        <p:spPr>
          <a:xfrm>
            <a:off x="3264408" y="1234440"/>
            <a:ext cx="2606040" cy="274320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0" name="Shape 8"/>
          <p:cNvSpPr/>
          <p:nvPr/>
        </p:nvSpPr>
        <p:spPr>
          <a:xfrm>
            <a:off x="3493008" y="1417320"/>
            <a:ext cx="548640" cy="548640"/>
          </a:xfrm>
          <a:prstGeom prst="ellipse">
            <a:avLst/>
          </a:prstGeom>
          <a:solidFill>
            <a:schemeClr val="accent1"/>
          </a:solidFill>
          <a:ln w="12700">
            <a:solidFill>
              <a:schemeClr val="accent1"/>
            </a:solidFill>
            <a:prstDash val="solid"/>
          </a:ln>
        </p:spPr>
        <p:txBody>
          <a:bodyPr/>
          <a:lstStyle/>
          <a:p>
            <a:endParaRPr lang="en-CH"/>
          </a:p>
        </p:txBody>
      </p:sp>
      <p:sp>
        <p:nvSpPr>
          <p:cNvPr id="11" name="Text 9"/>
          <p:cNvSpPr txBox="1"/>
          <p:nvPr/>
        </p:nvSpPr>
        <p:spPr>
          <a:xfrm>
            <a:off x="3493008"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3493008" y="2103120"/>
            <a:ext cx="219456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Employers</a:t>
            </a:r>
            <a:endParaRPr lang="en-US" sz="2000" dirty="0"/>
          </a:p>
        </p:txBody>
      </p:sp>
      <p:sp>
        <p:nvSpPr>
          <p:cNvPr id="13" name="Text 11"/>
          <p:cNvSpPr txBox="1"/>
          <p:nvPr/>
        </p:nvSpPr>
        <p:spPr>
          <a:xfrm>
            <a:off x="3493008" y="2560320"/>
            <a:ext cx="2194560" cy="731520"/>
          </a:xfrm>
          <a:prstGeom prst="rect">
            <a:avLst/>
          </a:prstGeom>
          <a:noFill/>
          <a:ln/>
        </p:spPr>
        <p:txBody>
          <a:bodyPr wrap="square" lIns="0" tIns="0" rIns="0" bIns="0" rtlCol="0" anchor="ctr"/>
          <a:lstStyle/>
          <a:p>
            <a:pPr marL="0" indent="0">
              <a:buNone/>
            </a:pPr>
            <a:r>
              <a:rPr lang="en-US" sz="1400" dirty="0">
                <a:solidFill>
                  <a:schemeClr val="tx1"/>
                </a:solidFill>
              </a:rPr>
              <a:t>Show sustainability engagement to staff and in ESG reports</a:t>
            </a:r>
            <a:endParaRPr lang="en-US" sz="1400" dirty="0"/>
          </a:p>
        </p:txBody>
      </p:sp>
      <p:sp>
        <p:nvSpPr>
          <p:cNvPr id="14" name="Text 12"/>
          <p:cNvSpPr txBox="1"/>
          <p:nvPr/>
        </p:nvSpPr>
        <p:spPr>
          <a:xfrm>
            <a:off x="3493008" y="3337560"/>
            <a:ext cx="2194560" cy="502920"/>
          </a:xfrm>
          <a:prstGeom prst="rect">
            <a:avLst/>
          </a:prstGeom>
          <a:noFill/>
          <a:ln/>
        </p:spPr>
        <p:txBody>
          <a:bodyPr wrap="square" lIns="0" tIns="0" rIns="0" bIns="0" rtlCol="0" anchor="ctr"/>
          <a:lstStyle/>
          <a:p>
            <a:pPr marL="0" indent="0">
              <a:buNone/>
            </a:pPr>
            <a:r>
              <a:rPr lang="en-US" sz="1300" b="1" dirty="0">
                <a:solidFill>
                  <a:schemeClr val="accent1"/>
                </a:solidFill>
              </a:rPr>
              <a:t>First: Roche Rotkreuz, ~2,990 employees</a:t>
            </a:r>
            <a:endParaRPr lang="en-US" sz="1300" dirty="0"/>
          </a:p>
        </p:txBody>
      </p:sp>
      <p:sp>
        <p:nvSpPr>
          <p:cNvPr id="15" name="Shape 13"/>
          <p:cNvSpPr/>
          <p:nvPr/>
        </p:nvSpPr>
        <p:spPr>
          <a:xfrm>
            <a:off x="6071616" y="1234440"/>
            <a:ext cx="2606040" cy="274320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6" name="Shape 14"/>
          <p:cNvSpPr/>
          <p:nvPr/>
        </p:nvSpPr>
        <p:spPr>
          <a:xfrm>
            <a:off x="6300216" y="1417320"/>
            <a:ext cx="548640" cy="548640"/>
          </a:xfrm>
          <a:prstGeom prst="ellipse">
            <a:avLst/>
          </a:prstGeom>
          <a:solidFill>
            <a:schemeClr val="accent1"/>
          </a:solidFill>
          <a:ln w="12700">
            <a:solidFill>
              <a:schemeClr val="accent1"/>
            </a:solidFill>
            <a:prstDash val="solid"/>
          </a:ln>
        </p:spPr>
        <p:txBody>
          <a:bodyPr/>
          <a:lstStyle/>
          <a:p>
            <a:endParaRPr lang="en-CH"/>
          </a:p>
        </p:txBody>
      </p:sp>
      <p:sp>
        <p:nvSpPr>
          <p:cNvPr id="17" name="Text 15"/>
          <p:cNvSpPr txBox="1"/>
          <p:nvPr/>
        </p:nvSpPr>
        <p:spPr>
          <a:xfrm>
            <a:off x="6300216"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6"/>
          <p:cNvSpPr txBox="1"/>
          <p:nvPr/>
        </p:nvSpPr>
        <p:spPr>
          <a:xfrm>
            <a:off x="6300216" y="2103120"/>
            <a:ext cx="219456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Local sponsors</a:t>
            </a:r>
            <a:endParaRPr lang="en-US" sz="2000" dirty="0"/>
          </a:p>
        </p:txBody>
      </p:sp>
      <p:sp>
        <p:nvSpPr>
          <p:cNvPr id="19" name="Text 17"/>
          <p:cNvSpPr txBox="1"/>
          <p:nvPr/>
        </p:nvSpPr>
        <p:spPr>
          <a:xfrm>
            <a:off x="6300216" y="2560320"/>
            <a:ext cx="2194560" cy="731520"/>
          </a:xfrm>
          <a:prstGeom prst="rect">
            <a:avLst/>
          </a:prstGeom>
          <a:noFill/>
          <a:ln/>
        </p:spPr>
        <p:txBody>
          <a:bodyPr wrap="square" lIns="0" tIns="0" rIns="0" bIns="0" rtlCol="0" anchor="ctr"/>
          <a:lstStyle/>
          <a:p>
            <a:pPr marL="0" indent="0">
              <a:buNone/>
            </a:pPr>
            <a:r>
              <a:rPr lang="en-US" sz="1400" dirty="0">
                <a:solidFill>
                  <a:schemeClr val="tx1"/>
                </a:solidFill>
              </a:rPr>
              <a:t>Reach active local customers through rewards</a:t>
            </a:r>
            <a:endParaRPr lang="en-US" sz="1400" dirty="0"/>
          </a:p>
        </p:txBody>
      </p:sp>
      <p:sp>
        <p:nvSpPr>
          <p:cNvPr id="20" name="Text 18"/>
          <p:cNvSpPr txBox="1"/>
          <p:nvPr/>
        </p:nvSpPr>
        <p:spPr>
          <a:xfrm>
            <a:off x="6300216" y="3337560"/>
            <a:ext cx="2194560" cy="502920"/>
          </a:xfrm>
          <a:prstGeom prst="rect">
            <a:avLst/>
          </a:prstGeom>
          <a:noFill/>
          <a:ln/>
        </p:spPr>
        <p:txBody>
          <a:bodyPr wrap="square" lIns="0" tIns="0" rIns="0" bIns="0" rtlCol="0" anchor="ctr"/>
          <a:lstStyle/>
          <a:p>
            <a:pPr marL="0" indent="0">
              <a:buNone/>
            </a:pPr>
            <a:r>
              <a:rPr lang="en-US" sz="1300" b="1" dirty="0">
                <a:solidFill>
                  <a:schemeClr val="accent1"/>
                </a:solidFill>
              </a:rPr>
              <a:t>First: shops in Rotkreuz</a:t>
            </a:r>
            <a:endParaRPr lang="en-US" sz="13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400" i="1" dirty="0">
                <a:solidFill>
                  <a:schemeClr val="accent4"/>
                </a:solidFill>
              </a:rPr>
              <a:t>Users: residents of Swiss municipalities, using the app for free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Three revenue streams, B2B2C</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
        <p:nvSpPr>
          <p:cNvPr id="3" name="Shape 1"/>
          <p:cNvSpPr/>
          <p:nvPr/>
        </p:nvSpPr>
        <p:spPr>
          <a:xfrm>
            <a:off x="457200" y="1234440"/>
            <a:ext cx="2606040" cy="3108960"/>
          </a:xfrm>
          <a:prstGeom prst="roundRect">
            <a:avLst>
              <a:gd name="adj" fmla="val 3509"/>
            </a:avLst>
          </a:prstGeom>
          <a:solidFill>
            <a:schemeClr val="tx2"/>
          </a:solidFill>
          <a:ln w="12700">
            <a:solidFill>
              <a:schemeClr val="tx2"/>
            </a:solidFill>
            <a:prstDash val="solid"/>
          </a:ln>
        </p:spPr>
        <p:txBody>
          <a:bodyPr/>
          <a:lstStyle/>
          <a:p>
            <a:endParaRPr lang="en-CH"/>
          </a:p>
        </p:txBody>
      </p:sp>
      <p:sp>
        <p:nvSpPr>
          <p:cNvPr id="4" name="Text 2"/>
          <p:cNvSpPr txBox="1"/>
          <p:nvPr/>
        </p:nvSpPr>
        <p:spPr>
          <a:xfrm>
            <a:off x="685800" y="1417320"/>
            <a:ext cx="2194560" cy="365760"/>
          </a:xfrm>
          <a:prstGeom prst="rect">
            <a:avLst/>
          </a:prstGeom>
          <a:noFill/>
          <a:ln/>
        </p:spPr>
        <p:txBody>
          <a:bodyPr wrap="square" lIns="0" tIns="0" rIns="0" bIns="0" rtlCol="0" anchor="ctr"/>
          <a:lstStyle/>
          <a:p>
            <a:pPr marL="0" indent="0">
              <a:buNone/>
            </a:pPr>
            <a:r>
              <a:rPr lang="en-US" sz="1600" b="1" dirty="0">
                <a:solidFill>
                  <a:schemeClr val="accent5"/>
                </a:solidFill>
              </a:rPr>
              <a:t>Municipality licence</a:t>
            </a:r>
            <a:endParaRPr lang="en-US" sz="1600" dirty="0"/>
          </a:p>
        </p:txBody>
      </p:sp>
      <p:sp>
        <p:nvSpPr>
          <p:cNvPr id="5" name="Text 3"/>
          <p:cNvSpPr txBox="1"/>
          <p:nvPr/>
        </p:nvSpPr>
        <p:spPr>
          <a:xfrm>
            <a:off x="685800" y="1874520"/>
            <a:ext cx="2194560" cy="73152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CHF 0.80</a:t>
            </a:r>
            <a:endParaRPr lang="en-US" sz="3600" dirty="0"/>
          </a:p>
        </p:txBody>
      </p:sp>
      <p:sp>
        <p:nvSpPr>
          <p:cNvPr id="6" name="Text 4"/>
          <p:cNvSpPr txBox="1"/>
          <p:nvPr/>
        </p:nvSpPr>
        <p:spPr>
          <a:xfrm>
            <a:off x="685800" y="2606040"/>
            <a:ext cx="2194560" cy="365760"/>
          </a:xfrm>
          <a:prstGeom prst="rect">
            <a:avLst/>
          </a:prstGeom>
          <a:noFill/>
          <a:ln/>
        </p:spPr>
        <p:txBody>
          <a:bodyPr wrap="square" lIns="0" tIns="0" rIns="0" bIns="0" rtlCol="0" anchor="ctr"/>
          <a:lstStyle/>
          <a:p>
            <a:pPr marL="0" indent="0">
              <a:buNone/>
            </a:pPr>
            <a:r>
              <a:rPr lang="en-US" sz="1400" dirty="0">
                <a:solidFill>
                  <a:schemeClr val="bg1"/>
                </a:solidFill>
              </a:rPr>
              <a:t>per resident per year</a:t>
            </a:r>
            <a:endParaRPr lang="en-US" sz="1400" dirty="0"/>
          </a:p>
        </p:txBody>
      </p:sp>
      <p:sp>
        <p:nvSpPr>
          <p:cNvPr id="7" name="Text 5"/>
          <p:cNvSpPr txBox="1"/>
          <p:nvPr/>
        </p:nvSpPr>
        <p:spPr>
          <a:xfrm>
            <a:off x="685800" y="3246120"/>
            <a:ext cx="2194560" cy="822960"/>
          </a:xfrm>
          <a:prstGeom prst="rect">
            <a:avLst/>
          </a:prstGeom>
          <a:noFill/>
          <a:ln/>
        </p:spPr>
        <p:txBody>
          <a:bodyPr wrap="square" lIns="0" tIns="0" rIns="0" bIns="0" rtlCol="0" anchor="ctr"/>
          <a:lstStyle/>
          <a:p>
            <a:pPr marL="0" indent="0">
              <a:buNone/>
            </a:pPr>
            <a:r>
              <a:rPr lang="en-US" sz="1400" dirty="0">
                <a:solidFill>
                  <a:schemeClr val="bg1"/>
                </a:solidFill>
              </a:rPr>
              <a:t>Min. CHF 3,000. Risch ≈ CHF 9,000/year</a:t>
            </a:r>
            <a:endParaRPr lang="en-US" sz="1400" dirty="0"/>
          </a:p>
        </p:txBody>
      </p:sp>
      <p:sp>
        <p:nvSpPr>
          <p:cNvPr id="8" name="Shape 6"/>
          <p:cNvSpPr/>
          <p:nvPr/>
        </p:nvSpPr>
        <p:spPr>
          <a:xfrm>
            <a:off x="3264408" y="1234440"/>
            <a:ext cx="2606040" cy="310896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9" name="Text 7"/>
          <p:cNvSpPr txBox="1"/>
          <p:nvPr/>
        </p:nvSpPr>
        <p:spPr>
          <a:xfrm>
            <a:off x="3493008" y="1417320"/>
            <a:ext cx="2194560" cy="365760"/>
          </a:xfrm>
          <a:prstGeom prst="rect">
            <a:avLst/>
          </a:prstGeom>
          <a:noFill/>
          <a:ln/>
        </p:spPr>
        <p:txBody>
          <a:bodyPr wrap="square" lIns="0" tIns="0" rIns="0" bIns="0" rtlCol="0" anchor="ctr"/>
          <a:lstStyle/>
          <a:p>
            <a:pPr marL="0" indent="0">
              <a:buNone/>
            </a:pPr>
            <a:r>
              <a:rPr lang="en-US" sz="1600" b="1" dirty="0">
                <a:solidFill>
                  <a:schemeClr val="accent1"/>
                </a:solidFill>
              </a:rPr>
              <a:t>Employer challenge</a:t>
            </a:r>
            <a:endParaRPr lang="en-US" sz="1600" dirty="0"/>
          </a:p>
        </p:txBody>
      </p:sp>
      <p:sp>
        <p:nvSpPr>
          <p:cNvPr id="10" name="Text 8"/>
          <p:cNvSpPr txBox="1"/>
          <p:nvPr/>
        </p:nvSpPr>
        <p:spPr>
          <a:xfrm>
            <a:off x="3493008" y="1874520"/>
            <a:ext cx="2194560" cy="73152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CHF 3</a:t>
            </a:r>
            <a:endParaRPr lang="en-US" sz="3600" dirty="0"/>
          </a:p>
        </p:txBody>
      </p:sp>
      <p:sp>
        <p:nvSpPr>
          <p:cNvPr id="11" name="Text 9"/>
          <p:cNvSpPr txBox="1"/>
          <p:nvPr/>
        </p:nvSpPr>
        <p:spPr>
          <a:xfrm>
            <a:off x="3493008" y="2606040"/>
            <a:ext cx="2194560" cy="365760"/>
          </a:xfrm>
          <a:prstGeom prst="rect">
            <a:avLst/>
          </a:prstGeom>
          <a:noFill/>
          <a:ln/>
        </p:spPr>
        <p:txBody>
          <a:bodyPr wrap="square" lIns="0" tIns="0" rIns="0" bIns="0" rtlCol="0" anchor="ctr"/>
          <a:lstStyle/>
          <a:p>
            <a:pPr marL="0" indent="0">
              <a:buNone/>
            </a:pPr>
            <a:r>
              <a:rPr lang="en-US" sz="1400" dirty="0">
                <a:solidFill>
                  <a:schemeClr val="tx2"/>
                </a:solidFill>
              </a:rPr>
              <a:t>per employee per year</a:t>
            </a:r>
            <a:endParaRPr lang="en-US" sz="1400" dirty="0"/>
          </a:p>
        </p:txBody>
      </p:sp>
      <p:sp>
        <p:nvSpPr>
          <p:cNvPr id="12" name="Text 10"/>
          <p:cNvSpPr txBox="1"/>
          <p:nvPr/>
        </p:nvSpPr>
        <p:spPr>
          <a:xfrm>
            <a:off x="3493008" y="3246120"/>
            <a:ext cx="2194560" cy="822960"/>
          </a:xfrm>
          <a:prstGeom prst="rect">
            <a:avLst/>
          </a:prstGeom>
          <a:noFill/>
          <a:ln/>
        </p:spPr>
        <p:txBody>
          <a:bodyPr wrap="square" lIns="0" tIns="0" rIns="0" bIns="0" rtlCol="0" anchor="ctr"/>
          <a:lstStyle/>
          <a:p>
            <a:pPr marL="0" indent="0">
              <a:buNone/>
            </a:pPr>
            <a:r>
              <a:rPr lang="en-US" sz="1400" dirty="0">
                <a:solidFill>
                  <a:schemeClr val="tx1"/>
                </a:solidFill>
              </a:rPr>
              <a:t>Team recycling challenges + ESG numbers</a:t>
            </a:r>
            <a:endParaRPr lang="en-US" sz="1400" dirty="0"/>
          </a:p>
        </p:txBody>
      </p:sp>
      <p:sp>
        <p:nvSpPr>
          <p:cNvPr id="13" name="Shape 11"/>
          <p:cNvSpPr/>
          <p:nvPr/>
        </p:nvSpPr>
        <p:spPr>
          <a:xfrm>
            <a:off x="6071616" y="1234440"/>
            <a:ext cx="2606040" cy="310896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4" name="Text 12"/>
          <p:cNvSpPr txBox="1"/>
          <p:nvPr/>
        </p:nvSpPr>
        <p:spPr>
          <a:xfrm>
            <a:off x="6300216" y="1417320"/>
            <a:ext cx="2194560" cy="365760"/>
          </a:xfrm>
          <a:prstGeom prst="rect">
            <a:avLst/>
          </a:prstGeom>
          <a:noFill/>
          <a:ln/>
        </p:spPr>
        <p:txBody>
          <a:bodyPr wrap="square" lIns="0" tIns="0" rIns="0" bIns="0" rtlCol="0" anchor="ctr"/>
          <a:lstStyle/>
          <a:p>
            <a:pPr marL="0" indent="0">
              <a:buNone/>
            </a:pPr>
            <a:r>
              <a:rPr lang="en-US" sz="1600" b="1" dirty="0">
                <a:solidFill>
                  <a:schemeClr val="accent1"/>
                </a:solidFill>
              </a:rPr>
              <a:t>Sponsored quest</a:t>
            </a:r>
            <a:endParaRPr lang="en-US" sz="1600" dirty="0"/>
          </a:p>
        </p:txBody>
      </p:sp>
      <p:sp>
        <p:nvSpPr>
          <p:cNvPr id="15" name="Text 13"/>
          <p:cNvSpPr txBox="1"/>
          <p:nvPr/>
        </p:nvSpPr>
        <p:spPr>
          <a:xfrm>
            <a:off x="6300216" y="1874520"/>
            <a:ext cx="2194560" cy="73152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CHF 1,500</a:t>
            </a:r>
            <a:endParaRPr lang="en-US" sz="3600" dirty="0"/>
          </a:p>
        </p:txBody>
      </p:sp>
      <p:sp>
        <p:nvSpPr>
          <p:cNvPr id="16" name="Text 14"/>
          <p:cNvSpPr txBox="1"/>
          <p:nvPr/>
        </p:nvSpPr>
        <p:spPr>
          <a:xfrm>
            <a:off x="6300216" y="2606040"/>
            <a:ext cx="2194560" cy="365760"/>
          </a:xfrm>
          <a:prstGeom prst="rect">
            <a:avLst/>
          </a:prstGeom>
          <a:noFill/>
          <a:ln/>
        </p:spPr>
        <p:txBody>
          <a:bodyPr wrap="square" lIns="0" tIns="0" rIns="0" bIns="0" rtlCol="0" anchor="ctr"/>
          <a:lstStyle/>
          <a:p>
            <a:pPr marL="0" indent="0">
              <a:buNone/>
            </a:pPr>
            <a:r>
              <a:rPr lang="en-US" sz="1400" dirty="0">
                <a:solidFill>
                  <a:schemeClr val="tx2"/>
                </a:solidFill>
              </a:rPr>
              <a:t>per campaign</a:t>
            </a:r>
            <a:endParaRPr lang="en-US" sz="1400" dirty="0"/>
          </a:p>
        </p:txBody>
      </p:sp>
      <p:sp>
        <p:nvSpPr>
          <p:cNvPr id="17" name="Text 15"/>
          <p:cNvSpPr txBox="1"/>
          <p:nvPr/>
        </p:nvSpPr>
        <p:spPr>
          <a:xfrm>
            <a:off x="6300216" y="3246120"/>
            <a:ext cx="2194560" cy="822960"/>
          </a:xfrm>
          <a:prstGeom prst="rect">
            <a:avLst/>
          </a:prstGeom>
          <a:noFill/>
          <a:ln/>
        </p:spPr>
        <p:txBody>
          <a:bodyPr wrap="square" lIns="0" tIns="0" rIns="0" bIns="0" rtlCol="0" anchor="ctr"/>
          <a:lstStyle/>
          <a:p>
            <a:pPr marL="0" indent="0">
              <a:buNone/>
            </a:pPr>
            <a:r>
              <a:rPr lang="en-US" sz="1400" dirty="0">
                <a:solidFill>
                  <a:schemeClr val="tx1"/>
                </a:solidFill>
              </a:rPr>
              <a:t>e.g. "recycle 20 bottles, get a coffee"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A CHF 7 million market, starting in Zug</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
        <p:nvSpPr>
          <p:cNvPr id="3" name="Shape 1"/>
          <p:cNvSpPr/>
          <p:nvPr/>
        </p:nvSpPr>
        <p:spPr>
          <a:xfrm>
            <a:off x="548640" y="1097280"/>
            <a:ext cx="3566160" cy="3566160"/>
          </a:xfrm>
          <a:prstGeom prst="ellipse">
            <a:avLst/>
          </a:prstGeom>
          <a:solidFill>
            <a:schemeClr val="accent5"/>
          </a:solidFill>
          <a:ln w="12700">
            <a:solidFill>
              <a:schemeClr val="accent5"/>
            </a:solidFill>
            <a:prstDash val="solid"/>
          </a:ln>
        </p:spPr>
        <p:txBody>
          <a:bodyPr/>
          <a:lstStyle/>
          <a:p>
            <a:endParaRPr lang="en-CH"/>
          </a:p>
        </p:txBody>
      </p:sp>
      <p:sp>
        <p:nvSpPr>
          <p:cNvPr id="4" name="Shape 2"/>
          <p:cNvSpPr/>
          <p:nvPr/>
        </p:nvSpPr>
        <p:spPr>
          <a:xfrm>
            <a:off x="1234440" y="1965960"/>
            <a:ext cx="2194560" cy="2194560"/>
          </a:xfrm>
          <a:prstGeom prst="ellipse">
            <a:avLst/>
          </a:prstGeom>
          <a:solidFill>
            <a:schemeClr val="accent2"/>
          </a:solidFill>
          <a:ln w="12700">
            <a:solidFill>
              <a:schemeClr val="accent2"/>
            </a:solidFill>
            <a:prstDash val="solid"/>
          </a:ln>
        </p:spPr>
        <p:txBody>
          <a:bodyPr/>
          <a:lstStyle/>
          <a:p>
            <a:endParaRPr lang="en-CH"/>
          </a:p>
        </p:txBody>
      </p:sp>
      <p:sp>
        <p:nvSpPr>
          <p:cNvPr id="5" name="Shape 3"/>
          <p:cNvSpPr/>
          <p:nvPr/>
        </p:nvSpPr>
        <p:spPr>
          <a:xfrm>
            <a:off x="1783080" y="2743200"/>
            <a:ext cx="1097280" cy="1097280"/>
          </a:xfrm>
          <a:prstGeom prst="ellipse">
            <a:avLst/>
          </a:prstGeom>
          <a:solidFill>
            <a:schemeClr val="accent1"/>
          </a:solidFill>
          <a:ln w="12700">
            <a:solidFill>
              <a:schemeClr val="accent1"/>
            </a:solidFill>
            <a:prstDash val="solid"/>
          </a:ln>
        </p:spPr>
        <p:txBody>
          <a:bodyPr/>
          <a:lstStyle/>
          <a:p>
            <a:endParaRPr lang="en-CH"/>
          </a:p>
        </p:txBody>
      </p:sp>
      <p:sp>
        <p:nvSpPr>
          <p:cNvPr id="6" name="Text 4"/>
          <p:cNvSpPr txBox="1"/>
          <p:nvPr/>
        </p:nvSpPr>
        <p:spPr>
          <a:xfrm>
            <a:off x="1783080" y="2743200"/>
            <a:ext cx="1097280" cy="1097280"/>
          </a:xfrm>
          <a:prstGeom prst="rect">
            <a:avLst/>
          </a:prstGeom>
          <a:noFill/>
          <a:ln/>
        </p:spPr>
        <p:txBody>
          <a:bodyPr wrap="square" lIns="0" tIns="0" rIns="0" bIns="0" rtlCol="0" anchor="ctr"/>
          <a:lstStyle/>
          <a:p>
            <a:pPr marL="0" indent="0" algn="ctr">
              <a:buNone/>
            </a:pPr>
            <a:r>
              <a:rPr lang="en-US" sz="1400" b="1" dirty="0">
                <a:solidFill>
                  <a:schemeClr val="bg1"/>
                </a:solidFill>
              </a:rPr>
              <a:t>Zug</a:t>
            </a:r>
            <a:endParaRPr lang="en-US" sz="1400" dirty="0"/>
          </a:p>
        </p:txBody>
      </p:sp>
      <p:sp>
        <p:nvSpPr>
          <p:cNvPr id="7" name="Text 5"/>
          <p:cNvSpPr txBox="1"/>
          <p:nvPr/>
        </p:nvSpPr>
        <p:spPr>
          <a:xfrm>
            <a:off x="1188720" y="1280160"/>
            <a:ext cx="2286000" cy="320040"/>
          </a:xfrm>
          <a:prstGeom prst="rect">
            <a:avLst/>
          </a:prstGeom>
          <a:noFill/>
          <a:ln/>
        </p:spPr>
        <p:txBody>
          <a:bodyPr wrap="square" lIns="0" tIns="0" rIns="0" bIns="0" rtlCol="0" anchor="ctr"/>
          <a:lstStyle/>
          <a:p>
            <a:pPr marL="0" indent="0" algn="ctr">
              <a:buNone/>
            </a:pPr>
            <a:r>
              <a:rPr lang="en-US" sz="1300" b="1" dirty="0">
                <a:solidFill>
                  <a:schemeClr val="tx2"/>
                </a:solidFill>
              </a:rPr>
              <a:t>Switzerland</a:t>
            </a:r>
            <a:endParaRPr lang="en-US" sz="1300" dirty="0"/>
          </a:p>
        </p:txBody>
      </p:sp>
      <p:sp>
        <p:nvSpPr>
          <p:cNvPr id="8" name="Text 6"/>
          <p:cNvSpPr txBox="1"/>
          <p:nvPr/>
        </p:nvSpPr>
        <p:spPr>
          <a:xfrm>
            <a:off x="1417320" y="2148840"/>
            <a:ext cx="1828800" cy="320040"/>
          </a:xfrm>
          <a:prstGeom prst="rect">
            <a:avLst/>
          </a:prstGeom>
          <a:noFill/>
          <a:ln/>
        </p:spPr>
        <p:txBody>
          <a:bodyPr wrap="square" lIns="0" tIns="0" rIns="0" bIns="0" rtlCol="0" anchor="ctr"/>
          <a:lstStyle/>
          <a:p>
            <a:pPr marL="0" indent="0" algn="ctr">
              <a:buNone/>
            </a:pPr>
            <a:r>
              <a:rPr lang="en-US" sz="1300" b="1" dirty="0">
                <a:solidFill>
                  <a:schemeClr val="tx2"/>
                </a:solidFill>
              </a:rPr>
              <a:t>Central CH</a:t>
            </a:r>
            <a:endParaRPr lang="en-US" sz="1300" dirty="0"/>
          </a:p>
        </p:txBody>
      </p:sp>
      <p:sp>
        <p:nvSpPr>
          <p:cNvPr id="9" name="Text 7"/>
          <p:cNvSpPr txBox="1"/>
          <p:nvPr/>
        </p:nvSpPr>
        <p:spPr>
          <a:xfrm>
            <a:off x="4572000" y="1188720"/>
            <a:ext cx="2377440" cy="320040"/>
          </a:xfrm>
          <a:prstGeom prst="rect">
            <a:avLst/>
          </a:prstGeom>
          <a:noFill/>
          <a:ln/>
        </p:spPr>
        <p:txBody>
          <a:bodyPr wrap="square" lIns="0" tIns="0" rIns="0" bIns="0" rtlCol="0" anchor="ctr"/>
          <a:lstStyle/>
          <a:p>
            <a:pPr marL="0" indent="0">
              <a:buNone/>
            </a:pPr>
            <a:r>
              <a:rPr lang="en-US" sz="1600" b="1" dirty="0">
                <a:solidFill>
                  <a:schemeClr val="tx2"/>
                </a:solidFill>
              </a:rPr>
              <a:t>Switzerland</a:t>
            </a:r>
            <a:endParaRPr lang="en-US" sz="1600" dirty="0"/>
          </a:p>
        </p:txBody>
      </p:sp>
      <p:sp>
        <p:nvSpPr>
          <p:cNvPr id="10" name="Text 8"/>
          <p:cNvSpPr txBox="1"/>
          <p:nvPr/>
        </p:nvSpPr>
        <p:spPr>
          <a:xfrm>
            <a:off x="4572000" y="1536192"/>
            <a:ext cx="2560320" cy="320040"/>
          </a:xfrm>
          <a:prstGeom prst="rect">
            <a:avLst/>
          </a:prstGeom>
          <a:noFill/>
          <a:ln/>
        </p:spPr>
        <p:txBody>
          <a:bodyPr wrap="square" lIns="0" tIns="0" rIns="0" bIns="0" rtlCol="0" anchor="ctr"/>
          <a:lstStyle/>
          <a:p>
            <a:pPr marL="0" indent="0">
              <a:buNone/>
            </a:pPr>
            <a:r>
              <a:rPr lang="en-US" sz="1300" dirty="0">
                <a:solidFill>
                  <a:schemeClr val="tx1"/>
                </a:solidFill>
              </a:rPr>
              <a:t>2,110 municipalities · ~9M residents</a:t>
            </a:r>
            <a:endParaRPr lang="en-US" sz="1300" dirty="0"/>
          </a:p>
        </p:txBody>
      </p:sp>
      <p:sp>
        <p:nvSpPr>
          <p:cNvPr id="11" name="Text 9"/>
          <p:cNvSpPr txBox="1"/>
          <p:nvPr/>
        </p:nvSpPr>
        <p:spPr>
          <a:xfrm>
            <a:off x="7040880" y="1188720"/>
            <a:ext cx="1645920" cy="640080"/>
          </a:xfrm>
          <a:prstGeom prst="rect">
            <a:avLst/>
          </a:prstGeom>
          <a:noFill/>
          <a:ln/>
        </p:spPr>
        <p:txBody>
          <a:bodyPr wrap="square" lIns="0" tIns="0" rIns="0" bIns="0" rtlCol="0" anchor="ctr"/>
          <a:lstStyle/>
          <a:p>
            <a:pPr marL="0" indent="0" algn="r">
              <a:buNone/>
            </a:pPr>
            <a:r>
              <a:rPr lang="en-US" sz="1600" b="1" dirty="0">
                <a:solidFill>
                  <a:schemeClr val="accent1"/>
                </a:solidFill>
              </a:rPr>
              <a:t>≈ CHF 7.2M / year</a:t>
            </a:r>
            <a:endParaRPr lang="en-US" sz="1600" dirty="0"/>
          </a:p>
        </p:txBody>
      </p:sp>
      <p:sp>
        <p:nvSpPr>
          <p:cNvPr id="12" name="Text 10"/>
          <p:cNvSpPr txBox="1"/>
          <p:nvPr/>
        </p:nvSpPr>
        <p:spPr>
          <a:xfrm>
            <a:off x="4572000" y="2057400"/>
            <a:ext cx="2377440" cy="320040"/>
          </a:xfrm>
          <a:prstGeom prst="rect">
            <a:avLst/>
          </a:prstGeom>
          <a:noFill/>
          <a:ln/>
        </p:spPr>
        <p:txBody>
          <a:bodyPr wrap="square" lIns="0" tIns="0" rIns="0" bIns="0" rtlCol="0" anchor="ctr"/>
          <a:lstStyle/>
          <a:p>
            <a:pPr marL="0" indent="0">
              <a:buNone/>
            </a:pPr>
            <a:r>
              <a:rPr lang="en-US" sz="1600" b="1" dirty="0">
                <a:solidFill>
                  <a:schemeClr val="tx2"/>
                </a:solidFill>
              </a:rPr>
              <a:t>Central Switzerland</a:t>
            </a:r>
            <a:endParaRPr lang="en-US" sz="1600" dirty="0"/>
          </a:p>
        </p:txBody>
      </p:sp>
      <p:sp>
        <p:nvSpPr>
          <p:cNvPr id="13" name="Text 11"/>
          <p:cNvSpPr txBox="1"/>
          <p:nvPr/>
        </p:nvSpPr>
        <p:spPr>
          <a:xfrm>
            <a:off x="4572000" y="2404872"/>
            <a:ext cx="2560320" cy="320040"/>
          </a:xfrm>
          <a:prstGeom prst="rect">
            <a:avLst/>
          </a:prstGeom>
          <a:noFill/>
          <a:ln/>
        </p:spPr>
        <p:txBody>
          <a:bodyPr wrap="square" lIns="0" tIns="0" rIns="0" bIns="0" rtlCol="0" anchor="ctr"/>
          <a:lstStyle/>
          <a:p>
            <a:pPr marL="0" indent="0">
              <a:buNone/>
            </a:pPr>
            <a:r>
              <a:rPr lang="en-US" sz="1300" dirty="0">
                <a:solidFill>
                  <a:schemeClr val="tx1"/>
                </a:solidFill>
              </a:rPr>
              <a:t>~850,000 residents</a:t>
            </a:r>
            <a:endParaRPr lang="en-US" sz="1300" dirty="0"/>
          </a:p>
        </p:txBody>
      </p:sp>
      <p:sp>
        <p:nvSpPr>
          <p:cNvPr id="14" name="Text 12"/>
          <p:cNvSpPr txBox="1"/>
          <p:nvPr/>
        </p:nvSpPr>
        <p:spPr>
          <a:xfrm>
            <a:off x="7040880" y="2057400"/>
            <a:ext cx="1645920" cy="640080"/>
          </a:xfrm>
          <a:prstGeom prst="rect">
            <a:avLst/>
          </a:prstGeom>
          <a:noFill/>
          <a:ln/>
        </p:spPr>
        <p:txBody>
          <a:bodyPr wrap="square" lIns="0" tIns="0" rIns="0" bIns="0" rtlCol="0" anchor="ctr"/>
          <a:lstStyle/>
          <a:p>
            <a:pPr marL="0" indent="0" algn="r">
              <a:buNone/>
            </a:pPr>
            <a:r>
              <a:rPr lang="en-US" sz="1600" b="1" dirty="0">
                <a:solidFill>
                  <a:schemeClr val="accent1"/>
                </a:solidFill>
              </a:rPr>
              <a:t>≈ CHF 680k / year</a:t>
            </a:r>
            <a:endParaRPr lang="en-US" sz="1600" dirty="0"/>
          </a:p>
        </p:txBody>
      </p:sp>
      <p:sp>
        <p:nvSpPr>
          <p:cNvPr id="15" name="Text 13"/>
          <p:cNvSpPr txBox="1"/>
          <p:nvPr/>
        </p:nvSpPr>
        <p:spPr>
          <a:xfrm>
            <a:off x="4572000" y="2926080"/>
            <a:ext cx="2377440" cy="320040"/>
          </a:xfrm>
          <a:prstGeom prst="rect">
            <a:avLst/>
          </a:prstGeom>
          <a:noFill/>
          <a:ln/>
        </p:spPr>
        <p:txBody>
          <a:bodyPr wrap="square" lIns="0" tIns="0" rIns="0" bIns="0" rtlCol="0" anchor="ctr"/>
          <a:lstStyle/>
          <a:p>
            <a:pPr marL="0" indent="0">
              <a:buNone/>
            </a:pPr>
            <a:r>
              <a:rPr lang="en-US" sz="1600" b="1" dirty="0">
                <a:solidFill>
                  <a:schemeClr val="tx2"/>
                </a:solidFill>
              </a:rPr>
              <a:t>Canton of Zug (start)</a:t>
            </a:r>
            <a:endParaRPr lang="en-US" sz="1600" dirty="0"/>
          </a:p>
        </p:txBody>
      </p:sp>
      <p:sp>
        <p:nvSpPr>
          <p:cNvPr id="16" name="Text 14"/>
          <p:cNvSpPr txBox="1"/>
          <p:nvPr/>
        </p:nvSpPr>
        <p:spPr>
          <a:xfrm>
            <a:off x="4572000" y="3273552"/>
            <a:ext cx="2560320" cy="320040"/>
          </a:xfrm>
          <a:prstGeom prst="rect">
            <a:avLst/>
          </a:prstGeom>
          <a:noFill/>
          <a:ln/>
        </p:spPr>
        <p:txBody>
          <a:bodyPr wrap="square" lIns="0" tIns="0" rIns="0" bIns="0" rtlCol="0" anchor="ctr"/>
          <a:lstStyle/>
          <a:p>
            <a:pPr marL="0" indent="0">
              <a:buNone/>
            </a:pPr>
            <a:r>
              <a:rPr lang="en-US" sz="1300" dirty="0">
                <a:solidFill>
                  <a:schemeClr val="tx1"/>
                </a:solidFill>
              </a:rPr>
              <a:t>11 municipalities · ~130,000 residents</a:t>
            </a:r>
            <a:endParaRPr lang="en-US" sz="1300" dirty="0"/>
          </a:p>
        </p:txBody>
      </p:sp>
      <p:sp>
        <p:nvSpPr>
          <p:cNvPr id="17" name="Text 15"/>
          <p:cNvSpPr txBox="1"/>
          <p:nvPr/>
        </p:nvSpPr>
        <p:spPr>
          <a:xfrm>
            <a:off x="7040880" y="2926080"/>
            <a:ext cx="1645920" cy="640080"/>
          </a:xfrm>
          <a:prstGeom prst="rect">
            <a:avLst/>
          </a:prstGeom>
          <a:noFill/>
          <a:ln/>
        </p:spPr>
        <p:txBody>
          <a:bodyPr wrap="square" lIns="0" tIns="0" rIns="0" bIns="0" rtlCol="0" anchor="ctr"/>
          <a:lstStyle/>
          <a:p>
            <a:pPr marL="0" indent="0" algn="r">
              <a:buNone/>
            </a:pPr>
            <a:r>
              <a:rPr lang="en-US" sz="1600" b="1" dirty="0">
                <a:solidFill>
                  <a:schemeClr val="accent1"/>
                </a:solidFill>
              </a:rPr>
              <a:t>≈ CHF 100k / year</a:t>
            </a:r>
            <a:endParaRPr lang="en-US" sz="1600" dirty="0"/>
          </a:p>
        </p:txBody>
      </p:sp>
      <p:sp>
        <p:nvSpPr>
          <p:cNvPr id="18" name="Shape 16"/>
          <p:cNvSpPr/>
          <p:nvPr/>
        </p:nvSpPr>
        <p:spPr>
          <a:xfrm>
            <a:off x="4572000" y="3840480"/>
            <a:ext cx="4114800" cy="777240"/>
          </a:xfrm>
          <a:prstGeom prst="roundRect">
            <a:avLst>
              <a:gd name="adj" fmla="val 11765"/>
            </a:avLst>
          </a:prstGeom>
          <a:solidFill>
            <a:schemeClr val="bg2"/>
          </a:solidFill>
          <a:ln w="12700">
            <a:solidFill>
              <a:schemeClr val="bg2"/>
            </a:solidFill>
            <a:prstDash val="solid"/>
          </a:ln>
        </p:spPr>
        <p:txBody>
          <a:bodyPr/>
          <a:lstStyle/>
          <a:p>
            <a:endParaRPr lang="en-CH"/>
          </a:p>
        </p:txBody>
      </p:sp>
      <p:sp>
        <p:nvSpPr>
          <p:cNvPr id="19" name="Text 17"/>
          <p:cNvSpPr txBox="1"/>
          <p:nvPr/>
        </p:nvSpPr>
        <p:spPr>
          <a:xfrm>
            <a:off x="4709160" y="3886200"/>
            <a:ext cx="3840480" cy="685800"/>
          </a:xfrm>
          <a:prstGeom prst="rect">
            <a:avLst/>
          </a:prstGeom>
          <a:noFill/>
          <a:ln/>
        </p:spPr>
        <p:txBody>
          <a:bodyPr wrap="square" lIns="0" tIns="0" rIns="0" bIns="0" rtlCol="0" anchor="ctr"/>
          <a:lstStyle/>
          <a:p>
            <a:pPr marL="0" indent="0">
              <a:buNone/>
            </a:pPr>
            <a:r>
              <a:rPr lang="en-US" sz="1200" b="1" dirty="0">
                <a:solidFill>
                  <a:schemeClr val="tx2"/>
                </a:solidFill>
              </a:rPr>
              <a:t>vs. Recycling Map: </a:t>
            </a:r>
            <a:r>
              <a:rPr lang="en-US" sz="1200" dirty="0">
                <a:solidFill>
                  <a:schemeClr val="tx1"/>
                </a:solidFill>
              </a:rPr>
              <a:t>it shows where (16,000+ points). We show what to do with a product, and reward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The resident journey</a:t>
            </a:r>
            <a:endParaRPr lang="en-US" sz="3000" dirty="0"/>
          </a:p>
        </p:txBody>
      </p:sp>
      <p:sp>
        <p:nvSpPr>
          <p:cNvPr id="28"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
        <p:nvSpPr>
          <p:cNvPr id="3" name="Shape 1"/>
          <p:cNvSpPr/>
          <p:nvPr/>
        </p:nvSpPr>
        <p:spPr>
          <a:xfrm>
            <a:off x="868680"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4" name="Text 2"/>
          <p:cNvSpPr txBox="1"/>
          <p:nvPr/>
        </p:nvSpPr>
        <p:spPr>
          <a:xfrm>
            <a:off x="868680"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5" name="Shape 3"/>
          <p:cNvSpPr/>
          <p:nvPr/>
        </p:nvSpPr>
        <p:spPr>
          <a:xfrm>
            <a:off x="1783080" y="1874520"/>
            <a:ext cx="676656" cy="0"/>
          </a:xfrm>
          <a:prstGeom prst="line">
            <a:avLst/>
          </a:prstGeom>
          <a:noFill/>
          <a:ln w="25400">
            <a:solidFill>
              <a:schemeClr val="accent2"/>
            </a:solidFill>
            <a:prstDash val="solid"/>
            <a:tailEnd type="triangle"/>
          </a:ln>
        </p:spPr>
        <p:txBody>
          <a:bodyPr/>
          <a:lstStyle/>
          <a:p>
            <a:endParaRPr lang="en-CH"/>
          </a:p>
        </p:txBody>
      </p:sp>
      <p:sp>
        <p:nvSpPr>
          <p:cNvPr id="6" name="Text 4"/>
          <p:cNvSpPr txBox="1"/>
          <p:nvPr/>
        </p:nvSpPr>
        <p:spPr>
          <a:xfrm>
            <a:off x="457200"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See</a:t>
            </a:r>
            <a:endParaRPr lang="en-US" sz="1800" dirty="0"/>
          </a:p>
        </p:txBody>
      </p:sp>
      <p:sp>
        <p:nvSpPr>
          <p:cNvPr id="7" name="Text 5"/>
          <p:cNvSpPr txBox="1"/>
          <p:nvPr/>
        </p:nvSpPr>
        <p:spPr>
          <a:xfrm>
            <a:off x="548640"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QR code on the station or in the Gemeinde newsletter</a:t>
            </a:r>
            <a:endParaRPr lang="en-US" sz="1300" dirty="0"/>
          </a:p>
        </p:txBody>
      </p:sp>
      <p:sp>
        <p:nvSpPr>
          <p:cNvPr id="8" name="Shape 6"/>
          <p:cNvSpPr/>
          <p:nvPr/>
        </p:nvSpPr>
        <p:spPr>
          <a:xfrm>
            <a:off x="2551176"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9" name="Text 7"/>
          <p:cNvSpPr txBox="1"/>
          <p:nvPr/>
        </p:nvSpPr>
        <p:spPr>
          <a:xfrm>
            <a:off x="2551176"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0" name="Shape 8"/>
          <p:cNvSpPr/>
          <p:nvPr/>
        </p:nvSpPr>
        <p:spPr>
          <a:xfrm>
            <a:off x="3465576" y="1874520"/>
            <a:ext cx="676656" cy="0"/>
          </a:xfrm>
          <a:prstGeom prst="line">
            <a:avLst/>
          </a:prstGeom>
          <a:noFill/>
          <a:ln w="25400">
            <a:solidFill>
              <a:schemeClr val="accent2"/>
            </a:solidFill>
            <a:prstDash val="solid"/>
            <a:tailEnd type="triangle"/>
          </a:ln>
        </p:spPr>
        <p:txBody>
          <a:bodyPr/>
          <a:lstStyle/>
          <a:p>
            <a:endParaRPr lang="en-CH"/>
          </a:p>
        </p:txBody>
      </p:sp>
      <p:sp>
        <p:nvSpPr>
          <p:cNvPr id="11" name="Text 9"/>
          <p:cNvSpPr txBox="1"/>
          <p:nvPr/>
        </p:nvSpPr>
        <p:spPr>
          <a:xfrm>
            <a:off x="2139696"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Scan</a:t>
            </a:r>
            <a:endParaRPr lang="en-US" sz="1800" dirty="0"/>
          </a:p>
        </p:txBody>
      </p:sp>
      <p:sp>
        <p:nvSpPr>
          <p:cNvPr id="12" name="Text 10"/>
          <p:cNvSpPr txBox="1"/>
          <p:nvPr/>
        </p:nvSpPr>
        <p:spPr>
          <a:xfrm>
            <a:off x="2231136"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first product, answer in seconds</a:t>
            </a:r>
            <a:endParaRPr lang="en-US" sz="1300" dirty="0"/>
          </a:p>
        </p:txBody>
      </p:sp>
      <p:sp>
        <p:nvSpPr>
          <p:cNvPr id="13" name="Shape 11"/>
          <p:cNvSpPr/>
          <p:nvPr/>
        </p:nvSpPr>
        <p:spPr>
          <a:xfrm>
            <a:off x="4233672"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14" name="Text 12"/>
          <p:cNvSpPr txBox="1"/>
          <p:nvPr/>
        </p:nvSpPr>
        <p:spPr>
          <a:xfrm>
            <a:off x="4233672"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5" name="Shape 13"/>
          <p:cNvSpPr/>
          <p:nvPr/>
        </p:nvSpPr>
        <p:spPr>
          <a:xfrm>
            <a:off x="5148072" y="1874520"/>
            <a:ext cx="676656" cy="0"/>
          </a:xfrm>
          <a:prstGeom prst="line">
            <a:avLst/>
          </a:prstGeom>
          <a:noFill/>
          <a:ln w="25400">
            <a:solidFill>
              <a:schemeClr val="accent2"/>
            </a:solidFill>
            <a:prstDash val="solid"/>
            <a:tailEnd type="triangle"/>
          </a:ln>
        </p:spPr>
        <p:txBody>
          <a:bodyPr/>
          <a:lstStyle/>
          <a:p>
            <a:endParaRPr lang="en-CH"/>
          </a:p>
        </p:txBody>
      </p:sp>
      <p:sp>
        <p:nvSpPr>
          <p:cNvPr id="16" name="Text 14"/>
          <p:cNvSpPr txBox="1"/>
          <p:nvPr/>
        </p:nvSpPr>
        <p:spPr>
          <a:xfrm>
            <a:off x="3822192"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Log</a:t>
            </a:r>
            <a:endParaRPr lang="en-US" sz="1800" dirty="0"/>
          </a:p>
        </p:txBody>
      </p:sp>
      <p:sp>
        <p:nvSpPr>
          <p:cNvPr id="17" name="Text 15"/>
          <p:cNvSpPr txBox="1"/>
          <p:nvPr/>
        </p:nvSpPr>
        <p:spPr>
          <a:xfrm>
            <a:off x="3913632"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recycling, earn points</a:t>
            </a:r>
            <a:endParaRPr lang="en-US" sz="1300" dirty="0"/>
          </a:p>
        </p:txBody>
      </p:sp>
      <p:sp>
        <p:nvSpPr>
          <p:cNvPr id="18" name="Shape 16"/>
          <p:cNvSpPr/>
          <p:nvPr/>
        </p:nvSpPr>
        <p:spPr>
          <a:xfrm>
            <a:off x="5916168" y="1463040"/>
            <a:ext cx="822960" cy="822960"/>
          </a:xfrm>
          <a:prstGeom prst="ellipse">
            <a:avLst/>
          </a:prstGeom>
          <a:solidFill>
            <a:schemeClr val="accent1"/>
          </a:solidFill>
          <a:ln w="12700">
            <a:solidFill>
              <a:schemeClr val="accent1"/>
            </a:solidFill>
            <a:prstDash val="solid"/>
          </a:ln>
        </p:spPr>
        <p:txBody>
          <a:bodyPr/>
          <a:lstStyle/>
          <a:p>
            <a:endParaRPr lang="en-CH"/>
          </a:p>
        </p:txBody>
      </p:sp>
      <p:sp>
        <p:nvSpPr>
          <p:cNvPr id="19" name="Text 17"/>
          <p:cNvSpPr txBox="1"/>
          <p:nvPr/>
        </p:nvSpPr>
        <p:spPr>
          <a:xfrm>
            <a:off x="5916168"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0" name="Shape 18"/>
          <p:cNvSpPr/>
          <p:nvPr/>
        </p:nvSpPr>
        <p:spPr>
          <a:xfrm>
            <a:off x="6830568" y="1874520"/>
            <a:ext cx="676656" cy="0"/>
          </a:xfrm>
          <a:prstGeom prst="line">
            <a:avLst/>
          </a:prstGeom>
          <a:noFill/>
          <a:ln w="25400">
            <a:solidFill>
              <a:schemeClr val="accent2"/>
            </a:solidFill>
            <a:prstDash val="solid"/>
            <a:tailEnd type="triangle"/>
          </a:ln>
        </p:spPr>
        <p:txBody>
          <a:bodyPr/>
          <a:lstStyle/>
          <a:p>
            <a:endParaRPr lang="en-CH"/>
          </a:p>
        </p:txBody>
      </p:sp>
      <p:sp>
        <p:nvSpPr>
          <p:cNvPr id="21" name="Text 19"/>
          <p:cNvSpPr txBox="1"/>
          <p:nvPr/>
        </p:nvSpPr>
        <p:spPr>
          <a:xfrm>
            <a:off x="5504688"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Return</a:t>
            </a:r>
            <a:endParaRPr lang="en-US" sz="1800" dirty="0"/>
          </a:p>
        </p:txBody>
      </p:sp>
      <p:sp>
        <p:nvSpPr>
          <p:cNvPr id="22" name="Text 20"/>
          <p:cNvSpPr txBox="1"/>
          <p:nvPr/>
        </p:nvSpPr>
        <p:spPr>
          <a:xfrm>
            <a:off x="5596128"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monthly quests and friend challenges</a:t>
            </a:r>
            <a:endParaRPr lang="en-US" sz="1300" dirty="0"/>
          </a:p>
        </p:txBody>
      </p:sp>
      <p:sp>
        <p:nvSpPr>
          <p:cNvPr id="23" name="Shape 21"/>
          <p:cNvSpPr/>
          <p:nvPr/>
        </p:nvSpPr>
        <p:spPr>
          <a:xfrm>
            <a:off x="7598664" y="1463040"/>
            <a:ext cx="822960" cy="822960"/>
          </a:xfrm>
          <a:prstGeom prst="ellipse">
            <a:avLst/>
          </a:prstGeom>
          <a:solidFill>
            <a:schemeClr val="accent3"/>
          </a:solidFill>
          <a:ln w="12700">
            <a:solidFill>
              <a:schemeClr val="accent3"/>
            </a:solidFill>
            <a:prstDash val="solid"/>
          </a:ln>
        </p:spPr>
        <p:txBody>
          <a:bodyPr/>
          <a:lstStyle/>
          <a:p>
            <a:endParaRPr lang="en-CH"/>
          </a:p>
        </p:txBody>
      </p:sp>
      <p:sp>
        <p:nvSpPr>
          <p:cNvPr id="24" name="Text 22"/>
          <p:cNvSpPr txBox="1"/>
          <p:nvPr/>
        </p:nvSpPr>
        <p:spPr>
          <a:xfrm>
            <a:off x="7598664" y="14630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5" name="Text 23"/>
          <p:cNvSpPr txBox="1"/>
          <p:nvPr/>
        </p:nvSpPr>
        <p:spPr>
          <a:xfrm>
            <a:off x="7187184" y="2514600"/>
            <a:ext cx="1645920" cy="411480"/>
          </a:xfrm>
          <a:prstGeom prst="rect">
            <a:avLst/>
          </a:prstGeom>
          <a:noFill/>
          <a:ln/>
        </p:spPr>
        <p:txBody>
          <a:bodyPr wrap="square" lIns="0" tIns="0" rIns="0" bIns="0" rtlCol="0" anchor="ctr"/>
          <a:lstStyle/>
          <a:p>
            <a:pPr marL="0" indent="0" algn="ctr">
              <a:buNone/>
            </a:pPr>
            <a:r>
              <a:rPr lang="en-US" sz="1800" b="1" dirty="0">
                <a:solidFill>
                  <a:schemeClr val="tx2"/>
                </a:solidFill>
                <a:latin typeface="Cambria" pitchFamily="34" charset="0"/>
                <a:ea typeface="Cambria" pitchFamily="34" charset="-122"/>
                <a:cs typeface="Cambria" pitchFamily="34" charset="-120"/>
              </a:rPr>
              <a:t>Redeem</a:t>
            </a:r>
            <a:endParaRPr lang="en-US" sz="1800" dirty="0"/>
          </a:p>
        </p:txBody>
      </p:sp>
      <p:sp>
        <p:nvSpPr>
          <p:cNvPr id="26" name="Text 24"/>
          <p:cNvSpPr txBox="1"/>
          <p:nvPr/>
        </p:nvSpPr>
        <p:spPr>
          <a:xfrm>
            <a:off x="7278624" y="2971800"/>
            <a:ext cx="1463040" cy="914400"/>
          </a:xfrm>
          <a:prstGeom prst="rect">
            <a:avLst/>
          </a:prstGeom>
          <a:noFill/>
          <a:ln/>
        </p:spPr>
        <p:txBody>
          <a:bodyPr wrap="square" lIns="0" tIns="0" rIns="0" bIns="0" rtlCol="0" anchor="t"/>
          <a:lstStyle/>
          <a:p>
            <a:pPr marL="0" indent="0" algn="ctr">
              <a:buNone/>
            </a:pPr>
            <a:r>
              <a:rPr lang="en-US" sz="1300" dirty="0">
                <a:solidFill>
                  <a:schemeClr val="tx1"/>
                </a:solidFill>
              </a:rPr>
              <a:t>points at local sponsors</a:t>
            </a:r>
            <a:endParaRPr lang="en-US" sz="1300" dirty="0"/>
          </a:p>
        </p:txBody>
      </p:sp>
      <p:sp>
        <p:nvSpPr>
          <p:cNvPr id="27" name="Text 25"/>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400" i="1" dirty="0">
                <a:solidFill>
                  <a:schemeClr val="accent4"/>
                </a:solidFill>
              </a:rPr>
              <a:t>Step 5 is why sponsors pay us.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0" y="274638"/>
            <a:ext cx="8229600" cy="685800"/>
          </a:xfrm>
          <a:prstGeom prst="rect">
            <a:avLst/>
          </a:prstGeom>
          <a:noFill/>
          <a:ln/>
        </p:spPr>
        <p:txBody>
          <a:bodyPr wrap="square" rtlCol="0" anchor="ctr"/>
          <a:lstStyle/>
          <a:p>
            <a:pPr marL="0" indent="0" algn="l">
              <a:buNone/>
            </a:pPr>
            <a:r>
              <a:rPr lang="en-US" sz="3000" b="1" dirty="0">
                <a:solidFill>
                  <a:schemeClr val="tx2"/>
                </a:solidFill>
              </a:rPr>
              <a:t>Sell to the organisation, let it bring the users</a:t>
            </a:r>
            <a:endParaRPr lang="en-US" sz="3000" dirty="0"/>
          </a:p>
        </p:txBody>
      </p:sp>
      <p:sp>
        <p:nvSpPr>
          <p:cNvPr id="25" name="Slide Number Placeholder 0"/>
          <p:cNvSpPr>
            <a:spLocks noGrp="1"/>
          </p:cNvSpPr>
          <p:nvPr>
            <p:ph type="sldNum" sz="quarter" idx="4294967295"/>
          </p:nvPr>
        </p:nvSpPr>
        <p:spPr>
          <a:xfrm>
            <a:off x="8686800" y="4754563"/>
            <a:ext cx="457200" cy="274637"/>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
        <p:nvSpPr>
          <p:cNvPr id="3" name="Shape 1"/>
          <p:cNvSpPr/>
          <p:nvPr/>
        </p:nvSpPr>
        <p:spPr>
          <a:xfrm>
            <a:off x="457200" y="1234440"/>
            <a:ext cx="2606040" cy="324612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4" name="Text 2"/>
          <p:cNvSpPr txBox="1"/>
          <p:nvPr/>
        </p:nvSpPr>
        <p:spPr>
          <a:xfrm>
            <a:off x="685800" y="1371600"/>
            <a:ext cx="2194560" cy="5486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2027</a:t>
            </a:r>
            <a:endParaRPr lang="en-US" sz="3200" dirty="0"/>
          </a:p>
        </p:txBody>
      </p:sp>
      <p:sp>
        <p:nvSpPr>
          <p:cNvPr id="5" name="Text 3"/>
          <p:cNvSpPr txBox="1"/>
          <p:nvPr/>
        </p:nvSpPr>
        <p:spPr>
          <a:xfrm>
            <a:off x="685800" y="1920240"/>
            <a:ext cx="2194560" cy="365760"/>
          </a:xfrm>
          <a:prstGeom prst="rect">
            <a:avLst/>
          </a:prstGeom>
          <a:noFill/>
          <a:ln/>
        </p:spPr>
        <p:txBody>
          <a:bodyPr wrap="square" lIns="0" tIns="0" rIns="0" bIns="0" rtlCol="0" anchor="ctr"/>
          <a:lstStyle/>
          <a:p>
            <a:pPr marL="0" indent="0">
              <a:buNone/>
            </a:pPr>
            <a:r>
              <a:rPr lang="en-US" sz="1600" b="1" dirty="0">
                <a:solidFill>
                  <a:schemeClr val="tx2"/>
                </a:solidFill>
              </a:rPr>
              <a:t>Pilot in Rotkreuz</a:t>
            </a:r>
            <a:endParaRPr lang="en-US" sz="1600" dirty="0"/>
          </a:p>
        </p:txBody>
      </p:sp>
      <p:sp>
        <p:nvSpPr>
          <p:cNvPr id="6" name="Text 4"/>
          <p:cNvSpPr txBox="1"/>
          <p:nvPr/>
        </p:nvSpPr>
        <p:spPr>
          <a:xfrm>
            <a:off x="685800" y="237744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Gemeinde Risch: QR stickers on every station</a:t>
            </a:r>
            <a:endParaRPr lang="en-US" sz="1300" dirty="0"/>
          </a:p>
          <a:p>
            <a:pPr marL="342900" indent="-342900">
              <a:spcAft>
                <a:spcPts val="600"/>
              </a:spcAft>
              <a:buSzPct val="100000"/>
              <a:buChar char="•"/>
            </a:pPr>
            <a:r>
              <a:rPr lang="en-US" sz="1300" dirty="0">
                <a:solidFill>
                  <a:schemeClr val="tx1"/>
                </a:solidFill>
              </a:rPr>
              <a:t>Article in the Gemeinde newsletter</a:t>
            </a:r>
            <a:endParaRPr lang="en-US" sz="1300" dirty="0"/>
          </a:p>
          <a:p>
            <a:pPr marL="342900" indent="-342900">
              <a:spcAft>
                <a:spcPts val="600"/>
              </a:spcAft>
              <a:buSzPct val="100000"/>
              <a:buChar char="•"/>
            </a:pPr>
            <a:r>
              <a:rPr lang="en-US" sz="1300" dirty="0">
                <a:solidFill>
                  <a:schemeClr val="tx1"/>
                </a:solidFill>
              </a:rPr>
              <a:t>Employer challenge at Roche via intranet</a:t>
            </a:r>
            <a:endParaRPr lang="en-US" sz="1300" dirty="0"/>
          </a:p>
        </p:txBody>
      </p:sp>
      <p:sp>
        <p:nvSpPr>
          <p:cNvPr id="7" name="Shape 5"/>
          <p:cNvSpPr/>
          <p:nvPr/>
        </p:nvSpPr>
        <p:spPr>
          <a:xfrm>
            <a:off x="3264408" y="1234440"/>
            <a:ext cx="2606040" cy="324612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8" name="Text 6"/>
          <p:cNvSpPr txBox="1"/>
          <p:nvPr/>
        </p:nvSpPr>
        <p:spPr>
          <a:xfrm>
            <a:off x="3493008" y="1371600"/>
            <a:ext cx="2194560" cy="5486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2028</a:t>
            </a:r>
            <a:endParaRPr lang="en-US" sz="3200" dirty="0"/>
          </a:p>
        </p:txBody>
      </p:sp>
      <p:sp>
        <p:nvSpPr>
          <p:cNvPr id="9" name="Text 7"/>
          <p:cNvSpPr txBox="1"/>
          <p:nvPr/>
        </p:nvSpPr>
        <p:spPr>
          <a:xfrm>
            <a:off x="3493008" y="1920240"/>
            <a:ext cx="2194560" cy="365760"/>
          </a:xfrm>
          <a:prstGeom prst="rect">
            <a:avLst/>
          </a:prstGeom>
          <a:noFill/>
          <a:ln/>
        </p:spPr>
        <p:txBody>
          <a:bodyPr wrap="square" lIns="0" tIns="0" rIns="0" bIns="0" rtlCol="0" anchor="ctr"/>
          <a:lstStyle/>
          <a:p>
            <a:pPr marL="0" indent="0">
              <a:buNone/>
            </a:pPr>
            <a:r>
              <a:rPr lang="en-US" sz="1600" b="1" dirty="0">
                <a:solidFill>
                  <a:schemeClr val="tx2"/>
                </a:solidFill>
              </a:rPr>
              <a:t>Canton of Zug</a:t>
            </a:r>
            <a:endParaRPr lang="en-US" sz="1600" dirty="0"/>
          </a:p>
        </p:txBody>
      </p:sp>
      <p:sp>
        <p:nvSpPr>
          <p:cNvPr id="10" name="Text 8"/>
          <p:cNvSpPr txBox="1"/>
          <p:nvPr/>
        </p:nvSpPr>
        <p:spPr>
          <a:xfrm>
            <a:off x="3493008" y="237744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Risch numbers as case study</a:t>
            </a:r>
            <a:endParaRPr lang="en-US" sz="1300" dirty="0"/>
          </a:p>
          <a:p>
            <a:pPr marL="342900" indent="-342900">
              <a:spcAft>
                <a:spcPts val="600"/>
              </a:spcAft>
              <a:buSzPct val="100000"/>
              <a:buChar char="•"/>
            </a:pPr>
            <a:r>
              <a:rPr lang="en-US" sz="1300" dirty="0">
                <a:solidFill>
                  <a:schemeClr val="tx1"/>
                </a:solidFill>
              </a:rPr>
              <a:t>Sell via cantonal waste managers network</a:t>
            </a:r>
            <a:endParaRPr lang="en-US" sz="1300" dirty="0"/>
          </a:p>
          <a:p>
            <a:pPr marL="342900" indent="-342900">
              <a:spcAft>
                <a:spcPts val="600"/>
              </a:spcAft>
              <a:buSzPct val="100000"/>
              <a:buChar char="•"/>
            </a:pPr>
            <a:r>
              <a:rPr lang="en-US" sz="1300" dirty="0">
                <a:solidFill>
                  <a:schemeClr val="tx1"/>
                </a:solidFill>
              </a:rPr>
              <a:t>+6 municipalities, more employers</a:t>
            </a:r>
            <a:endParaRPr lang="en-US" sz="1300" dirty="0"/>
          </a:p>
        </p:txBody>
      </p:sp>
      <p:sp>
        <p:nvSpPr>
          <p:cNvPr id="11" name="Shape 9"/>
          <p:cNvSpPr/>
          <p:nvPr/>
        </p:nvSpPr>
        <p:spPr>
          <a:xfrm>
            <a:off x="6071616" y="1234440"/>
            <a:ext cx="2606040" cy="3246120"/>
          </a:xfrm>
          <a:prstGeom prst="roundRect">
            <a:avLst>
              <a:gd name="adj" fmla="val 3509"/>
            </a:avLst>
          </a:prstGeom>
          <a:solidFill>
            <a:schemeClr val="bg2"/>
          </a:solidFill>
          <a:ln w="12700">
            <a:solidFill>
              <a:schemeClr val="bg2"/>
            </a:solidFill>
            <a:prstDash val="solid"/>
          </a:ln>
        </p:spPr>
        <p:txBody>
          <a:bodyPr/>
          <a:lstStyle/>
          <a:p>
            <a:endParaRPr lang="en-CH"/>
          </a:p>
        </p:txBody>
      </p:sp>
      <p:sp>
        <p:nvSpPr>
          <p:cNvPr id="12" name="Text 10"/>
          <p:cNvSpPr txBox="1"/>
          <p:nvPr/>
        </p:nvSpPr>
        <p:spPr>
          <a:xfrm>
            <a:off x="6300216" y="1371600"/>
            <a:ext cx="2194560" cy="54864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2029</a:t>
            </a:r>
            <a:endParaRPr lang="en-US" sz="3200" dirty="0"/>
          </a:p>
        </p:txBody>
      </p:sp>
      <p:sp>
        <p:nvSpPr>
          <p:cNvPr id="13" name="Text 11"/>
          <p:cNvSpPr txBox="1"/>
          <p:nvPr/>
        </p:nvSpPr>
        <p:spPr>
          <a:xfrm>
            <a:off x="6300216" y="1920240"/>
            <a:ext cx="2194560" cy="365760"/>
          </a:xfrm>
          <a:prstGeom prst="rect">
            <a:avLst/>
          </a:prstGeom>
          <a:noFill/>
          <a:ln/>
        </p:spPr>
        <p:txBody>
          <a:bodyPr wrap="square" lIns="0" tIns="0" rIns="0" bIns="0" rtlCol="0" anchor="ctr"/>
          <a:lstStyle/>
          <a:p>
            <a:pPr marL="0" indent="0">
              <a:buNone/>
            </a:pPr>
            <a:r>
              <a:rPr lang="en-US" sz="1600" b="1" dirty="0">
                <a:solidFill>
                  <a:schemeClr val="tx2"/>
                </a:solidFill>
              </a:rPr>
              <a:t>Central Switzerland</a:t>
            </a:r>
            <a:endParaRPr lang="en-US" sz="1600" dirty="0"/>
          </a:p>
        </p:txBody>
      </p:sp>
      <p:sp>
        <p:nvSpPr>
          <p:cNvPr id="14" name="Text 12"/>
          <p:cNvSpPr txBox="1"/>
          <p:nvPr/>
        </p:nvSpPr>
        <p:spPr>
          <a:xfrm>
            <a:off x="6300216" y="237744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+12 municipalities</a:t>
            </a:r>
            <a:endParaRPr lang="en-US" sz="1300" dirty="0"/>
          </a:p>
          <a:p>
            <a:pPr marL="342900" indent="-342900">
              <a:spcAft>
                <a:spcPts val="600"/>
              </a:spcAft>
              <a:buSzPct val="100000"/>
              <a:buChar char="•"/>
            </a:pPr>
            <a:r>
              <a:rPr lang="en-US" sz="1300" dirty="0">
                <a:solidFill>
                  <a:schemeClr val="tx1"/>
                </a:solidFill>
              </a:rPr>
              <a:t>Part-time sales person</a:t>
            </a:r>
            <a:endParaRPr lang="en-US" sz="1300" dirty="0"/>
          </a:p>
          <a:p>
            <a:pPr marL="342900" indent="-342900">
              <a:spcAft>
                <a:spcPts val="600"/>
              </a:spcAft>
              <a:buSzPct val="100000"/>
              <a:buChar char="•"/>
            </a:pPr>
            <a:r>
              <a:rPr lang="en-US" sz="1300" dirty="0">
                <a:solidFill>
                  <a:schemeClr val="tx1"/>
                </a:solidFill>
              </a:rPr>
              <a:t>Break-even in April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097280"/>
          </a:xfrm>
          <a:prstGeom prst="rect">
            <a:avLst/>
          </a:prstGeom>
          <a:noFill/>
          <a:ln/>
        </p:spPr>
        <p:txBody>
          <a:bodyPr wrap="square" rtlCol="0" anchor="b"/>
          <a:lstStyle/>
          <a:p>
            <a:pPr marL="0" indent="0" algn="l">
              <a:buNone/>
            </a:pPr>
            <a:r>
              <a:rPr lang="en-US" sz="4400" b="1" dirty="0">
                <a:solidFill>
                  <a:schemeClr val="bg1"/>
                </a:solidFill>
              </a:rPr>
              <a:t>Free for people. Paid by the ones who save.</a:t>
            </a:r>
            <a:endParaRPr lang="en-US" sz="4400" dirty="0"/>
          </a:p>
        </p:txBody>
      </p:sp>
      <p:sp>
        <p:nvSpPr>
          <p:cNvPr id="3" name="Text 0"/>
          <p:cNvSpPr>
            <a:spLocks noGrp="1"/>
          </p:cNvSpPr>
          <p:nvPr>
            <p:ph type="body" idx="101" hasCustomPrompt="1"/>
          </p:nvPr>
        </p:nvSpPr>
        <p:spPr>
          <a:xfrm>
            <a:off x="548640" y="2560320"/>
            <a:ext cx="8046720" cy="1463040"/>
          </a:xfrm>
          <a:prstGeom prst="rect">
            <a:avLst/>
          </a:prstGeom>
          <a:noFill/>
          <a:ln/>
        </p:spPr>
        <p:txBody>
          <a:bodyPr wrap="square" rtlCol="0" anchor="t"/>
          <a:lstStyle/>
          <a:p>
            <a:pPr marL="0" indent="0" algn="l">
              <a:buNone/>
            </a:pPr>
            <a:r>
              <a:rPr lang="en-US" sz="1800" dirty="0">
                <a:solidFill>
                  <a:schemeClr val="accent5"/>
                </a:solidFill>
              </a:rPr>
              <a:t>Break-even April 2029 · Funding need CHF 45,000</a:t>
            </a:r>
            <a:endParaRPr lang="en-US" sz="1800" dirty="0"/>
          </a:p>
          <a:p>
            <a:pPr marL="0" indent="0" algn="l">
              <a:buNone/>
            </a:pPr>
            <a:r>
              <a:rPr lang="en-US" sz="1800" dirty="0">
                <a:solidFill>
                  <a:schemeClr val="accent5"/>
                </a:solidFill>
              </a:rPr>
              <a:t>Thank you</a:t>
            </a:r>
            <a:endParaRPr lang="en-US" sz="1800" dirty="0"/>
          </a:p>
        </p:txBody>
      </p:sp>
    </p:spTree>
  </p:cSld>
  <p:clrMapOvr>
    <a:masterClrMapping/>
  </p:clrMapOvr>
</p:sld>
</file>

<file path=ppt/theme/theme1.xml><?xml version="1.0" encoding="utf-8"?>
<a:theme xmlns:a="http://schemas.openxmlformats.org/drawingml/2006/main" name="BubbleCycle">
  <a:themeElements>
    <a:clrScheme name="BubbleCycle">
      <a:dk1>
        <a:srgbClr val="1F2A24"/>
      </a:dk1>
      <a:lt1>
        <a:srgbClr val="FFFFFF"/>
      </a:lt1>
      <a:dk2>
        <a:srgbClr val="1E4D2B"/>
      </a:dk2>
      <a:lt2>
        <a:srgbClr val="EEF4EC"/>
      </a:lt2>
      <a:accent1>
        <a:srgbClr val="2E7D4F"/>
      </a:accent1>
      <a:accent2>
        <a:srgbClr val="9CCB86"/>
      </a:accent2>
      <a:accent3>
        <a:srgbClr val="F2B134"/>
      </a:accent3>
      <a:accent4>
        <a:srgbClr val="5A6B62"/>
      </a:accent4>
      <a:accent5>
        <a:srgbClr val="CFE5C8"/>
      </a:accent5>
      <a:accent6>
        <a:srgbClr val="E07A5F"/>
      </a:accent6>
      <a:hlink>
        <a:srgbClr val="2E7D4F"/>
      </a:hlink>
      <a:folHlink>
        <a:srgbClr val="5A6B62"/>
      </a:folHlink>
    </a:clrScheme>
    <a:fontScheme name="BubbleCyc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754</Words>
  <Application>Microsoft Office PowerPoint</Application>
  <PresentationFormat>On-screen Show (16:9)</PresentationFormat>
  <Paragraphs>99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ADLaM Display</vt:lpstr>
      <vt:lpstr>Arial</vt:lpstr>
      <vt:lpstr>Calibri</vt:lpstr>
      <vt:lpstr>Cambria</vt:lpstr>
      <vt:lpstr>BubbleCycle</vt:lpstr>
      <vt:lpstr>RECYCL  IT! </vt:lpstr>
      <vt:lpstr>Free for residents, paid by three groups</vt:lpstr>
      <vt:lpstr>Three revenue streams, B2B2C</vt:lpstr>
      <vt:lpstr>A CHF 7 million market, starting in Zug</vt:lpstr>
      <vt:lpstr>The resident journey</vt:lpstr>
      <vt:lpstr>Sell to the organisation, let it bring the users</vt:lpstr>
      <vt:lpstr>Free for people. Paid by the ones who save.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BubbleCycle – Market Pitch</dc:title>
  <dc:subject>PptxGenJS Presentation</dc:subject>
  <dc:creator>PptxGenJS</dc:creator>
  <cp:lastModifiedBy>Thorben Che Koch</cp:lastModifiedBy>
  <cp:revision>2</cp:revision>
  <dcterms:created xsi:type="dcterms:W3CDTF">2026-10-24T01:32:47Z</dcterms:created>
  <dcterms:modified xsi:type="dcterms:W3CDTF">2026-10-24T03:08:07Z</dcterms:modified>
</cp:coreProperties>
</file>