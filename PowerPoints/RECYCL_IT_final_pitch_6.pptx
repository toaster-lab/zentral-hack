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3"/>
    <p:sldId id="256" r:id="rId2"/>
    <p:sldId id="258" r:id="rId4"/>
    <p:sldId id="266" r:id="rId5"/>
    <p:sldId id="261" r:id="rId6"/>
    <p:sldId id="263" r:id="rId7"/>
    <p:sldId id="259" r:id="rId8"/>
    <p:sldId id="265" r:id="rId9"/>
    <p:sldId id="264" r:id="rId10"/>
    <p:sldId id="262"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solution" id="{9E4BFD65-67E8-3928-6A14-C332E0FEFA97}">
          <p14:sldIdLst>
            <p14:sldId id="256"/>
            <p14:sldId id="257"/>
            <p14:sldId id="258"/>
            <p14:sldId id="266"/>
          </p14:sldIdLst>
        </p14:section>
        <p14:section name="Why us, risks, next steps" id="{0319B97D-4E74-1E44-9A5B-804520175331}">
          <p14:sldIdLst>
            <p14:sldId id="261"/>
            <p14:sldId id="263"/>
          </p14:sldIdLst>
        </p14:section>
        <p14:section name="Business and money" id="{D704BC05-1E27-749D-CEA4-663CFF693BAC}">
          <p14:sldIdLst>
            <p14:sldId id="259"/>
            <p14:sldId id="265"/>
            <p14:sldId id="264"/>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198"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080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So what if recycling was something you actually looked forward to? That's RECYCL IT: recycling made fun. We're Team Arduino.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Picture this: it's 11 pm, you're holding an empty PET bottle. The trash bin is one meter away, the collection point five minutes away. Most of us pick the bin. Switzerland recycles about 52% of its municipal waste, yet more than a fifth of every trash bag could still be recycled, and each of us produces about 671 kg of waste a year. The bins exist. What's missing is a reason to walk there. Our bet: rewards, challenges and friends can turn recycling into a habit.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 s incl. demo] RECYCL IT turns recycling into a game. You scan the QR code at a real collection point, earn points and streaks, climb the leaderboard of your class and town, and redeem points at local shops. SWITCH TO THE DEMO — one loop only: scan → points → leaderboard → reward. If the live demo fails, play the backup video immediately.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Who pays? Not the users — the app is always free. Our first target customer is the Gemeinde Risch: every bottle that leaves the trash bag means less incineration and a better recycling rate. We charge 80 Rappen per resident a year, about CHF 9’000 for Risch. Local shops and cafés pay CHF 1’500 per sponsored quest for visibility and fund the rewards themselves, so rewards cost us nothing. Year-1 costs are about CHF 3’200: hosting, QR stickers and flyers. With Risch and five sponsored quests we earn about CHF 16’500, so the pilot breaks even in year 1. Six towns like Risch bring about CHF 54’000 a year — enough for a part-time developer.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There are good recycling services in Switzerland. Mr. Green picks up your recycling for a monthly fee. Kuh-Bag is a plastic collection bag used in 130 towns. The IGORA Recycling Map shows 16’000+ collection points. They make recycling possible — but none of them makes you want to do it. We're free, we reward you, and we make it social. And we'd rather partner with them than fight them: our map could point to their collection points.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Our target users are 14- to 25-year-olds; we start with the HSLU campus and the schools in Rotkreuz. Meet Lea, 16. She sees our QR poster at school, downloads the app and joins her class team. She scans the sticker at the collection point and gets 10 points. In week 2 her class challenges the class next door. With 100 points she gets a free drink at a local café — and posts it, so a friend joins. Our channels cost almost nothing: school challenges, stickers at collection points, social media, and the municipal newspaper.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In 24 hours we built a working mobile web app — the loop you just saw. We also asked [Y] people here at ZentralHack: [X] said rewards would get them to recycle more. Next three months: pitch to the Gemeinde Risch, put QR stickers on 10 collection points, reach 100 pilot users. In six months: five local sponsors, measure who keeps coming back, and start a second town. What we need now: a pilot town, local reward sponsors, and your feedback.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We are three: Thorben builds the app, Pipatsakorn designs it, Gabriel does the research. We used AI to go from a paper idea to a working app in 24 hours.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Our vision: make sustainability rewarding and make recycling a habit. One action. One reward. A better community. Help us start in Rotkreuz.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do not present. Open this slide during Q&amp;A when the jury asks about cheating, funding, privacy or motivation.</a:t>
            </a:r>
          </a:p>
          <a:p>
            <a:r>
              <a:t>Other likely questions:</a:t>
            </a:r>
          </a:p>
          <a:p>
            <a:r>
              <a:t>• Why would a town pay? Less recyclable waste in the trash bag means less incineration and a better recycling rate; we also give them anonymised data on where people recycle.</a:t>
            </a:r>
          </a:p>
          <a:p>
            <a:r>
              <a:t>• Who will be your first paying customer? We pitch the Gemeinde Risch first because we can test locally.</a:t>
            </a:r>
          </a:p>
          <a:p>
            <a:r>
              <a:t>• How is this different from PET-Recycling's own campaigns? Those are one-off contests; we are a year-round habit.</a:t>
            </a:r>
          </a:p>
          <a:p>
            <a:r>
              <a:t>• Minors' data? No ads, no data selling, only anonymised totals for partners, parental consent under 16.</a:t>
            </a:r>
          </a:p>
          <a:p>
            <a:r>
              <a:t>• What if sponsors leave? Rewards scale with sponsors; points can also unlock community rewards (e.g. tree planted).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CYCL 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RECYCL IT!  |  ZentralHack 2026</a:t>
            </a:r>
            <a:endParaRPr lang="en-US" sz="1000" dirty="0"/>
          </a:p>
        </p:txBody>
      </p:sp>
      <p:sp>
        <p:nvSpPr>
          <p:cNvPr id="3" name="Text 1"/>
          <p:cNvSpPr>
            <a:spLocks noGrp="1"/>
          </p:cNvSpPr>
          <p:nvPr>
            <p:ph type="title" idx="101" hasCustomPrompt="1"/>
          </p:nvPr>
        </p:nvSpPr>
        <p:spPr>
          <a:xfrm>
            <a:off x="548640" y="365760"/>
            <a:ext cx="1106424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CYCL Dark">
    <p:bg>
      <p:bgPr>
        <a:solidFill>
          <a:srgbClr val="14342B"/>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RECYCL IT!  |  ZentralHack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dge circle"/>
          <p:cNvSpPr/>
          <p:nvPr/>
        </p:nvSpPr>
        <p:spPr>
          <a:xfrm>
            <a:off x="7955280" y="1280160"/>
            <a:ext cx="3566160" cy="3566160"/>
          </a:xfrm>
          <a:prstGeom prst="ellipse">
            <a:avLst/>
          </a:prstGeom>
          <a:solidFill>
            <a:schemeClr val="accent1"/>
          </a:solidFill>
          <a:ln/>
        </p:spPr>
        <p:txBody>
          <a:bodyPr/>
          <a:lstStyle/>
          <a:p>
            <a:endParaRPr lang="en-CH"/>
          </a:p>
        </p:txBody>
      </p:sp>
      <p:sp>
        <p:nvSpPr>
          <p:cNvPr id="4" name="Title"/>
          <p:cNvSpPr txBox="1"/>
          <p:nvPr/>
        </p:nvSpPr>
        <p:spPr>
          <a:xfrm>
            <a:off x="597235" y="1573823"/>
            <a:ext cx="7138071" cy="1420837"/>
          </a:xfrm>
          <a:prstGeom prst="rect">
            <a:avLst/>
          </a:prstGeom>
          <a:noFill/>
          <a:ln/>
        </p:spPr>
        <p:txBody>
          <a:bodyPr wrap="square" lIns="0" tIns="0" rIns="0" bIns="0" rtlCol="0" anchor="ctr"/>
          <a:lstStyle/>
          <a:p>
            <a:pPr marL="0" indent="0">
              <a:buNone/>
            </a:pPr>
            <a:r>
              <a:rPr lang="en-US" spc="-200" sz="9600" b="1" dirty="0">
                <a:solidFill>
                  <a:schemeClr val="bg1"/>
                </a:solidFill>
                <a:latin typeface="+mj-lt"/>
              </a:rPr>
              <a:t>RECYCL IT!</a:t>
            </a:r>
            <a:endParaRPr lang="en-US" sz="9600" dirty="0">
              <a:latin typeface="+mj-lt"/>
            </a:endParaRPr>
          </a:p>
        </p:txBody>
      </p:sp>
      <p:sp>
        <p:nvSpPr>
          <p:cNvPr id="5" name="Tagline"/>
          <p:cNvSpPr txBox="1"/>
          <p:nvPr/>
        </p:nvSpPr>
        <p:spPr>
          <a:xfrm>
            <a:off x="670560" y="2995538"/>
            <a:ext cx="6450037" cy="228600"/>
          </a:xfrm>
          <a:prstGeom prst="rect">
            <a:avLst/>
          </a:prstGeom>
          <a:noFill/>
          <a:ln/>
        </p:spPr>
        <p:txBody>
          <a:bodyPr wrap="square" lIns="0" tIns="0" rIns="0" bIns="0" rtlCol="0" anchor="ctr"/>
          <a:lstStyle/>
          <a:p>
            <a:pPr marL="0" indent="0">
              <a:buNone/>
            </a:pPr>
            <a:r>
              <a:rPr lang="en-US" sz="3000" b="1" dirty="0">
                <a:solidFill>
                  <a:schemeClr val="accent1"/>
                </a:solidFill>
              </a:rPr>
              <a:t>Recycling made fun.</a:t>
            </a:r>
            <a:endParaRPr lang="en-US" sz="3000" dirty="0"/>
          </a:p>
        </p:txBody>
      </p:sp>
      <p:sp>
        <p:nvSpPr>
          <p:cNvPr id="6" name="Subtitle"/>
          <p:cNvSpPr txBox="1"/>
          <p:nvPr/>
        </p:nvSpPr>
        <p:spPr>
          <a:xfrm>
            <a:off x="670560" y="3838723"/>
            <a:ext cx="6949440" cy="548640"/>
          </a:xfrm>
          <a:prstGeom prst="rect">
            <a:avLst/>
          </a:prstGeom>
          <a:noFill/>
          <a:ln/>
        </p:spPr>
        <p:txBody>
          <a:bodyPr wrap="square" lIns="0" tIns="0" rIns="0" bIns="0" rtlCol="0" anchor="ctr"/>
          <a:lstStyle/>
          <a:p>
            <a:pPr marL="0" indent="0">
              <a:buNone/>
            </a:pPr>
            <a:r>
              <a:rPr lang="en-US" sz="2200" dirty="0">
                <a:solidFill>
                  <a:schemeClr val="accent4"/>
                </a:solidFill>
              </a:rPr>
              <a:t>Turn everyday recycling into real-world rewards.</a:t>
            </a:r>
            <a:endParaRPr lang="en-US" sz="2200" dirty="0"/>
          </a:p>
        </p:txBody>
      </p:sp>
      <p:sp>
        <p:nvSpPr>
          <p:cNvPr id="7" name="Team line"/>
          <p:cNvSpPr txBox="1"/>
          <p:nvPr/>
        </p:nvSpPr>
        <p:spPr>
          <a:xfrm>
            <a:off x="691550" y="4387363"/>
            <a:ext cx="6949440" cy="365760"/>
          </a:xfrm>
          <a:prstGeom prst="rect">
            <a:avLst/>
          </a:prstGeom>
          <a:noFill/>
          <a:ln/>
        </p:spPr>
        <p:txBody>
          <a:bodyPr wrap="square" lIns="0" tIns="0" rIns="0" bIns="0" rtlCol="0" anchor="ctr"/>
          <a:lstStyle/>
          <a:p>
            <a:pPr marL="0" indent="0">
              <a:buNone/>
            </a:pPr>
            <a:r>
              <a:rPr lang="de-CH" sz="1400" dirty="0">
                <a:solidFill>
                  <a:schemeClr val="accent4"/>
                </a:solidFill>
              </a:rPr>
              <a:t>Team </a:t>
            </a:r>
            <a:r>
              <a:rPr lang="en-CH" sz="1400" dirty="0">
                <a:solidFill>
                  <a:schemeClr val="accent4"/>
                </a:solidFill>
              </a:rPr>
              <a:t>Arduino · SDG 11: Sustainable Cities and Communities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a:t>
            </a:fld>
            <a:endParaRPr lang="en-US"/>
          </a:p>
        </p:txBody>
      </p:sp>
      <p:pic>
        <p:nvPicPr>
          <p:cNvPr id="11" name="Picture 10" descr="Made Fun&#10;&#10;AI-generated content may be incorrect.">
            <a:extLst>
              <a:ext uri="{FF2B5EF4-FFF2-40B4-BE49-F238E27FC236}">
                <a16:creationId xmlns:a16="http://schemas.microsoft.com/office/drawing/2014/main" id="{F17BDBE0-BF24-B823-F4AE-F628CBA590A0}"/>
              </a:ext>
            </a:extLst>
          </p:cNvPr>
          <p:cNvPicPr>
            <a:picLocks noChangeAspect="1"/>
          </p:cNvPicPr>
          <p:nvPr/>
        </p:nvPicPr>
        <p:blipFill>
          <a:blip r:embed="rId3"/>
          <a:stretch>
            <a:fillRect/>
          </a:stretch>
        </p:blipFill>
        <p:spPr>
          <a:xfrm>
            <a:off x="7808631" y="1058461"/>
            <a:ext cx="3931920" cy="3931920"/>
          </a:xfrm>
          <a:prstGeom prst="rect">
            <a:avLst/>
          </a:prstGeom>
        </p:spPr>
      </p:pic>
      <p:sp>
        <p:nvSpPr>
          <p:cNvPr id="90" name="Eyebrow"/>
          <p:cNvSpPr txBox="1"/>
          <p:nvPr/>
        </p:nvSpPr>
        <p:spPr>
          <a:xfrm>
            <a:off x="667512" y="1234440"/>
            <a:ext cx="7141464" cy="365760"/>
          </a:xfrm>
          <a:prstGeom prst="rect">
            <a:avLst/>
          </a:prstGeom>
          <a:noFill/>
          <a:ln/>
        </p:spPr>
        <p:txBody>
          <a:bodyPr wrap="square" lIns="0" tIns="0" rIns="0" bIns="0" rtlCol="0" anchor="ctr"/>
          <a:lstStyle/>
          <a:p>
            <a:pPr marL="0" indent="0" algn="l">
              <a:buNone/>
            </a:pPr>
            <a:r>
              <a:rPr lang="en-US" sz="1600" b="1" kern="0" spc="400" dirty="0">
                <a:solidFill>
                  <a:schemeClr val="accent1"/>
                </a:solidFill>
              </a:rPr>
              <a:t>INTRODUCING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The Problem</a:t>
            </a:r>
            <a:endParaRPr lang="en-US" sz="5400" dirty="0"/>
          </a:p>
        </p:txBody>
      </p:sp>
      <p:sp>
        <p:nvSpPr>
          <p:cNvPr id="3" name="Problem 1 circle"/>
          <p:cNvSpPr/>
          <p:nvPr/>
        </p:nvSpPr>
        <p:spPr>
          <a:xfrm>
            <a:off x="548640" y="1417320"/>
            <a:ext cx="685800" cy="685800"/>
          </a:xfrm>
          <a:prstGeom prst="ellipse">
            <a:avLst/>
          </a:prstGeom>
          <a:solidFill>
            <a:srgbClr val="F2A33A"/>
          </a:solidFill>
          <a:ln/>
        </p:spPr>
        <p:txBody>
          <a:bodyPr/>
          <a:lstStyle/>
          <a:p>
            <a:endParaRPr lang="en-CH"/>
          </a:p>
        </p:txBody>
      </p:sp>
      <p:pic>
        <p:nvPicPr>
          <p:cNvPr id="4" name="Problem 1 icon" descr="Problem 1"/>
          <p:cNvPicPr>
            <a:picLocks noChangeAspect="1"/>
          </p:cNvPicPr>
          <p:nvPr/>
        </p:nvPicPr>
        <p:blipFill>
          <a:blip r:embed="rId3"/>
          <a:stretch>
            <a:fillRect/>
          </a:stretch>
        </p:blipFill>
        <p:spPr>
          <a:xfrm>
            <a:off x="720090" y="1588770"/>
            <a:ext cx="342900" cy="342900"/>
          </a:xfrm>
          <a:prstGeom prst="rect">
            <a:avLst/>
          </a:prstGeom>
        </p:spPr>
      </p:pic>
      <p:sp>
        <p:nvSpPr>
          <p:cNvPr id="5" name="Problem text 1"/>
          <p:cNvSpPr txBox="1"/>
          <p:nvPr/>
        </p:nvSpPr>
        <p:spPr>
          <a:xfrm>
            <a:off x="1463040" y="1371600"/>
            <a:ext cx="5852160" cy="777240"/>
          </a:xfrm>
          <a:prstGeom prst="rect">
            <a:avLst/>
          </a:prstGeom>
          <a:noFill/>
          <a:ln/>
        </p:spPr>
        <p:txBody>
          <a:bodyPr wrap="square" lIns="0" tIns="0" rIns="0" bIns="0" rtlCol="0" anchor="ctr"/>
          <a:lstStyle/>
          <a:p>
            <a:pPr marL="0" indent="0">
              <a:buNone/>
            </a:pPr>
            <a:r>
              <a:rPr lang="en-US" sz="1800">
                <a:solidFill>
                  <a:schemeClr val="tx1"/>
                </a:solidFill>
              </a:rPr>
              <a:t>The trash bin is 1 m away. The collection point is 5 minutes away.</a:t>
            </a:r>
          </a:p>
        </p:txBody>
      </p:sp>
      <p:sp>
        <p:nvSpPr>
          <p:cNvPr id="6" name="Problem 2 circle"/>
          <p:cNvSpPr/>
          <p:nvPr/>
        </p:nvSpPr>
        <p:spPr>
          <a:xfrm>
            <a:off x="548640" y="2331720"/>
            <a:ext cx="685800" cy="685800"/>
          </a:xfrm>
          <a:prstGeom prst="ellipse">
            <a:avLst/>
          </a:prstGeom>
          <a:solidFill>
            <a:srgbClr val="F2A33A"/>
          </a:solidFill>
          <a:ln/>
        </p:spPr>
        <p:txBody>
          <a:bodyPr/>
          <a:lstStyle/>
          <a:p>
            <a:endParaRPr lang="en-CH"/>
          </a:p>
        </p:txBody>
      </p:sp>
      <p:pic>
        <p:nvPicPr>
          <p:cNvPr id="7" name="Problem 2 icon" descr="Problem 2"/>
          <p:cNvPicPr>
            <a:picLocks noChangeAspect="1"/>
          </p:cNvPicPr>
          <p:nvPr/>
        </p:nvPicPr>
        <p:blipFill>
          <a:blip r:embed="rId4"/>
          <a:stretch>
            <a:fillRect/>
          </a:stretch>
        </p:blipFill>
        <p:spPr>
          <a:xfrm>
            <a:off x="720090" y="2503170"/>
            <a:ext cx="342900" cy="342900"/>
          </a:xfrm>
          <a:prstGeom prst="rect">
            <a:avLst/>
          </a:prstGeom>
        </p:spPr>
      </p:pic>
      <p:sp>
        <p:nvSpPr>
          <p:cNvPr id="8" name="Problem text 2"/>
          <p:cNvSpPr txBox="1"/>
          <p:nvPr/>
        </p:nvSpPr>
        <p:spPr>
          <a:xfrm>
            <a:off x="1463040" y="2286000"/>
            <a:ext cx="5852160" cy="777240"/>
          </a:xfrm>
          <a:prstGeom prst="rect">
            <a:avLst/>
          </a:prstGeom>
          <a:noFill/>
          <a:ln/>
        </p:spPr>
        <p:txBody>
          <a:bodyPr wrap="square" lIns="0" tIns="0" rIns="0" bIns="0" rtlCol="0" anchor="ctr"/>
          <a:lstStyle/>
          <a:p>
            <a:pPr marL="0" indent="0">
              <a:buNone/>
            </a:pPr>
            <a:r>
              <a:rPr lang="en-US" sz="1800">
                <a:solidFill>
                  <a:schemeClr val="tx1"/>
                </a:solidFill>
              </a:rPr>
              <a:t>Recycling gives you nothing back: no reward, no feedback.</a:t>
            </a:r>
          </a:p>
        </p:txBody>
      </p:sp>
      <p:sp>
        <p:nvSpPr>
          <p:cNvPr id="9" name="Problem 3 circle"/>
          <p:cNvSpPr/>
          <p:nvPr/>
        </p:nvSpPr>
        <p:spPr>
          <a:xfrm>
            <a:off x="548640" y="3246120"/>
            <a:ext cx="685800" cy="685800"/>
          </a:xfrm>
          <a:prstGeom prst="ellipse">
            <a:avLst/>
          </a:prstGeom>
          <a:solidFill>
            <a:srgbClr val="F2A33A"/>
          </a:solidFill>
          <a:ln/>
        </p:spPr>
        <p:txBody>
          <a:bodyPr/>
          <a:lstStyle/>
          <a:p>
            <a:endParaRPr lang="en-CH"/>
          </a:p>
        </p:txBody>
      </p:sp>
      <p:pic>
        <p:nvPicPr>
          <p:cNvPr id="10" name="Problem 3 icon" descr="Problem 3"/>
          <p:cNvPicPr>
            <a:picLocks noChangeAspect="1"/>
          </p:cNvPicPr>
          <p:nvPr/>
        </p:nvPicPr>
        <p:blipFill>
          <a:blip r:embed="rId5"/>
          <a:stretch>
            <a:fillRect/>
          </a:stretch>
        </p:blipFill>
        <p:spPr>
          <a:xfrm>
            <a:off x="720090" y="3417570"/>
            <a:ext cx="342900" cy="342900"/>
          </a:xfrm>
          <a:prstGeom prst="rect">
            <a:avLst/>
          </a:prstGeom>
        </p:spPr>
      </p:pic>
      <p:sp>
        <p:nvSpPr>
          <p:cNvPr id="11" name="Problem text 3"/>
          <p:cNvSpPr txBox="1"/>
          <p:nvPr/>
        </p:nvSpPr>
        <p:spPr>
          <a:xfrm>
            <a:off x="1463040" y="3200400"/>
            <a:ext cx="5852160" cy="777240"/>
          </a:xfrm>
          <a:prstGeom prst="rect">
            <a:avLst/>
          </a:prstGeom>
          <a:noFill/>
          <a:ln/>
        </p:spPr>
        <p:txBody>
          <a:bodyPr wrap="square" lIns="0" tIns="0" rIns="0" bIns="0" rtlCol="0" anchor="ctr"/>
          <a:lstStyle/>
          <a:p>
            <a:pPr marL="0" indent="0">
              <a:buNone/>
            </a:pPr>
            <a:r>
              <a:rPr lang="en-US" sz="1800">
                <a:solidFill>
                  <a:schemeClr val="tx1"/>
                </a:solidFill>
              </a:rPr>
              <a:t>Young people know it matters, but the habit doesn't stick.</a:t>
            </a:r>
          </a:p>
        </p:txBody>
      </p:sp>
      <p:sp>
        <p:nvSpPr>
          <p:cNvPr id="12" name="Hypothesis card"/>
          <p:cNvSpPr/>
          <p:nvPr/>
        </p:nvSpPr>
        <p:spPr>
          <a:xfrm>
            <a:off x="548640" y="4297680"/>
            <a:ext cx="6766560" cy="1417320"/>
          </a:xfrm>
          <a:prstGeom prst="roundRect">
            <a:avLst>
              <a:gd name="adj" fmla="val 9677"/>
            </a:avLst>
          </a:prstGeom>
          <a:solidFill>
            <a:srgbClr val="14342B"/>
          </a:solidFill>
          <a:ln/>
        </p:spPr>
        <p:txBody>
          <a:bodyPr/>
          <a:lstStyle/>
          <a:p>
            <a:endParaRPr lang="en-CH"/>
          </a:p>
        </p:txBody>
      </p:sp>
      <p:sp>
        <p:nvSpPr>
          <p:cNvPr id="13" name="Hypothesis"/>
          <p:cNvSpPr txBox="1"/>
          <p:nvPr/>
        </p:nvSpPr>
        <p:spPr>
          <a:xfrm>
            <a:off x="822960" y="4389120"/>
            <a:ext cx="6217920" cy="1234440"/>
          </a:xfrm>
          <a:prstGeom prst="rect">
            <a:avLst/>
          </a:prstGeom>
          <a:noFill/>
          <a:ln/>
        </p:spPr>
        <p:txBody>
          <a:bodyPr wrap="square" lIns="0" tIns="0" rIns="0" bIns="0" rtlCol="0" anchor="ctr"/>
          <a:lstStyle/>
          <a:p>
            <a:pPr marL="0" indent="0">
              <a:buNone/>
            </a:pPr>
            <a:r>
              <a:rPr lang="en-US" sz="2100" b="1">
                <a:solidFill>
                  <a:schemeClr val="accent1"/>
                </a:solidFill>
              </a:rPr>
              <a:t>Our bet: </a:t>
            </a:r>
            <a:r>
              <a:rPr lang="en-US" sz="2100">
                <a:solidFill>
                  <a:schemeClr val="bg1"/>
                </a:solidFill>
              </a:rPr>
              <a:t>rewards, challenges and friends turn recycling into a habit.</a:t>
            </a:r>
          </a:p>
        </p:txBody>
      </p:sp>
      <p:sp>
        <p:nvSpPr>
          <p:cNvPr id="14" name="Stats card"/>
          <p:cNvSpPr/>
          <p:nvPr/>
        </p:nvSpPr>
        <p:spPr>
          <a:xfrm>
            <a:off x="7772400" y="1417320"/>
            <a:ext cx="3840480" cy="4297680"/>
          </a:xfrm>
          <a:prstGeom prst="roundRect">
            <a:avLst>
              <a:gd name="adj" fmla="val 3571"/>
            </a:avLst>
          </a:prstGeom>
          <a:solidFill>
            <a:srgbClr val="EEF4EE"/>
          </a:solidFill>
          <a:ln/>
        </p:spPr>
        <p:txBody>
          <a:bodyPr/>
          <a:lstStyle/>
          <a:p>
            <a:endParaRPr lang="en-CH"/>
          </a:p>
        </p:txBody>
      </p:sp>
      <p:sp>
        <p:nvSpPr>
          <p:cNvPr id="15" name="Stat 1"/>
          <p:cNvSpPr txBox="1"/>
          <p:nvPr/>
        </p:nvSpPr>
        <p:spPr>
          <a:xfrm>
            <a:off x="8092440" y="1645920"/>
            <a:ext cx="3291840" cy="685800"/>
          </a:xfrm>
          <a:prstGeom prst="rect">
            <a:avLst/>
          </a:prstGeom>
          <a:noFill/>
          <a:ln/>
        </p:spPr>
        <p:txBody>
          <a:bodyPr wrap="square" lIns="0" tIns="0" rIns="0" bIns="0" rtlCol="0" anchor="ctr"/>
          <a:lstStyle/>
          <a:p>
            <a:pPr marL="0" indent="0" algn="ctr">
              <a:buNone/>
            </a:pPr>
            <a:r>
              <a:rPr lang="en-US" spc="-100" sz="4800" b="1" dirty="0">
                <a:solidFill>
                  <a:schemeClr val="tx2"/>
                </a:solidFill>
              </a:rPr>
              <a:t>52%</a:t>
            </a:r>
            <a:endParaRPr lang="en-US" sz="4800" dirty="0"/>
          </a:p>
        </p:txBody>
      </p:sp>
      <p:sp>
        <p:nvSpPr>
          <p:cNvPr id="16" name="Stat label 1"/>
          <p:cNvSpPr txBox="1"/>
          <p:nvPr/>
        </p:nvSpPr>
        <p:spPr>
          <a:xfrm>
            <a:off x="8092440" y="2304288"/>
            <a:ext cx="3291840" cy="457200"/>
          </a:xfrm>
          <a:prstGeom prst="rect">
            <a:avLst/>
          </a:prstGeom>
          <a:noFill/>
          <a:ln/>
        </p:spPr>
        <p:txBody>
          <a:bodyPr wrap="square" lIns="0" tIns="0" rIns="0" bIns="0" rtlCol="0" anchor="ctr"/>
          <a:lstStyle/>
          <a:p>
            <a:pPr marL="0" indent="0" algn="ctr">
              <a:buNone/>
            </a:pPr>
            <a:r>
              <a:rPr lang="en-US" sz="1200" dirty="0">
                <a:solidFill>
                  <a:schemeClr val="accent5"/>
                </a:solidFill>
              </a:rPr>
              <a:t>of Swiss municipal waste is recycled (2024)</a:t>
            </a:r>
            <a:endParaRPr lang="en-US" sz="1200" dirty="0"/>
          </a:p>
        </p:txBody>
      </p:sp>
      <p:sp>
        <p:nvSpPr>
          <p:cNvPr id="17" name="Stat 2"/>
          <p:cNvSpPr txBox="1"/>
          <p:nvPr/>
        </p:nvSpPr>
        <p:spPr>
          <a:xfrm>
            <a:off x="8092440" y="2990088"/>
            <a:ext cx="3291840" cy="685800"/>
          </a:xfrm>
          <a:prstGeom prst="rect">
            <a:avLst/>
          </a:prstGeom>
          <a:noFill/>
          <a:ln/>
        </p:spPr>
        <p:txBody>
          <a:bodyPr wrap="square" lIns="0" tIns="0" rIns="0" bIns="0" rtlCol="0" anchor="ctr"/>
          <a:lstStyle/>
          <a:p>
            <a:pPr marL="0" indent="0" algn="ctr">
              <a:buNone/>
            </a:pPr>
            <a:r>
              <a:rPr lang="en-US" spc="-100" sz="4800" b="1" dirty="0">
                <a:solidFill>
                  <a:schemeClr val="tx2"/>
                </a:solidFill>
              </a:rPr>
              <a:t>20%+</a:t>
            </a:r>
            <a:endParaRPr lang="en-US" sz="4800" dirty="0"/>
          </a:p>
        </p:txBody>
      </p:sp>
      <p:sp>
        <p:nvSpPr>
          <p:cNvPr id="18" name="Stat label 2"/>
          <p:cNvSpPr txBox="1"/>
          <p:nvPr/>
        </p:nvSpPr>
        <p:spPr>
          <a:xfrm>
            <a:off x="8092440" y="3648456"/>
            <a:ext cx="3291840" cy="457200"/>
          </a:xfrm>
          <a:prstGeom prst="rect">
            <a:avLst/>
          </a:prstGeom>
          <a:noFill/>
          <a:ln/>
        </p:spPr>
        <p:txBody>
          <a:bodyPr wrap="square" lIns="0" tIns="0" rIns="0" bIns="0" rtlCol="0" anchor="ctr"/>
          <a:lstStyle/>
          <a:p>
            <a:pPr marL="0" indent="0" algn="ctr">
              <a:buNone/>
            </a:pPr>
            <a:r>
              <a:rPr lang="en-US" sz="1200" dirty="0">
                <a:solidFill>
                  <a:schemeClr val="accent5"/>
                </a:solidFill>
              </a:rPr>
              <a:t>of each trash bag could still be recycled</a:t>
            </a:r>
            <a:endParaRPr lang="en-US" sz="1200" dirty="0"/>
          </a:p>
        </p:txBody>
      </p:sp>
      <p:sp>
        <p:nvSpPr>
          <p:cNvPr id="19" name="Stat 3"/>
          <p:cNvSpPr txBox="1"/>
          <p:nvPr/>
        </p:nvSpPr>
        <p:spPr>
          <a:xfrm>
            <a:off x="8092440" y="4334256"/>
            <a:ext cx="3291840" cy="685800"/>
          </a:xfrm>
          <a:prstGeom prst="rect">
            <a:avLst/>
          </a:prstGeom>
          <a:noFill/>
          <a:ln/>
        </p:spPr>
        <p:txBody>
          <a:bodyPr wrap="square" lIns="0" tIns="0" rIns="0" bIns="0" rtlCol="0" anchor="ctr"/>
          <a:lstStyle/>
          <a:p>
            <a:pPr marL="0" indent="0" algn="ctr">
              <a:buNone/>
            </a:pPr>
            <a:r>
              <a:rPr lang="en-US" spc="-100" sz="4800" b="1" dirty="0">
                <a:solidFill>
                  <a:schemeClr val="tx2"/>
                </a:solidFill>
              </a:rPr>
              <a:t>671 kg</a:t>
            </a:r>
            <a:endParaRPr lang="en-US" sz="4800" dirty="0"/>
          </a:p>
        </p:txBody>
      </p:sp>
      <p:sp>
        <p:nvSpPr>
          <p:cNvPr id="20" name="Stat label 3"/>
          <p:cNvSpPr txBox="1"/>
          <p:nvPr/>
        </p:nvSpPr>
        <p:spPr>
          <a:xfrm>
            <a:off x="8092440" y="4992624"/>
            <a:ext cx="3291840" cy="457200"/>
          </a:xfrm>
          <a:prstGeom prst="rect">
            <a:avLst/>
          </a:prstGeom>
          <a:noFill/>
          <a:ln/>
        </p:spPr>
        <p:txBody>
          <a:bodyPr wrap="square" lIns="0" tIns="0" rIns="0" bIns="0" rtlCol="0" anchor="ctr"/>
          <a:lstStyle/>
          <a:p>
            <a:pPr marL="0" indent="0" algn="ctr">
              <a:buNone/>
            </a:pPr>
            <a:r>
              <a:rPr lang="en-US" sz="1200" dirty="0">
                <a:solidFill>
                  <a:schemeClr val="accent5"/>
                </a:solidFill>
              </a:rPr>
              <a:t>municipal waste per person per year (2022)</a:t>
            </a:r>
            <a:endParaRPr lang="en-US" sz="1200" dirty="0"/>
          </a:p>
        </p:txBody>
      </p:sp>
      <p:sp>
        <p:nvSpPr>
          <p:cNvPr id="21"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dirty="0">
                <a:solidFill>
                  <a:schemeClr val="accent5"/>
                </a:solidFill>
              </a:rPr>
              <a:t>Sources: Federal Office for the Environment (FOEN) via Keystone-SDA / blue News; swissinfo.ch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Our Solution</a:t>
            </a:r>
            <a:endParaRPr lang="en-US" sz="54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dirty="0">
                <a:solidFill>
                  <a:schemeClr val="tx2"/>
                </a:solidFill>
              </a:rPr>
              <a:t>RECYCL IT turns recycling into a game you play with your town.</a:t>
            </a:r>
          </a:p>
        </p:txBody>
      </p:sp>
      <p:sp>
        <p:nvSpPr>
          <p:cNvPr id="4" name="Step card 1"/>
          <p:cNvSpPr/>
          <p:nvPr/>
        </p:nvSpPr>
        <p:spPr>
          <a:xfrm>
            <a:off x="548640" y="1874520"/>
            <a:ext cx="2103120" cy="2743200"/>
          </a:xfrm>
          <a:prstGeom prst="roundRect">
            <a:avLst>
              <a:gd name="adj" fmla="val 6522"/>
            </a:avLst>
          </a:prstGeom>
          <a:solidFill>
            <a:srgbClr val="EEF4EE"/>
          </a:solidFill>
          <a:ln/>
        </p:spPr>
        <p:txBody>
          <a:bodyPr/>
          <a:lstStyle/>
          <a:p>
            <a:endParaRPr lang="en-CH"/>
          </a:p>
        </p:txBody>
      </p:sp>
      <p:sp>
        <p:nvSpPr>
          <p:cNvPr id="5" name="Step 1 circle"/>
          <p:cNvSpPr/>
          <p:nvPr/>
        </p:nvSpPr>
        <p:spPr>
          <a:xfrm>
            <a:off x="777240" y="2103120"/>
            <a:ext cx="731520" cy="731520"/>
          </a:xfrm>
          <a:prstGeom prst="ellipse">
            <a:avLst/>
          </a:prstGeom>
          <a:solidFill>
            <a:srgbClr val="23704F"/>
          </a:solidFill>
          <a:ln/>
        </p:spPr>
        <p:txBody>
          <a:bodyPr/>
          <a:lstStyle/>
          <a:p>
            <a:endParaRPr lang="en-CH"/>
          </a:p>
        </p:txBody>
      </p:sp>
      <p:pic>
        <p:nvPicPr>
          <p:cNvPr id="6" name="Step 1 icon" descr="Step 1"/>
          <p:cNvPicPr>
            <a:picLocks noChangeAspect="1"/>
          </p:cNvPicPr>
          <p:nvPr/>
        </p:nvPicPr>
        <p:blipFill>
          <a:blip r:embed="rId3"/>
          <a:stretch>
            <a:fillRect/>
          </a:stretch>
        </p:blipFill>
        <p:spPr>
          <a:xfrm>
            <a:off x="960120" y="2286000"/>
            <a:ext cx="365760" cy="365760"/>
          </a:xfrm>
          <a:prstGeom prst="rect">
            <a:avLst/>
          </a:prstGeom>
        </p:spPr>
      </p:pic>
      <p:sp>
        <p:nvSpPr>
          <p:cNvPr id="7" name="Step number 1"/>
          <p:cNvSpPr txBox="1"/>
          <p:nvPr/>
        </p:nvSpPr>
        <p:spPr>
          <a:xfrm>
            <a:off x="1874520" y="2103120"/>
            <a:ext cx="548640" cy="731520"/>
          </a:xfrm>
          <a:prstGeom prst="rect">
            <a:avLst/>
          </a:prstGeom>
          <a:noFill/>
          <a:ln/>
        </p:spPr>
        <p:txBody>
          <a:bodyPr wrap="square" lIns="0" tIns="0" rIns="0" bIns="0" rtlCol="0" anchor="ctr"/>
          <a:lstStyle/>
          <a:p>
            <a:pPr marL="0" indent="0" algn="r">
              <a:buNone/>
            </a:pPr>
            <a:r>
              <a:rPr lang="en-US" spc="-50" sz="3600" b="1" dirty="0">
                <a:solidFill>
                  <a:schemeClr val="accent1"/>
                </a:solidFill>
              </a:rPr>
              <a:t>1</a:t>
            </a:r>
            <a:endParaRPr lang="en-US" sz="3600" dirty="0"/>
          </a:p>
        </p:txBody>
      </p:sp>
      <p:sp>
        <p:nvSpPr>
          <p:cNvPr id="8" name="Step text 1"/>
          <p:cNvSpPr txBox="1"/>
          <p:nvPr/>
        </p:nvSpPr>
        <p:spPr>
          <a:xfrm>
            <a:off x="777240" y="3017520"/>
            <a:ext cx="1691640" cy="1463040"/>
          </a:xfrm>
          <a:prstGeom prst="rect">
            <a:avLst/>
          </a:prstGeom>
          <a:noFill/>
          <a:ln/>
        </p:spPr>
        <p:txBody>
          <a:bodyPr wrap="square" lIns="0" tIns="0" rIns="0" bIns="0" rtlCol="0" anchor="t"/>
          <a:lstStyle/>
          <a:p>
            <a:pPr marL="0" indent="0">
              <a:buNone/>
            </a:pPr>
            <a:r>
              <a:rPr lang="en-US" sz="1700">
                <a:solidFill>
                  <a:schemeClr val="tx1"/>
                </a:solidFill>
              </a:rPr>
              <a:t>Scan the QR code at a real collection point</a:t>
            </a:r>
          </a:p>
        </p:txBody>
      </p:sp>
      <p:sp>
        <p:nvSpPr>
          <p:cNvPr id="9" name="Step card 2"/>
          <p:cNvSpPr/>
          <p:nvPr/>
        </p:nvSpPr>
        <p:spPr>
          <a:xfrm>
            <a:off x="2788920" y="1874520"/>
            <a:ext cx="2103120" cy="2743200"/>
          </a:xfrm>
          <a:prstGeom prst="roundRect">
            <a:avLst>
              <a:gd name="adj" fmla="val 6522"/>
            </a:avLst>
          </a:prstGeom>
          <a:solidFill>
            <a:srgbClr val="EEF4EE"/>
          </a:solidFill>
          <a:ln/>
        </p:spPr>
        <p:txBody>
          <a:bodyPr/>
          <a:lstStyle/>
          <a:p>
            <a:endParaRPr lang="en-CH"/>
          </a:p>
        </p:txBody>
      </p:sp>
      <p:sp>
        <p:nvSpPr>
          <p:cNvPr id="10" name="Step 2 circle"/>
          <p:cNvSpPr/>
          <p:nvPr/>
        </p:nvSpPr>
        <p:spPr>
          <a:xfrm>
            <a:off x="3017520" y="2103120"/>
            <a:ext cx="731520" cy="731520"/>
          </a:xfrm>
          <a:prstGeom prst="ellipse">
            <a:avLst/>
          </a:prstGeom>
          <a:solidFill>
            <a:srgbClr val="23704F"/>
          </a:solidFill>
          <a:ln/>
        </p:spPr>
        <p:txBody>
          <a:bodyPr/>
          <a:lstStyle/>
          <a:p>
            <a:endParaRPr lang="en-CH"/>
          </a:p>
        </p:txBody>
      </p:sp>
      <p:pic>
        <p:nvPicPr>
          <p:cNvPr id="11" name="Step 2 icon" descr="Step 2"/>
          <p:cNvPicPr>
            <a:picLocks noChangeAspect="1"/>
          </p:cNvPicPr>
          <p:nvPr/>
        </p:nvPicPr>
        <p:blipFill>
          <a:blip r:embed="rId4"/>
          <a:stretch>
            <a:fillRect/>
          </a:stretch>
        </p:blipFill>
        <p:spPr>
          <a:xfrm>
            <a:off x="3200400" y="2286000"/>
            <a:ext cx="365760" cy="365760"/>
          </a:xfrm>
          <a:prstGeom prst="rect">
            <a:avLst/>
          </a:prstGeom>
        </p:spPr>
      </p:pic>
      <p:sp>
        <p:nvSpPr>
          <p:cNvPr id="12" name="Step number 2"/>
          <p:cNvSpPr txBox="1"/>
          <p:nvPr/>
        </p:nvSpPr>
        <p:spPr>
          <a:xfrm>
            <a:off x="4114800" y="2103120"/>
            <a:ext cx="548640" cy="731520"/>
          </a:xfrm>
          <a:prstGeom prst="rect">
            <a:avLst/>
          </a:prstGeom>
          <a:noFill/>
          <a:ln/>
        </p:spPr>
        <p:txBody>
          <a:bodyPr wrap="square" lIns="0" tIns="0" rIns="0" bIns="0" rtlCol="0" anchor="ctr"/>
          <a:lstStyle/>
          <a:p>
            <a:pPr marL="0" indent="0" algn="r">
              <a:buNone/>
            </a:pPr>
            <a:r>
              <a:rPr lang="en-US" spc="-50" sz="3600" b="1" dirty="0">
                <a:solidFill>
                  <a:schemeClr val="accent1"/>
                </a:solidFill>
              </a:rPr>
              <a:t>2</a:t>
            </a:r>
            <a:endParaRPr lang="en-US" sz="3600" dirty="0"/>
          </a:p>
        </p:txBody>
      </p:sp>
      <p:sp>
        <p:nvSpPr>
          <p:cNvPr id="13" name="Step text 2"/>
          <p:cNvSpPr txBox="1"/>
          <p:nvPr/>
        </p:nvSpPr>
        <p:spPr>
          <a:xfrm>
            <a:off x="3017520" y="3017520"/>
            <a:ext cx="1691640" cy="1463040"/>
          </a:xfrm>
          <a:prstGeom prst="rect">
            <a:avLst/>
          </a:prstGeom>
          <a:noFill/>
          <a:ln/>
        </p:spPr>
        <p:txBody>
          <a:bodyPr wrap="square" lIns="0" tIns="0" rIns="0" bIns="0" rtlCol="0" anchor="t"/>
          <a:lstStyle/>
          <a:p>
            <a:pPr marL="0" indent="0">
              <a:buNone/>
            </a:pPr>
            <a:r>
              <a:rPr lang="en-US" sz="1700">
                <a:solidFill>
                  <a:schemeClr val="tx1"/>
                </a:solidFill>
              </a:rPr>
              <a:t>Earn points and streaks</a:t>
            </a:r>
          </a:p>
        </p:txBody>
      </p:sp>
      <p:sp>
        <p:nvSpPr>
          <p:cNvPr id="14" name="Step card 3"/>
          <p:cNvSpPr/>
          <p:nvPr/>
        </p:nvSpPr>
        <p:spPr>
          <a:xfrm>
            <a:off x="5029200" y="1874520"/>
            <a:ext cx="2103120" cy="2743200"/>
          </a:xfrm>
          <a:prstGeom prst="roundRect">
            <a:avLst>
              <a:gd name="adj" fmla="val 6522"/>
            </a:avLst>
          </a:prstGeom>
          <a:solidFill>
            <a:srgbClr val="EEF4EE"/>
          </a:solidFill>
          <a:ln/>
        </p:spPr>
        <p:txBody>
          <a:bodyPr/>
          <a:lstStyle/>
          <a:p>
            <a:endParaRPr lang="en-CH"/>
          </a:p>
        </p:txBody>
      </p:sp>
      <p:sp>
        <p:nvSpPr>
          <p:cNvPr id="15" name="Step 3 circle"/>
          <p:cNvSpPr/>
          <p:nvPr/>
        </p:nvSpPr>
        <p:spPr>
          <a:xfrm>
            <a:off x="5257800" y="2103120"/>
            <a:ext cx="731520" cy="731520"/>
          </a:xfrm>
          <a:prstGeom prst="ellipse">
            <a:avLst/>
          </a:prstGeom>
          <a:solidFill>
            <a:srgbClr val="23704F"/>
          </a:solidFill>
          <a:ln/>
        </p:spPr>
        <p:txBody>
          <a:bodyPr/>
          <a:lstStyle/>
          <a:p>
            <a:endParaRPr lang="en-CH"/>
          </a:p>
        </p:txBody>
      </p:sp>
      <p:pic>
        <p:nvPicPr>
          <p:cNvPr id="16" name="Step 3 icon" descr="Step 3"/>
          <p:cNvPicPr>
            <a:picLocks noChangeAspect="1"/>
          </p:cNvPicPr>
          <p:nvPr/>
        </p:nvPicPr>
        <p:blipFill>
          <a:blip r:embed="rId5"/>
          <a:stretch>
            <a:fillRect/>
          </a:stretch>
        </p:blipFill>
        <p:spPr>
          <a:xfrm>
            <a:off x="5440680" y="2286000"/>
            <a:ext cx="365760" cy="365760"/>
          </a:xfrm>
          <a:prstGeom prst="rect">
            <a:avLst/>
          </a:prstGeom>
        </p:spPr>
      </p:pic>
      <p:sp>
        <p:nvSpPr>
          <p:cNvPr id="17" name="Step number 3"/>
          <p:cNvSpPr txBox="1"/>
          <p:nvPr/>
        </p:nvSpPr>
        <p:spPr>
          <a:xfrm>
            <a:off x="6355080" y="2103120"/>
            <a:ext cx="548640" cy="731520"/>
          </a:xfrm>
          <a:prstGeom prst="rect">
            <a:avLst/>
          </a:prstGeom>
          <a:noFill/>
          <a:ln/>
        </p:spPr>
        <p:txBody>
          <a:bodyPr wrap="square" lIns="0" tIns="0" rIns="0" bIns="0" rtlCol="0" anchor="ctr"/>
          <a:lstStyle/>
          <a:p>
            <a:pPr marL="0" indent="0" algn="r">
              <a:buNone/>
            </a:pPr>
            <a:r>
              <a:rPr lang="en-US" spc="-50" sz="3600" b="1" dirty="0">
                <a:solidFill>
                  <a:schemeClr val="accent1"/>
                </a:solidFill>
              </a:rPr>
              <a:t>3</a:t>
            </a:r>
            <a:endParaRPr lang="en-US" sz="3600" dirty="0"/>
          </a:p>
        </p:txBody>
      </p:sp>
      <p:sp>
        <p:nvSpPr>
          <p:cNvPr id="18" name="Step text 3"/>
          <p:cNvSpPr txBox="1"/>
          <p:nvPr/>
        </p:nvSpPr>
        <p:spPr>
          <a:xfrm>
            <a:off x="5257800" y="3017520"/>
            <a:ext cx="1691640" cy="1463040"/>
          </a:xfrm>
          <a:prstGeom prst="rect">
            <a:avLst/>
          </a:prstGeom>
          <a:noFill/>
          <a:ln/>
        </p:spPr>
        <p:txBody>
          <a:bodyPr wrap="square" lIns="0" tIns="0" rIns="0" bIns="0" rtlCol="0" anchor="t"/>
          <a:lstStyle/>
          <a:p>
            <a:pPr marL="0" indent="0">
              <a:buNone/>
            </a:pPr>
            <a:r>
              <a:rPr lang="en-US" sz="1700">
                <a:solidFill>
                  <a:schemeClr val="tx1"/>
                </a:solidFill>
              </a:rPr>
              <a:t>Climb the class and town leaderboard</a:t>
            </a:r>
          </a:p>
        </p:txBody>
      </p:sp>
      <p:sp>
        <p:nvSpPr>
          <p:cNvPr id="19" name="Step card 4"/>
          <p:cNvSpPr/>
          <p:nvPr/>
        </p:nvSpPr>
        <p:spPr>
          <a:xfrm>
            <a:off x="7269480" y="1874520"/>
            <a:ext cx="2103120" cy="2743200"/>
          </a:xfrm>
          <a:prstGeom prst="roundRect">
            <a:avLst>
              <a:gd name="adj" fmla="val 6522"/>
            </a:avLst>
          </a:prstGeom>
          <a:solidFill>
            <a:srgbClr val="EEF4EE"/>
          </a:solidFill>
          <a:ln/>
        </p:spPr>
        <p:txBody>
          <a:bodyPr/>
          <a:lstStyle/>
          <a:p>
            <a:endParaRPr lang="en-CH"/>
          </a:p>
        </p:txBody>
      </p:sp>
      <p:sp>
        <p:nvSpPr>
          <p:cNvPr id="20" name="Step 4 circle"/>
          <p:cNvSpPr/>
          <p:nvPr/>
        </p:nvSpPr>
        <p:spPr>
          <a:xfrm>
            <a:off x="7498080" y="2103120"/>
            <a:ext cx="731520" cy="731520"/>
          </a:xfrm>
          <a:prstGeom prst="ellipse">
            <a:avLst/>
          </a:prstGeom>
          <a:solidFill>
            <a:srgbClr val="23704F"/>
          </a:solidFill>
          <a:ln/>
        </p:spPr>
        <p:txBody>
          <a:bodyPr/>
          <a:lstStyle/>
          <a:p>
            <a:endParaRPr lang="en-CH"/>
          </a:p>
        </p:txBody>
      </p:sp>
      <p:pic>
        <p:nvPicPr>
          <p:cNvPr id="21" name="Step 4 icon" descr="Step 4"/>
          <p:cNvPicPr>
            <a:picLocks noChangeAspect="1"/>
          </p:cNvPicPr>
          <p:nvPr/>
        </p:nvPicPr>
        <p:blipFill>
          <a:blip r:embed="rId6"/>
          <a:stretch>
            <a:fillRect/>
          </a:stretch>
        </p:blipFill>
        <p:spPr>
          <a:xfrm>
            <a:off x="7680960" y="2286000"/>
            <a:ext cx="365760" cy="365760"/>
          </a:xfrm>
          <a:prstGeom prst="rect">
            <a:avLst/>
          </a:prstGeom>
        </p:spPr>
      </p:pic>
      <p:sp>
        <p:nvSpPr>
          <p:cNvPr id="22" name="Step number 4"/>
          <p:cNvSpPr txBox="1"/>
          <p:nvPr/>
        </p:nvSpPr>
        <p:spPr>
          <a:xfrm>
            <a:off x="8595360" y="2103120"/>
            <a:ext cx="548640" cy="731520"/>
          </a:xfrm>
          <a:prstGeom prst="rect">
            <a:avLst/>
          </a:prstGeom>
          <a:noFill/>
          <a:ln/>
        </p:spPr>
        <p:txBody>
          <a:bodyPr wrap="square" lIns="0" tIns="0" rIns="0" bIns="0" rtlCol="0" anchor="ctr"/>
          <a:lstStyle/>
          <a:p>
            <a:pPr marL="0" indent="0" algn="r">
              <a:buNone/>
            </a:pPr>
            <a:r>
              <a:rPr lang="en-US" spc="-50" sz="3600" b="1" dirty="0">
                <a:solidFill>
                  <a:schemeClr val="accent1"/>
                </a:solidFill>
              </a:rPr>
              <a:t>4</a:t>
            </a:r>
            <a:endParaRPr lang="en-US" sz="3600" dirty="0"/>
          </a:p>
        </p:txBody>
      </p:sp>
      <p:sp>
        <p:nvSpPr>
          <p:cNvPr id="23" name="Step text 4"/>
          <p:cNvSpPr txBox="1"/>
          <p:nvPr/>
        </p:nvSpPr>
        <p:spPr>
          <a:xfrm>
            <a:off x="7498080" y="3017520"/>
            <a:ext cx="1691640" cy="1463040"/>
          </a:xfrm>
          <a:prstGeom prst="rect">
            <a:avLst/>
          </a:prstGeom>
          <a:noFill/>
          <a:ln/>
        </p:spPr>
        <p:txBody>
          <a:bodyPr wrap="square" lIns="0" tIns="0" rIns="0" bIns="0" rtlCol="0" anchor="t"/>
          <a:lstStyle/>
          <a:p>
            <a:pPr marL="0" indent="0">
              <a:buNone/>
            </a:pPr>
            <a:r>
              <a:rPr lang="en-US" sz="1700">
                <a:solidFill>
                  <a:schemeClr val="tx1"/>
                </a:solidFill>
              </a:rPr>
              <a:t>Redeem points at local shops</a:t>
            </a:r>
          </a:p>
        </p:txBody>
      </p:sp>
      <p:sp>
        <p:nvSpPr>
          <p:cNvPr id="24" name="Step card 5"/>
          <p:cNvSpPr/>
          <p:nvPr/>
        </p:nvSpPr>
        <p:spPr>
          <a:xfrm>
            <a:off x="9509760" y="1874520"/>
            <a:ext cx="2103120" cy="2743200"/>
          </a:xfrm>
          <a:prstGeom prst="roundRect">
            <a:avLst>
              <a:gd name="adj" fmla="val 6522"/>
            </a:avLst>
          </a:prstGeom>
          <a:solidFill>
            <a:srgbClr val="EEF4EE"/>
          </a:solidFill>
          <a:ln/>
        </p:spPr>
        <p:txBody>
          <a:bodyPr/>
          <a:lstStyle/>
          <a:p>
            <a:endParaRPr lang="en-CH"/>
          </a:p>
        </p:txBody>
      </p:sp>
      <p:sp>
        <p:nvSpPr>
          <p:cNvPr id="25" name="Step 5 circle"/>
          <p:cNvSpPr/>
          <p:nvPr/>
        </p:nvSpPr>
        <p:spPr>
          <a:xfrm>
            <a:off x="9738360" y="2103120"/>
            <a:ext cx="731520" cy="731520"/>
          </a:xfrm>
          <a:prstGeom prst="ellipse">
            <a:avLst/>
          </a:prstGeom>
          <a:solidFill>
            <a:srgbClr val="23704F"/>
          </a:solidFill>
          <a:ln/>
        </p:spPr>
        <p:txBody>
          <a:bodyPr/>
          <a:lstStyle/>
          <a:p>
            <a:endParaRPr lang="en-CH"/>
          </a:p>
        </p:txBody>
      </p:sp>
      <p:pic>
        <p:nvPicPr>
          <p:cNvPr id="26" name="Step 5 icon" descr="Step 5"/>
          <p:cNvPicPr>
            <a:picLocks noChangeAspect="1"/>
          </p:cNvPicPr>
          <p:nvPr/>
        </p:nvPicPr>
        <p:blipFill>
          <a:blip r:embed="rId7"/>
          <a:stretch>
            <a:fillRect/>
          </a:stretch>
        </p:blipFill>
        <p:spPr>
          <a:xfrm>
            <a:off x="9921240" y="2286000"/>
            <a:ext cx="365760" cy="365760"/>
          </a:xfrm>
          <a:prstGeom prst="rect">
            <a:avLst/>
          </a:prstGeom>
        </p:spPr>
      </p:pic>
      <p:sp>
        <p:nvSpPr>
          <p:cNvPr id="27" name="Step number 5"/>
          <p:cNvSpPr txBox="1"/>
          <p:nvPr/>
        </p:nvSpPr>
        <p:spPr>
          <a:xfrm>
            <a:off x="10835640" y="2103120"/>
            <a:ext cx="548640" cy="731520"/>
          </a:xfrm>
          <a:prstGeom prst="rect">
            <a:avLst/>
          </a:prstGeom>
          <a:noFill/>
          <a:ln/>
        </p:spPr>
        <p:txBody>
          <a:bodyPr wrap="square" lIns="0" tIns="0" rIns="0" bIns="0" rtlCol="0" anchor="ctr"/>
          <a:lstStyle/>
          <a:p>
            <a:pPr marL="0" indent="0" algn="r">
              <a:buNone/>
            </a:pPr>
            <a:r>
              <a:rPr lang="en-US" spc="-50" sz="3600" b="1" dirty="0">
                <a:solidFill>
                  <a:schemeClr val="accent1"/>
                </a:solidFill>
              </a:rPr>
              <a:t>5</a:t>
            </a:r>
            <a:endParaRPr lang="en-US" sz="3600" dirty="0"/>
          </a:p>
        </p:txBody>
      </p:sp>
      <p:sp>
        <p:nvSpPr>
          <p:cNvPr id="28" name="Step text 5"/>
          <p:cNvSpPr txBox="1"/>
          <p:nvPr/>
        </p:nvSpPr>
        <p:spPr>
          <a:xfrm>
            <a:off x="9738360" y="3017520"/>
            <a:ext cx="1691640" cy="1463040"/>
          </a:xfrm>
          <a:prstGeom prst="rect">
            <a:avLst/>
          </a:prstGeom>
          <a:noFill/>
          <a:ln/>
        </p:spPr>
        <p:txBody>
          <a:bodyPr wrap="square" lIns="0" tIns="0" rIns="0" bIns="0" rtlCol="0" anchor="t"/>
          <a:lstStyle/>
          <a:p>
            <a:pPr marL="0" indent="0">
              <a:buNone/>
            </a:pPr>
            <a:r>
              <a:rPr lang="en-US" sz="1700">
                <a:solidFill>
                  <a:schemeClr val="tx1"/>
                </a:solidFill>
              </a:rPr>
              <a:t>Join town challenges with friends</a:t>
            </a:r>
          </a:p>
        </p:txBody>
      </p:sp>
      <p:sp>
        <p:nvSpPr>
          <p:cNvPr id="29" name="Demo callout"/>
          <p:cNvSpPr/>
          <p:nvPr/>
        </p:nvSpPr>
        <p:spPr>
          <a:xfrm>
            <a:off x="548640" y="4892040"/>
            <a:ext cx="11064240" cy="868680"/>
          </a:xfrm>
          <a:prstGeom prst="roundRect">
            <a:avLst>
              <a:gd name="adj" fmla="val 15789"/>
            </a:avLst>
          </a:prstGeom>
          <a:solidFill>
            <a:srgbClr val="F2A33A"/>
          </a:solidFill>
          <a:ln/>
        </p:spPr>
        <p:txBody>
          <a:bodyPr/>
          <a:lstStyle/>
          <a:p>
            <a:endParaRPr lang="en-CH"/>
          </a:p>
        </p:txBody>
      </p:sp>
      <p:pic>
        <p:nvPicPr>
          <p:cNvPr id="30" name="Phone icon" descr="Phone"/>
          <p:cNvPicPr>
            <a:picLocks noChangeAspect="1"/>
          </p:cNvPicPr>
          <p:nvPr/>
        </p:nvPicPr>
        <p:blipFill>
          <a:blip r:embed="rId8"/>
          <a:stretch>
            <a:fillRect/>
          </a:stretch>
        </p:blipFill>
        <p:spPr>
          <a:xfrm>
            <a:off x="868680" y="5074920"/>
            <a:ext cx="502920" cy="502920"/>
          </a:xfrm>
          <a:prstGeom prst="rect">
            <a:avLst/>
          </a:prstGeom>
        </p:spPr>
      </p:pic>
      <p:sp>
        <p:nvSpPr>
          <p:cNvPr id="31" name="Demo text"/>
          <p:cNvSpPr txBox="1"/>
          <p:nvPr/>
        </p:nvSpPr>
        <p:spPr>
          <a:xfrm>
            <a:off x="1600200" y="4892040"/>
            <a:ext cx="9784080" cy="868680"/>
          </a:xfrm>
          <a:prstGeom prst="rect">
            <a:avLst/>
          </a:prstGeom>
          <a:noFill/>
          <a:ln/>
        </p:spPr>
        <p:txBody>
          <a:bodyPr wrap="square" lIns="0" tIns="0" rIns="0" bIns="0" rtlCol="0" anchor="ctr"/>
          <a:lstStyle/>
          <a:p>
            <a:pPr marL="0" indent="0">
              <a:buNone/>
            </a:pPr>
            <a:r>
              <a:rPr lang="en-US" sz="2200" b="1">
                <a:solidFill>
                  <a:schemeClr val="tx1"/>
                </a:solidFill>
              </a:rPr>
              <a:t>Live demo: scan → points → leaderboard → reward</a:t>
            </a:r>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Business Model</a:t>
            </a:r>
          </a:p>
        </p:txBody>
      </p:sp>
      <p:sp>
        <p:nvSpPr>
          <p:cNvPr id="3" name="Problem 1 circle"/>
          <p:cNvSpPr/>
          <p:nvPr/>
        </p:nvSpPr>
        <p:spPr>
          <a:xfrm>
            <a:off x="548640" y="1417320"/>
            <a:ext cx="685800" cy="685800"/>
          </a:xfrm>
          <a:prstGeom prst="ellipse">
            <a:avLst/>
          </a:prstGeom>
          <a:solidFill>
            <a:srgbClr val="F2A33A"/>
          </a:solidFill>
          <a:ln/>
        </p:spPr>
        <p:txBody>
          <a:bodyPr/>
          <a:lstStyle/>
          <a:p>
            <a:endParaRPr lang="en-CH"/>
          </a:p>
        </p:txBody>
      </p:sp>
      <p:pic>
        <p:nvPicPr>
          <p:cNvPr id="4" name="Problem 1 icon" descr="Problem 1"/>
          <p:cNvPicPr>
            <a:picLocks noChangeAspect="1"/>
          </p:cNvPicPr>
          <p:nvPr/>
        </p:nvPicPr>
        <p:blipFill>
          <a:blip r:embed="rId3"/>
          <a:stretch>
            <a:fillRect/>
          </a:stretch>
        </p:blipFill>
        <p:spPr>
          <a:xfrm>
            <a:off x="720090" y="1588770"/>
            <a:ext cx="342900" cy="342900"/>
          </a:xfrm>
          <a:prstGeom prst="rect">
            <a:avLst/>
          </a:prstGeom>
        </p:spPr>
      </p:pic>
      <p:sp>
        <p:nvSpPr>
          <p:cNvPr id="5" name="Problem text 1"/>
          <p:cNvSpPr txBox="1"/>
          <p:nvPr/>
        </p:nvSpPr>
        <p:spPr>
          <a:xfrm>
            <a:off x="1463040" y="1371600"/>
            <a:ext cx="5852160" cy="777240"/>
          </a:xfrm>
          <a:prstGeom prst="rect">
            <a:avLst/>
          </a:prstGeom>
          <a:noFill/>
          <a:ln/>
        </p:spPr>
        <p:txBody>
          <a:bodyPr wrap="square" lIns="0" tIns="0" rIns="0" bIns="0" rtlCol="0" anchor="ctr"/>
          <a:lstStyle/>
          <a:p>
            <a:pPr marL="0" indent="0">
              <a:buNone/>
            </a:pPr>
            <a:r>
              <a:rPr lang="en-US" sz="1800" b="1" dirty="0">
                <a:solidFill>
                  <a:schemeClr val="tx1"/>
                </a:solidFill>
              </a:rPr>
              <a:t>Gemeinde Risch</a:t>
            </a:r>
            <a:r>
              <a:rPr lang="en-US" sz="1800" dirty="0">
                <a:solidFill>
                  <a:schemeClr val="tx1"/>
                </a:solidFill>
              </a:rPr>
              <a:t> (our first target customer): CHF 0.80 per resident a year ≈ CHF 9’000</a:t>
            </a:r>
            <a:endParaRPr lang="en-US" sz="1800" dirty="0">
              <a:solidFill>
                <a:schemeClr val="tx1"/>
              </a:solidFill>
            </a:endParaRPr>
          </a:p>
        </p:txBody>
      </p:sp>
      <p:sp>
        <p:nvSpPr>
          <p:cNvPr id="6" name="Problem 2 circle"/>
          <p:cNvSpPr/>
          <p:nvPr/>
        </p:nvSpPr>
        <p:spPr>
          <a:xfrm>
            <a:off x="548640" y="2331720"/>
            <a:ext cx="685800" cy="685800"/>
          </a:xfrm>
          <a:prstGeom prst="ellipse">
            <a:avLst/>
          </a:prstGeom>
          <a:solidFill>
            <a:srgbClr val="F2A33A"/>
          </a:solidFill>
          <a:ln/>
        </p:spPr>
        <p:txBody>
          <a:bodyPr/>
          <a:lstStyle/>
          <a:p>
            <a:endParaRPr lang="en-CH"/>
          </a:p>
        </p:txBody>
      </p:sp>
      <p:pic>
        <p:nvPicPr>
          <p:cNvPr id="7" name="Problem 2 icon" descr="Problem 2"/>
          <p:cNvPicPr>
            <a:picLocks noChangeAspect="1"/>
          </p:cNvPicPr>
          <p:nvPr/>
        </p:nvPicPr>
        <p:blipFill>
          <a:blip r:embed="rId4"/>
          <a:stretch>
            <a:fillRect/>
          </a:stretch>
        </p:blipFill>
        <p:spPr>
          <a:xfrm>
            <a:off x="720090" y="2503170"/>
            <a:ext cx="342900" cy="342900"/>
          </a:xfrm>
          <a:prstGeom prst="rect">
            <a:avLst/>
          </a:prstGeom>
        </p:spPr>
      </p:pic>
      <p:sp>
        <p:nvSpPr>
          <p:cNvPr id="8" name="Problem text 2"/>
          <p:cNvSpPr txBox="1"/>
          <p:nvPr/>
        </p:nvSpPr>
        <p:spPr>
          <a:xfrm>
            <a:off x="1463040" y="2286000"/>
            <a:ext cx="5852160" cy="777240"/>
          </a:xfrm>
          <a:prstGeom prst="rect">
            <a:avLst/>
          </a:prstGeom>
          <a:noFill/>
          <a:ln/>
        </p:spPr>
        <p:txBody>
          <a:bodyPr wrap="square" lIns="0" tIns="0" rIns="0" bIns="0" rtlCol="0" anchor="ctr"/>
          <a:lstStyle/>
          <a:p>
            <a:pPr marL="0" indent="0">
              <a:buNone/>
            </a:pPr>
            <a:r>
              <a:rPr lang="en-US" sz="1800" b="1" dirty="0">
                <a:solidFill>
                  <a:schemeClr val="tx1"/>
                </a:solidFill>
              </a:rPr>
              <a:t>Local shops &amp; cafés</a:t>
            </a:r>
            <a:r>
              <a:rPr lang="en-US" sz="1800" dirty="0">
                <a:solidFill>
                  <a:schemeClr val="tx1"/>
                </a:solidFill>
              </a:rPr>
              <a:t>: CHF 1’500 per sponsored quest for visibility, and they fund the rewards</a:t>
            </a:r>
          </a:p>
        </p:txBody>
      </p:sp>
      <p:sp>
        <p:nvSpPr>
          <p:cNvPr id="9" name="Problem 3 circle"/>
          <p:cNvSpPr/>
          <p:nvPr/>
        </p:nvSpPr>
        <p:spPr>
          <a:xfrm>
            <a:off x="548640" y="3246120"/>
            <a:ext cx="685800" cy="685800"/>
          </a:xfrm>
          <a:prstGeom prst="ellipse">
            <a:avLst/>
          </a:prstGeom>
          <a:solidFill>
            <a:srgbClr val="F2A33A"/>
          </a:solidFill>
          <a:ln/>
        </p:spPr>
        <p:txBody>
          <a:bodyPr/>
          <a:lstStyle/>
          <a:p>
            <a:endParaRPr lang="en-CH"/>
          </a:p>
        </p:txBody>
      </p:sp>
      <p:pic>
        <p:nvPicPr>
          <p:cNvPr id="10" name="Problem 3 icon" descr="Problem 3"/>
          <p:cNvPicPr>
            <a:picLocks noChangeAspect="1"/>
          </p:cNvPicPr>
          <p:nvPr/>
        </p:nvPicPr>
        <p:blipFill>
          <a:blip r:embed="rId5"/>
          <a:stretch>
            <a:fillRect/>
          </a:stretch>
        </p:blipFill>
        <p:spPr>
          <a:xfrm>
            <a:off x="720090" y="3417570"/>
            <a:ext cx="342900" cy="342900"/>
          </a:xfrm>
          <a:prstGeom prst="rect">
            <a:avLst/>
          </a:prstGeom>
        </p:spPr>
      </p:pic>
      <p:sp>
        <p:nvSpPr>
          <p:cNvPr id="11" name="Problem text 3"/>
          <p:cNvSpPr txBox="1"/>
          <p:nvPr/>
        </p:nvSpPr>
        <p:spPr>
          <a:xfrm>
            <a:off x="1463040" y="3200400"/>
            <a:ext cx="5852160" cy="777240"/>
          </a:xfrm>
          <a:prstGeom prst="rect">
            <a:avLst/>
          </a:prstGeom>
          <a:noFill/>
          <a:ln/>
        </p:spPr>
        <p:txBody>
          <a:bodyPr wrap="square" lIns="0" tIns="0" rIns="0" bIns="0" rtlCol="0" anchor="ctr"/>
          <a:lstStyle/>
          <a:p>
            <a:pPr marL="0" indent="0">
              <a:buNone/>
            </a:pPr>
            <a:r>
              <a:rPr lang="en-US" sz="1800" b="1">
                <a:solidFill>
                  <a:schemeClr val="tx1"/>
                </a:solidFill>
              </a:rPr>
              <a:t>Users</a:t>
            </a:r>
            <a:r>
              <a:rPr lang="en-US" sz="1800">
                <a:solidFill>
                  <a:schemeClr val="tx1"/>
                </a:solidFill>
              </a:rPr>
              <a:t>: always free. No ads, no selling data.</a:t>
            </a:r>
          </a:p>
        </p:txBody>
      </p:sp>
      <p:sp>
        <p:nvSpPr>
          <p:cNvPr id="12" name="Hypothesis card"/>
          <p:cNvSpPr/>
          <p:nvPr/>
        </p:nvSpPr>
        <p:spPr>
          <a:xfrm>
            <a:off x="548640" y="4297680"/>
            <a:ext cx="6766560" cy="1417320"/>
          </a:xfrm>
          <a:prstGeom prst="roundRect">
            <a:avLst>
              <a:gd name="adj" fmla="val 9677"/>
            </a:avLst>
          </a:prstGeom>
          <a:solidFill>
            <a:srgbClr val="14342B"/>
          </a:solidFill>
          <a:ln/>
        </p:spPr>
        <p:txBody>
          <a:bodyPr/>
          <a:lstStyle/>
          <a:p>
            <a:endParaRPr lang="en-CH"/>
          </a:p>
        </p:txBody>
      </p:sp>
      <p:sp>
        <p:nvSpPr>
          <p:cNvPr id="13" name="Hypothesis"/>
          <p:cNvSpPr txBox="1"/>
          <p:nvPr/>
        </p:nvSpPr>
        <p:spPr>
          <a:xfrm>
            <a:off x="822960" y="4389120"/>
            <a:ext cx="6217920" cy="1234440"/>
          </a:xfrm>
          <a:prstGeom prst="rect">
            <a:avLst/>
          </a:prstGeom>
          <a:noFill/>
          <a:ln/>
        </p:spPr>
        <p:txBody>
          <a:bodyPr wrap="square" lIns="0" tIns="0" rIns="0" bIns="0" rtlCol="0" anchor="ctr"/>
          <a:lstStyle/>
          <a:p>
            <a:pPr marL="0" indent="0">
              <a:buNone/>
            </a:pPr>
            <a:r>
              <a:rPr lang="en-US" sz="2100" b="1" dirty="0">
                <a:solidFill>
                  <a:schemeClr val="accent1"/>
                </a:solidFill>
              </a:rPr>
              <a:t>Scale: </a:t>
            </a:r>
            <a:r>
              <a:rPr lang="en-US" sz="2100" dirty="0">
                <a:solidFill>
                  <a:schemeClr val="bg1"/>
                </a:solidFill>
              </a:rPr>
              <a:t>6 towns like Risch ≈ CHF 54’000 a year, enough for a part-time developer.</a:t>
            </a:r>
          </a:p>
        </p:txBody>
      </p:sp>
      <p:sp>
        <p:nvSpPr>
          <p:cNvPr id="14" name="Stats card"/>
          <p:cNvSpPr/>
          <p:nvPr/>
        </p:nvSpPr>
        <p:spPr>
          <a:xfrm>
            <a:off x="7772400" y="1417320"/>
            <a:ext cx="3840480" cy="4297680"/>
          </a:xfrm>
          <a:prstGeom prst="roundRect">
            <a:avLst>
              <a:gd name="adj" fmla="val 3571"/>
            </a:avLst>
          </a:prstGeom>
          <a:solidFill>
            <a:srgbClr val="EEF4EE"/>
          </a:solidFill>
          <a:ln/>
        </p:spPr>
        <p:txBody>
          <a:bodyPr/>
          <a:lstStyle/>
          <a:p>
            <a:endParaRPr lang="en-CH"/>
          </a:p>
        </p:txBody>
      </p:sp>
      <p:sp>
        <p:nvSpPr>
          <p:cNvPr id="15" name="Stat 1"/>
          <p:cNvSpPr txBox="1"/>
          <p:nvPr/>
        </p:nvSpPr>
        <p:spPr>
          <a:xfrm>
            <a:off x="8092440" y="1645920"/>
            <a:ext cx="3291840" cy="685800"/>
          </a:xfrm>
          <a:prstGeom prst="rect">
            <a:avLst/>
          </a:prstGeom>
          <a:noFill/>
          <a:ln/>
        </p:spPr>
        <p:txBody>
          <a:bodyPr wrap="square" lIns="0" tIns="0" rIns="0" bIns="0" rtlCol="0" anchor="ctr"/>
          <a:lstStyle/>
          <a:p>
            <a:pPr marL="0" indent="0">
              <a:buNone/>
            </a:pPr>
            <a:r>
              <a:rPr lang="en-US" spc="-50" sz="3600" b="1" dirty="0">
                <a:solidFill>
                  <a:schemeClr val="tx2"/>
                </a:solidFill>
              </a:rPr>
              <a:t>CHF 3’200</a:t>
            </a:r>
          </a:p>
        </p:txBody>
      </p:sp>
      <p:sp>
        <p:nvSpPr>
          <p:cNvPr id="16" name="Stat label 1"/>
          <p:cNvSpPr txBox="1"/>
          <p:nvPr/>
        </p:nvSpPr>
        <p:spPr>
          <a:xfrm>
            <a:off x="8092440" y="2304288"/>
            <a:ext cx="3291840" cy="457200"/>
          </a:xfrm>
          <a:prstGeom prst="rect">
            <a:avLst/>
          </a:prstGeom>
          <a:noFill/>
          <a:ln/>
        </p:spPr>
        <p:txBody>
          <a:bodyPr wrap="square" lIns="0" tIns="0" rIns="0" bIns="0" rtlCol="0" anchor="ctr"/>
          <a:lstStyle/>
          <a:p>
            <a:pPr marL="0" indent="0">
              <a:buNone/>
            </a:pPr>
            <a:r>
              <a:rPr lang="en-US" sz="1200">
                <a:solidFill>
                  <a:schemeClr val="accent5"/>
                </a:solidFill>
              </a:rPr>
              <a:t>pilot costs, year 1 (hosting, QR stickers, flyers)</a:t>
            </a:r>
          </a:p>
        </p:txBody>
      </p:sp>
      <p:sp>
        <p:nvSpPr>
          <p:cNvPr id="17" name="Stat 2"/>
          <p:cNvSpPr txBox="1"/>
          <p:nvPr/>
        </p:nvSpPr>
        <p:spPr>
          <a:xfrm>
            <a:off x="8092440" y="2990088"/>
            <a:ext cx="3291840" cy="685800"/>
          </a:xfrm>
          <a:prstGeom prst="rect">
            <a:avLst/>
          </a:prstGeom>
          <a:noFill/>
          <a:ln/>
        </p:spPr>
        <p:txBody>
          <a:bodyPr wrap="square" lIns="0" tIns="0" rIns="0" bIns="0" rtlCol="0" anchor="ctr"/>
          <a:lstStyle/>
          <a:p>
            <a:pPr marL="0" indent="0">
              <a:buNone/>
            </a:pPr>
            <a:r>
              <a:rPr lang="en-US" spc="-50" sz="3600" b="1" dirty="0">
                <a:solidFill>
                  <a:schemeClr val="tx2"/>
                </a:solidFill>
              </a:rPr>
              <a:t>CHF 16’500</a:t>
            </a:r>
          </a:p>
        </p:txBody>
      </p:sp>
      <p:sp>
        <p:nvSpPr>
          <p:cNvPr id="18" name="Stat label 2"/>
          <p:cNvSpPr txBox="1"/>
          <p:nvPr/>
        </p:nvSpPr>
        <p:spPr>
          <a:xfrm>
            <a:off x="8092440" y="3648456"/>
            <a:ext cx="3291840" cy="457200"/>
          </a:xfrm>
          <a:prstGeom prst="rect">
            <a:avLst/>
          </a:prstGeom>
          <a:noFill/>
          <a:ln/>
        </p:spPr>
        <p:txBody>
          <a:bodyPr wrap="square" lIns="0" tIns="0" rIns="0" bIns="0" rtlCol="0" anchor="ctr"/>
          <a:lstStyle/>
          <a:p>
            <a:pPr marL="0" indent="0">
              <a:buNone/>
            </a:pPr>
            <a:r>
              <a:rPr lang="en-US" sz="1200">
                <a:solidFill>
                  <a:schemeClr val="accent5"/>
                </a:solidFill>
              </a:rPr>
              <a:t>revenue, year 1 (Risch + 5 sponsored quests)</a:t>
            </a:r>
          </a:p>
        </p:txBody>
      </p:sp>
      <p:sp>
        <p:nvSpPr>
          <p:cNvPr id="19" name="Stat 3"/>
          <p:cNvSpPr txBox="1"/>
          <p:nvPr/>
        </p:nvSpPr>
        <p:spPr>
          <a:xfrm>
            <a:off x="8092440" y="4334256"/>
            <a:ext cx="3291840" cy="685800"/>
          </a:xfrm>
          <a:prstGeom prst="rect">
            <a:avLst/>
          </a:prstGeom>
          <a:noFill/>
          <a:ln/>
        </p:spPr>
        <p:txBody>
          <a:bodyPr wrap="square" lIns="0" tIns="0" rIns="0" bIns="0" rtlCol="0" anchor="ctr"/>
          <a:lstStyle/>
          <a:p>
            <a:pPr marL="0" indent="0">
              <a:buNone/>
            </a:pPr>
            <a:r>
              <a:rPr lang="en-US" spc="-50" sz="3600" b="1" dirty="0">
                <a:solidFill>
                  <a:schemeClr val="tx2"/>
                </a:solidFill>
              </a:rPr>
              <a:t>Year 1</a:t>
            </a:r>
          </a:p>
        </p:txBody>
      </p:sp>
      <p:sp>
        <p:nvSpPr>
          <p:cNvPr id="20" name="Stat label 3"/>
          <p:cNvSpPr txBox="1"/>
          <p:nvPr/>
        </p:nvSpPr>
        <p:spPr>
          <a:xfrm>
            <a:off x="8092440" y="4992624"/>
            <a:ext cx="3291840" cy="457200"/>
          </a:xfrm>
          <a:prstGeom prst="rect">
            <a:avLst/>
          </a:prstGeom>
          <a:noFill/>
          <a:ln/>
        </p:spPr>
        <p:txBody>
          <a:bodyPr wrap="square" lIns="0" tIns="0" rIns="0" bIns="0" rtlCol="0" anchor="ctr"/>
          <a:lstStyle/>
          <a:p>
            <a:pPr marL="0" indent="0">
              <a:buNone/>
            </a:pPr>
            <a:r>
              <a:rPr lang="en-US" sz="1200">
                <a:solidFill>
                  <a:schemeClr val="accent5"/>
                </a:solidFill>
              </a:rPr>
              <a:t>break-even in the pilot year</a:t>
            </a:r>
          </a:p>
        </p:txBody>
      </p:sp>
      <p:sp>
        <p:nvSpPr>
          <p:cNvPr id="21"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a:solidFill>
                  <a:schemeClr val="accent5"/>
                </a:solidFill>
              </a:rPr>
              <a:t>All figures are our estimates. Rewards are paid by sponsors; the team works unpaid during the pilot.</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Why RECYCL IT?</a:t>
            </a:r>
            <a:endParaRPr lang="en-US" sz="54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a:solidFill>
                  <a:schemeClr val="tx2"/>
                </a:solidFill>
              </a:rPr>
              <a:t>The only option that is free, rewarding and social.</a:t>
            </a:r>
          </a:p>
        </p:txBody>
      </p:sp>
      <p:sp>
        <p:nvSpPr>
          <p:cNvPr id="28" name="Competition card"/>
          <p:cNvSpPr/>
          <p:nvPr/>
        </p:nvSpPr>
        <p:spPr>
          <a:xfrm>
            <a:off x="548640" y="4498848"/>
            <a:ext cx="11064240" cy="1307592"/>
          </a:xfrm>
          <a:prstGeom prst="roundRect">
            <a:avLst>
              <a:gd name="adj" fmla="val 9375"/>
            </a:avLst>
          </a:prstGeom>
          <a:solidFill>
            <a:srgbClr val="14342B"/>
          </a:solidFill>
          <a:ln/>
        </p:spPr>
        <p:txBody>
          <a:bodyPr/>
          <a:lstStyle/>
          <a:p>
            <a:endParaRPr lang="en-CH"/>
          </a:p>
        </p:txBody>
      </p:sp>
      <p:sp>
        <p:nvSpPr>
          <p:cNvPr id="29" name="Handshake circle"/>
          <p:cNvSpPr/>
          <p:nvPr/>
        </p:nvSpPr>
        <p:spPr>
          <a:xfrm>
            <a:off x="868680" y="4736592"/>
            <a:ext cx="822960" cy="822960"/>
          </a:xfrm>
          <a:prstGeom prst="ellipse">
            <a:avLst/>
          </a:prstGeom>
          <a:solidFill>
            <a:srgbClr val="F2A33A"/>
          </a:solidFill>
          <a:ln/>
        </p:spPr>
        <p:txBody>
          <a:bodyPr/>
          <a:lstStyle/>
          <a:p>
            <a:endParaRPr lang="en-CH"/>
          </a:p>
        </p:txBody>
      </p:sp>
      <p:pic>
        <p:nvPicPr>
          <p:cNvPr id="30" name="Handshake icon" descr="Handshake"/>
          <p:cNvPicPr>
            <a:picLocks noChangeAspect="1"/>
          </p:cNvPicPr>
          <p:nvPr/>
        </p:nvPicPr>
        <p:blipFill>
          <a:blip r:embed="rId3"/>
          <a:stretch>
            <a:fillRect/>
          </a:stretch>
        </p:blipFill>
        <p:spPr>
          <a:xfrm>
            <a:off x="1074420" y="4937760"/>
            <a:ext cx="411480" cy="411480"/>
          </a:xfrm>
          <a:prstGeom prst="rect">
            <a:avLst/>
          </a:prstGeom>
        </p:spPr>
      </p:pic>
      <p:sp>
        <p:nvSpPr>
          <p:cNvPr id="31" name="Competition text"/>
          <p:cNvSpPr txBox="1"/>
          <p:nvPr/>
        </p:nvSpPr>
        <p:spPr>
          <a:xfrm>
            <a:off x="1965960" y="4526280"/>
            <a:ext cx="9418320" cy="1252728"/>
          </a:xfrm>
          <a:prstGeom prst="rect">
            <a:avLst/>
          </a:prstGeom>
          <a:noFill/>
          <a:ln/>
        </p:spPr>
        <p:txBody>
          <a:bodyPr wrap="square" lIns="0" tIns="0" rIns="0" bIns="0" rtlCol="0" anchor="ctr"/>
          <a:lstStyle/>
          <a:p>
            <a:pPr marL="0" indent="0">
              <a:buNone/>
            </a:pPr>
            <a:r>
              <a:rPr lang="en-US" sz="1900">
                <a:solidFill>
                  <a:schemeClr val="bg1"/>
                </a:solidFill>
              </a:rPr>
              <a:t>They make recycling possible. We make people want to do it, and we can partner with them instead of fighting them.</a:t>
            </a:r>
          </a:p>
        </p:txBody>
      </p:sp>
      <p:sp>
        <p:nvSpPr>
          <p:cNvPr id="32"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a:solidFill>
                  <a:schemeClr val="accent5"/>
                </a:solidFill>
              </a:rPr>
              <a:t>Sources: mr-green.ch, preispirat.ch (Mr. Green); Abfall-Info Appenzell I.Rh. 2026 (Kuh-Bag); App Store listing (IGORA Recycling Map)</a:t>
            </a:r>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graphicFrame>
        <p:nvGraphicFramePr>
          <p:cNvPr id="34" name="Competition table"/>
          <p:cNvGraphicFramePr>
            <a:graphicFrameLocks noGrp="1"/>
          </p:cNvGraphicFramePr>
          <p:nvPr/>
        </p:nvGraphicFramePr>
        <p:xfrm>
          <a:off x="548640" y="1737360"/>
          <a:ext cx="11064239" cy="2499360"/>
        </p:xfrm>
        <a:graphic>
          <a:graphicData uri="http://schemas.openxmlformats.org/drawingml/2006/table">
            <a:tbl>
              <a:tblPr>
                <a:tableStyleId>{5C22544A-7EE6-4342-B048-85BDC9FD1C3A}</a:tableStyleId>
              </a:tblPr>
              <a:tblGrid>
                <a:gridCol w="374903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57200">
                <a:tc>
                  <a:txBody>
                    <a:bodyPr/>
                    <a:lstStyle/>
                    <a:p>
                      <a:pPr algn="l"/>
                      <a:endParaRPr/>
                    </a:p>
                  </a:txBody>
                  <a:tcPr marL="182880" marT="27432" marB="27432" anchor="ctr">
                    <a:solidFill>
                      <a:srgbClr val="14342B"/>
                    </a:solidFill>
                  </a:tcPr>
                </a:tc>
                <a:tc>
                  <a:txBody>
                    <a:bodyPr/>
                    <a:lstStyle/>
                    <a:p>
                      <a:pPr algn="ctr"/>
                      <a:r>
                        <a:rPr sz="1500" b="1">
                          <a:solidFill>
                            <a:srgbClr val="FFFFFF"/>
                          </a:solidFill>
                        </a:rPr>
                        <a:t>Free for users</a:t>
                      </a:r>
                    </a:p>
                  </a:txBody>
                  <a:tcPr marL="182880" marT="27432" marB="27432" anchor="ctr">
                    <a:solidFill>
                      <a:srgbClr val="14342B"/>
                    </a:solidFill>
                  </a:tcPr>
                </a:tc>
                <a:tc>
                  <a:txBody>
                    <a:bodyPr/>
                    <a:lstStyle/>
                    <a:p>
                      <a:pPr algn="ctr"/>
                      <a:r>
                        <a:rPr sz="1500" b="1">
                          <a:solidFill>
                            <a:srgbClr val="FFFFFF"/>
                          </a:solidFill>
                        </a:rPr>
                        <a:t>Rewards</a:t>
                      </a:r>
                    </a:p>
                  </a:txBody>
                  <a:tcPr marL="182880" marT="27432" marB="27432" anchor="ctr">
                    <a:solidFill>
                      <a:srgbClr val="14342B"/>
                    </a:solidFill>
                  </a:tcPr>
                </a:tc>
                <a:tc>
                  <a:txBody>
                    <a:bodyPr/>
                    <a:lstStyle/>
                    <a:p>
                      <a:pPr algn="ctr"/>
                      <a:r>
                        <a:rPr sz="1500" b="1">
                          <a:solidFill>
                            <a:srgbClr val="FFFFFF"/>
                          </a:solidFill>
                        </a:rPr>
                        <a:t>Community &amp; challenges</a:t>
                      </a:r>
                    </a:p>
                  </a:txBody>
                  <a:tcPr marL="182880" marT="27432" marB="27432" anchor="ctr">
                    <a:solidFill>
                      <a:srgbClr val="14342B"/>
                    </a:solidFill>
                  </a:tcPr>
                </a:tc>
                <a:tc>
                  <a:txBody>
                    <a:bodyPr/>
                    <a:lstStyle/>
                    <a:p>
                      <a:pPr algn="ctr"/>
                      <a:r>
                        <a:rPr sz="1500" b="1">
                          <a:solidFill>
                            <a:srgbClr val="FFFFFF"/>
                          </a:solidFill>
                        </a:rPr>
                        <a:t>Shows where to recycle</a:t>
                      </a:r>
                    </a:p>
                  </a:txBody>
                  <a:tcPr marL="182880" marT="27432" marB="27432" anchor="ctr">
                    <a:solidFill>
                      <a:srgbClr val="14342B"/>
                    </a:solidFill>
                  </a:tcPr>
                </a:tc>
                <a:extLst>
                  <a:ext uri="{0D108BD9-81ED-4DB2-BD59-A6C34878D82A}">
                    <a16:rowId xmlns:a16="http://schemas.microsoft.com/office/drawing/2014/main" val="10000"/>
                  </a:ext>
                </a:extLst>
              </a:tr>
              <a:tr h="475488">
                <a:tc>
                  <a:txBody>
                    <a:bodyPr/>
                    <a:lstStyle/>
                    <a:p>
                      <a:pPr algn="l"/>
                      <a:r>
                        <a:rPr sz="1700" b="1">
                          <a:solidFill>
                            <a:srgbClr val="14342B"/>
                          </a:solidFill>
                        </a:rPr>
                        <a:t>RECYCL IT</a:t>
                      </a:r>
                    </a:p>
                    <a:p>
                      <a:pPr algn="l"/>
                      <a:r>
                        <a:rPr sz="1200" b="0">
                          <a:solidFill>
                            <a:srgbClr val="4F6159"/>
                          </a:solidFill>
                        </a:rPr>
                        <a:t>our app</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extLst>
                  <a:ext uri="{0D108BD9-81ED-4DB2-BD59-A6C34878D82A}">
                    <a16:rowId xmlns:a16="http://schemas.microsoft.com/office/drawing/2014/main" val="10001"/>
                  </a:ext>
                </a:extLst>
              </a:tr>
              <a:tr h="475488">
                <a:tc>
                  <a:txBody>
                    <a:bodyPr/>
                    <a:lstStyle/>
                    <a:p>
                      <a:pPr algn="l"/>
                      <a:r>
                        <a:rPr sz="1700" b="1">
                          <a:solidFill>
                            <a:srgbClr val="14342B"/>
                          </a:solidFill>
                        </a:rPr>
                        <a:t>Mr. Green</a:t>
                      </a:r>
                    </a:p>
                    <a:p>
                      <a:pPr algn="l"/>
                      <a:r>
                        <a:rPr sz="1200" b="0">
                          <a:solidFill>
                            <a:srgbClr val="4F6159"/>
                          </a:solidFill>
                        </a:rPr>
                        <a:t>pickup subscription, from CHF 8.95/month</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extLst>
                  <a:ext uri="{0D108BD9-81ED-4DB2-BD59-A6C34878D82A}">
                    <a16:rowId xmlns:a16="http://schemas.microsoft.com/office/drawing/2014/main" val="10002"/>
                  </a:ext>
                </a:extLst>
              </a:tr>
              <a:tr h="475488">
                <a:tc>
                  <a:txBody>
                    <a:bodyPr/>
                    <a:lstStyle/>
                    <a:p>
                      <a:pPr algn="l"/>
                      <a:r>
                        <a:rPr sz="1700" b="1">
                          <a:solidFill>
                            <a:srgbClr val="14342B"/>
                          </a:solidFill>
                        </a:rPr>
                        <a:t>Kuh-Bag</a:t>
                      </a:r>
                    </a:p>
                    <a:p>
                      <a:pPr algn="l"/>
                      <a:r>
                        <a:rPr sz="1200" b="0">
                          <a:solidFill>
                            <a:srgbClr val="4F6159"/>
                          </a:solidFill>
                        </a:rPr>
                        <a:t>plastic collection bag, 130 towns</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extLst>
                  <a:ext uri="{0D108BD9-81ED-4DB2-BD59-A6C34878D82A}">
                    <a16:rowId xmlns:a16="http://schemas.microsoft.com/office/drawing/2014/main" val="10003"/>
                  </a:ext>
                </a:extLst>
              </a:tr>
              <a:tr h="475488">
                <a:tc>
                  <a:txBody>
                    <a:bodyPr/>
                    <a:lstStyle/>
                    <a:p>
                      <a:pPr algn="l"/>
                      <a:r>
                        <a:rPr sz="1700" b="1">
                          <a:solidFill>
                            <a:srgbClr val="14342B"/>
                          </a:solidFill>
                        </a:rPr>
                        <a:t>IGORA Recycling Map</a:t>
                      </a:r>
                    </a:p>
                    <a:p>
                      <a:pPr algn="l"/>
                      <a:r>
                        <a:rPr sz="1200" b="0">
                          <a:solidFill>
                            <a:srgbClr val="4F6159"/>
                          </a:solidFill>
                        </a:rPr>
                        <a:t>map of 16’000+ collection points</a:t>
                      </a:r>
                    </a:p>
                  </a:txBody>
                  <a:tcPr marL="182880" marT="27432" marB="27432" anchor="ctr">
                    <a:solidFill>
                      <a:srgbClr val="EEF4EE"/>
                    </a:solidFill>
                  </a:tcPr>
                </a:tc>
                <a:tc>
                  <a:txBody>
                    <a:bodyPr/>
                    <a:lstStyle/>
                    <a:p>
                      <a:pPr algn="ctr"/>
                      <a:r>
                        <a:rPr sz="2400" b="1">
                          <a:solidFill>
                            <a:srgbClr val="14342B"/>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14342B"/>
                          </a:solidFill>
                        </a:rPr>
                        <a:t>✓</a:t>
                      </a:r>
                    </a:p>
                  </a:txBody>
                  <a:tcPr marL="182880" marT="27432" marB="27432" anchor="ctr">
                    <a:solidFill>
                      <a:srgbClr val="EEF4EE"/>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Go-to-Market</a:t>
            </a:r>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a:solidFill>
                  <a:schemeClr val="tx2"/>
                </a:solidFill>
              </a:rPr>
              <a:t>Target: 14–25-year-olds. First users: HSLU campus &amp; schools in Rotkreuz.</a:t>
            </a:r>
          </a:p>
        </p:txBody>
      </p:sp>
      <p:sp>
        <p:nvSpPr>
          <p:cNvPr id="4" name="Pilot pill"/>
          <p:cNvSpPr/>
          <p:nvPr/>
        </p:nvSpPr>
        <p:spPr>
          <a:xfrm>
            <a:off x="548640" y="1828800"/>
            <a:ext cx="3611880" cy="457200"/>
          </a:xfrm>
          <a:prstGeom prst="roundRect">
            <a:avLst>
              <a:gd name="adj" fmla="val 50000"/>
            </a:avLst>
          </a:prstGeom>
          <a:solidFill>
            <a:schemeClr val="bg2"/>
          </a:solidFill>
          <a:ln/>
        </p:spPr>
        <p:txBody>
          <a:bodyPr/>
          <a:lstStyle/>
          <a:p>
            <a:endParaRPr lang="en-CH"/>
          </a:p>
        </p:txBody>
      </p:sp>
      <p:sp>
        <p:nvSpPr>
          <p:cNvPr id="5" name="Pilot label"/>
          <p:cNvSpPr txBox="1"/>
          <p:nvPr/>
        </p:nvSpPr>
        <p:spPr>
          <a:xfrm>
            <a:off x="548640" y="1828800"/>
            <a:ext cx="3611880" cy="457200"/>
          </a:xfrm>
          <a:prstGeom prst="rect">
            <a:avLst/>
          </a:prstGeom>
          <a:noFill/>
          <a:ln/>
        </p:spPr>
        <p:txBody>
          <a:bodyPr wrap="square" lIns="0" tIns="0" rIns="0" bIns="0" rtlCol="0" anchor="ctr"/>
          <a:lstStyle/>
          <a:p>
            <a:pPr marL="0" indent="0" algn="ctr">
              <a:buNone/>
            </a:pPr>
            <a:r>
              <a:rPr lang="en-US" sz="1600" b="1">
                <a:solidFill>
                  <a:schemeClr val="tx2"/>
                </a:solidFill>
              </a:rPr>
              <a:t>Discover</a:t>
            </a:r>
          </a:p>
        </p:txBody>
      </p:sp>
      <p:sp>
        <p:nvSpPr>
          <p:cNvPr id="6" name="Learn pill"/>
          <p:cNvSpPr/>
          <p:nvPr/>
        </p:nvSpPr>
        <p:spPr>
          <a:xfrm>
            <a:off x="4297680" y="1828800"/>
            <a:ext cx="3611880" cy="457200"/>
          </a:xfrm>
          <a:prstGeom prst="roundRect">
            <a:avLst>
              <a:gd name="adj" fmla="val 50000"/>
            </a:avLst>
          </a:prstGeom>
          <a:solidFill>
            <a:schemeClr val="bg2"/>
          </a:solidFill>
          <a:ln/>
        </p:spPr>
        <p:txBody>
          <a:bodyPr/>
          <a:lstStyle/>
          <a:p>
            <a:endParaRPr lang="en-CH"/>
          </a:p>
        </p:txBody>
      </p:sp>
      <p:sp>
        <p:nvSpPr>
          <p:cNvPr id="7" name="Learn label"/>
          <p:cNvSpPr txBox="1"/>
          <p:nvPr/>
        </p:nvSpPr>
        <p:spPr>
          <a:xfrm>
            <a:off x="4297680" y="1828800"/>
            <a:ext cx="3611880" cy="457200"/>
          </a:xfrm>
          <a:prstGeom prst="rect">
            <a:avLst/>
          </a:prstGeom>
          <a:noFill/>
          <a:ln/>
        </p:spPr>
        <p:txBody>
          <a:bodyPr wrap="square" lIns="0" tIns="0" rIns="0" bIns="0" rtlCol="0" anchor="ctr"/>
          <a:lstStyle/>
          <a:p>
            <a:pPr marL="0" indent="0" algn="ctr">
              <a:buNone/>
            </a:pPr>
            <a:r>
              <a:rPr lang="en-US" sz="1600" b="1">
                <a:solidFill>
                  <a:schemeClr val="tx2"/>
                </a:solidFill>
              </a:rPr>
              <a:t>Play</a:t>
            </a:r>
          </a:p>
        </p:txBody>
      </p:sp>
      <p:sp>
        <p:nvSpPr>
          <p:cNvPr id="8" name="Grow pill"/>
          <p:cNvSpPr/>
          <p:nvPr/>
        </p:nvSpPr>
        <p:spPr>
          <a:xfrm>
            <a:off x="8046720" y="1828800"/>
            <a:ext cx="3611880" cy="457200"/>
          </a:xfrm>
          <a:prstGeom prst="roundRect">
            <a:avLst>
              <a:gd name="adj" fmla="val 50000"/>
            </a:avLst>
          </a:prstGeom>
          <a:solidFill>
            <a:schemeClr val="bg2"/>
          </a:solidFill>
          <a:ln/>
        </p:spPr>
        <p:txBody>
          <a:bodyPr/>
          <a:lstStyle/>
          <a:p>
            <a:endParaRPr lang="en-CH"/>
          </a:p>
        </p:txBody>
      </p:sp>
      <p:sp>
        <p:nvSpPr>
          <p:cNvPr id="9" name="Grow label"/>
          <p:cNvSpPr txBox="1"/>
          <p:nvPr/>
        </p:nvSpPr>
        <p:spPr>
          <a:xfrm>
            <a:off x="8046720" y="1828800"/>
            <a:ext cx="3611880" cy="457200"/>
          </a:xfrm>
          <a:prstGeom prst="rect">
            <a:avLst/>
          </a:prstGeom>
          <a:noFill/>
          <a:ln/>
        </p:spPr>
        <p:txBody>
          <a:bodyPr wrap="square" lIns="0" tIns="0" rIns="0" bIns="0" rtlCol="0" anchor="ctr"/>
          <a:lstStyle/>
          <a:p>
            <a:pPr marL="0" indent="0" algn="ctr">
              <a:buNone/>
            </a:pPr>
            <a:r>
              <a:rPr lang="en-US" sz="1600" b="1">
                <a:solidFill>
                  <a:schemeClr val="tx2"/>
                </a:solidFill>
              </a:rPr>
              <a:t>Come back</a:t>
            </a:r>
          </a:p>
        </p:txBody>
      </p:sp>
      <p:sp>
        <p:nvSpPr>
          <p:cNvPr id="10" name="Timeline line"/>
          <p:cNvSpPr/>
          <p:nvPr/>
        </p:nvSpPr>
        <p:spPr>
          <a:xfrm>
            <a:off x="1097280" y="2862072"/>
            <a:ext cx="9966960" cy="54864"/>
          </a:xfrm>
          <a:prstGeom prst="rect">
            <a:avLst/>
          </a:prstGeom>
          <a:solidFill>
            <a:schemeClr val="accent4"/>
          </a:solidFill>
          <a:ln/>
        </p:spPr>
        <p:txBody>
          <a:bodyPr/>
          <a:lstStyle/>
          <a:p>
            <a:endParaRPr lang="en-CH"/>
          </a:p>
        </p:txBody>
      </p:sp>
      <p:sp>
        <p:nvSpPr>
          <p:cNvPr id="11" name="Node 1"/>
          <p:cNvSpPr/>
          <p:nvPr/>
        </p:nvSpPr>
        <p:spPr>
          <a:xfrm>
            <a:off x="1097280" y="2560320"/>
            <a:ext cx="658368" cy="658368"/>
          </a:xfrm>
          <a:prstGeom prst="ellipse">
            <a:avLst/>
          </a:prstGeom>
          <a:solidFill>
            <a:srgbClr val="F2A33A"/>
          </a:solidFill>
          <a:ln/>
        </p:spPr>
        <p:txBody>
          <a:bodyPr/>
          <a:lstStyle/>
          <a:p>
            <a:endParaRPr lang="en-CH"/>
          </a:p>
        </p:txBody>
      </p:sp>
      <p:sp>
        <p:nvSpPr>
          <p:cNvPr id="12" name="Node number 1"/>
          <p:cNvSpPr txBox="1"/>
          <p:nvPr/>
        </p:nvSpPr>
        <p:spPr>
          <a:xfrm>
            <a:off x="1097280" y="2560320"/>
            <a:ext cx="658368" cy="658368"/>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13" name="Step 1"/>
          <p:cNvSpPr txBox="1"/>
          <p:nvPr/>
        </p:nvSpPr>
        <p:spPr>
          <a:xfrm>
            <a:off x="548640" y="3429000"/>
            <a:ext cx="1755648" cy="1325880"/>
          </a:xfrm>
          <a:prstGeom prst="rect">
            <a:avLst/>
          </a:prstGeom>
          <a:noFill/>
          <a:ln/>
        </p:spPr>
        <p:txBody>
          <a:bodyPr wrap="square" lIns="0" tIns="0" rIns="0" bIns="0" rtlCol="0" anchor="t"/>
          <a:lstStyle/>
          <a:p>
            <a:pPr marL="0" indent="0" algn="ctr">
              <a:buNone/>
            </a:pPr>
            <a:r>
              <a:rPr lang="en-US" sz="1500">
                <a:solidFill>
                  <a:schemeClr val="tx1"/>
                </a:solidFill>
              </a:rPr>
              <a:t>Lea (16) sees our QR poster at school</a:t>
            </a:r>
          </a:p>
        </p:txBody>
      </p:sp>
      <p:sp>
        <p:nvSpPr>
          <p:cNvPr id="14" name="Node 2"/>
          <p:cNvSpPr/>
          <p:nvPr/>
        </p:nvSpPr>
        <p:spPr>
          <a:xfrm>
            <a:off x="2971800" y="2560320"/>
            <a:ext cx="658368" cy="658368"/>
          </a:xfrm>
          <a:prstGeom prst="ellipse">
            <a:avLst/>
          </a:prstGeom>
          <a:solidFill>
            <a:srgbClr val="F2A33A"/>
          </a:solidFill>
          <a:ln/>
        </p:spPr>
        <p:txBody>
          <a:bodyPr/>
          <a:lstStyle/>
          <a:p>
            <a:endParaRPr lang="en-CH"/>
          </a:p>
        </p:txBody>
      </p:sp>
      <p:sp>
        <p:nvSpPr>
          <p:cNvPr id="15" name="Node number 2"/>
          <p:cNvSpPr txBox="1"/>
          <p:nvPr/>
        </p:nvSpPr>
        <p:spPr>
          <a:xfrm>
            <a:off x="2971800" y="2560320"/>
            <a:ext cx="658368" cy="658368"/>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6" name="Step 2"/>
          <p:cNvSpPr txBox="1"/>
          <p:nvPr/>
        </p:nvSpPr>
        <p:spPr>
          <a:xfrm>
            <a:off x="2423160" y="3429000"/>
            <a:ext cx="1755648" cy="1325880"/>
          </a:xfrm>
          <a:prstGeom prst="rect">
            <a:avLst/>
          </a:prstGeom>
          <a:noFill/>
          <a:ln/>
        </p:spPr>
        <p:txBody>
          <a:bodyPr wrap="square" lIns="0" tIns="0" rIns="0" bIns="0" rtlCol="0" anchor="t"/>
          <a:lstStyle/>
          <a:p>
            <a:pPr marL="0" indent="0" algn="ctr">
              <a:buNone/>
            </a:pPr>
            <a:r>
              <a:rPr lang="en-US" sz="1500">
                <a:solidFill>
                  <a:schemeClr val="tx1"/>
                </a:solidFill>
              </a:rPr>
              <a:t>Downloads the app and joins her class team</a:t>
            </a:r>
          </a:p>
        </p:txBody>
      </p:sp>
      <p:sp>
        <p:nvSpPr>
          <p:cNvPr id="17" name="Node 3"/>
          <p:cNvSpPr/>
          <p:nvPr/>
        </p:nvSpPr>
        <p:spPr>
          <a:xfrm>
            <a:off x="4846320" y="2560320"/>
            <a:ext cx="658368" cy="658368"/>
          </a:xfrm>
          <a:prstGeom prst="ellipse">
            <a:avLst/>
          </a:prstGeom>
          <a:solidFill>
            <a:srgbClr val="23704F"/>
          </a:solidFill>
          <a:ln/>
        </p:spPr>
        <p:txBody>
          <a:bodyPr/>
          <a:lstStyle/>
          <a:p>
            <a:endParaRPr lang="en-CH"/>
          </a:p>
        </p:txBody>
      </p:sp>
      <p:sp>
        <p:nvSpPr>
          <p:cNvPr id="18" name="Node number 3"/>
          <p:cNvSpPr txBox="1"/>
          <p:nvPr/>
        </p:nvSpPr>
        <p:spPr>
          <a:xfrm>
            <a:off x="484632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9" name="Step 3"/>
          <p:cNvSpPr txBox="1"/>
          <p:nvPr/>
        </p:nvSpPr>
        <p:spPr>
          <a:xfrm>
            <a:off x="4297680" y="3429000"/>
            <a:ext cx="1755648" cy="1325880"/>
          </a:xfrm>
          <a:prstGeom prst="rect">
            <a:avLst/>
          </a:prstGeom>
          <a:noFill/>
          <a:ln/>
        </p:spPr>
        <p:txBody>
          <a:bodyPr wrap="square" lIns="0" tIns="0" rIns="0" bIns="0" rtlCol="0" anchor="t"/>
          <a:lstStyle/>
          <a:p>
            <a:pPr marL="0" indent="0" algn="ctr">
              <a:buNone/>
            </a:pPr>
            <a:r>
              <a:rPr lang="en-US" sz="1500">
                <a:solidFill>
                  <a:schemeClr val="tx1"/>
                </a:solidFill>
              </a:rPr>
              <a:t>Scans the sticker at the collection point: +10 pts</a:t>
            </a:r>
          </a:p>
        </p:txBody>
      </p:sp>
      <p:sp>
        <p:nvSpPr>
          <p:cNvPr id="20" name="Node 4"/>
          <p:cNvSpPr/>
          <p:nvPr/>
        </p:nvSpPr>
        <p:spPr>
          <a:xfrm>
            <a:off x="6720840" y="2560320"/>
            <a:ext cx="658368" cy="658368"/>
          </a:xfrm>
          <a:prstGeom prst="ellipse">
            <a:avLst/>
          </a:prstGeom>
          <a:solidFill>
            <a:srgbClr val="23704F"/>
          </a:solidFill>
          <a:ln/>
        </p:spPr>
        <p:txBody>
          <a:bodyPr/>
          <a:lstStyle/>
          <a:p>
            <a:endParaRPr lang="en-CH"/>
          </a:p>
        </p:txBody>
      </p:sp>
      <p:sp>
        <p:nvSpPr>
          <p:cNvPr id="21" name="Node number 4"/>
          <p:cNvSpPr txBox="1"/>
          <p:nvPr/>
        </p:nvSpPr>
        <p:spPr>
          <a:xfrm>
            <a:off x="672084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Step 4"/>
          <p:cNvSpPr txBox="1"/>
          <p:nvPr/>
        </p:nvSpPr>
        <p:spPr>
          <a:xfrm>
            <a:off x="6172200" y="3429000"/>
            <a:ext cx="1755648" cy="1325880"/>
          </a:xfrm>
          <a:prstGeom prst="rect">
            <a:avLst/>
          </a:prstGeom>
          <a:noFill/>
          <a:ln/>
        </p:spPr>
        <p:txBody>
          <a:bodyPr wrap="square" lIns="0" tIns="0" rIns="0" bIns="0" rtlCol="0" anchor="t"/>
          <a:lstStyle/>
          <a:p>
            <a:pPr marL="0" indent="0" algn="ctr">
              <a:buNone/>
            </a:pPr>
            <a:r>
              <a:rPr lang="en-US" sz="1500">
                <a:solidFill>
                  <a:schemeClr val="tx1"/>
                </a:solidFill>
              </a:rPr>
              <a:t>Class vs. class challenge in week 2</a:t>
            </a:r>
          </a:p>
        </p:txBody>
      </p:sp>
      <p:sp>
        <p:nvSpPr>
          <p:cNvPr id="23" name="Node 5"/>
          <p:cNvSpPr/>
          <p:nvPr/>
        </p:nvSpPr>
        <p:spPr>
          <a:xfrm>
            <a:off x="8595360" y="2560320"/>
            <a:ext cx="658368" cy="658368"/>
          </a:xfrm>
          <a:prstGeom prst="ellipse">
            <a:avLst/>
          </a:prstGeom>
          <a:solidFill>
            <a:srgbClr val="23704F"/>
          </a:solidFill>
          <a:ln/>
        </p:spPr>
        <p:txBody>
          <a:bodyPr/>
          <a:lstStyle/>
          <a:p>
            <a:endParaRPr lang="en-CH"/>
          </a:p>
        </p:txBody>
      </p:sp>
      <p:sp>
        <p:nvSpPr>
          <p:cNvPr id="24" name="Node number 5"/>
          <p:cNvSpPr txBox="1"/>
          <p:nvPr/>
        </p:nvSpPr>
        <p:spPr>
          <a:xfrm>
            <a:off x="859536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5" name="Step 5"/>
          <p:cNvSpPr txBox="1"/>
          <p:nvPr/>
        </p:nvSpPr>
        <p:spPr>
          <a:xfrm>
            <a:off x="8046720" y="3429000"/>
            <a:ext cx="1755648" cy="1325880"/>
          </a:xfrm>
          <a:prstGeom prst="rect">
            <a:avLst/>
          </a:prstGeom>
          <a:noFill/>
          <a:ln/>
        </p:spPr>
        <p:txBody>
          <a:bodyPr wrap="square" lIns="0" tIns="0" rIns="0" bIns="0" rtlCol="0" anchor="t"/>
          <a:lstStyle/>
          <a:p>
            <a:pPr marL="0" indent="0" algn="ctr">
              <a:buNone/>
            </a:pPr>
            <a:r>
              <a:rPr lang="en-US" sz="1500">
                <a:solidFill>
                  <a:schemeClr val="tx1"/>
                </a:solidFill>
              </a:rPr>
              <a:t>Redeems 100 pts: free drink at a local café</a:t>
            </a:r>
          </a:p>
        </p:txBody>
      </p:sp>
      <p:sp>
        <p:nvSpPr>
          <p:cNvPr id="26" name="Node 6"/>
          <p:cNvSpPr/>
          <p:nvPr/>
        </p:nvSpPr>
        <p:spPr>
          <a:xfrm>
            <a:off x="10469880" y="2560320"/>
            <a:ext cx="658368" cy="658368"/>
          </a:xfrm>
          <a:prstGeom prst="ellipse">
            <a:avLst/>
          </a:prstGeom>
          <a:solidFill>
            <a:srgbClr val="23704F"/>
          </a:solidFill>
          <a:ln/>
        </p:spPr>
        <p:txBody>
          <a:bodyPr/>
          <a:lstStyle/>
          <a:p>
            <a:endParaRPr lang="en-CH"/>
          </a:p>
        </p:txBody>
      </p:sp>
      <p:sp>
        <p:nvSpPr>
          <p:cNvPr id="27" name="Node number 6"/>
          <p:cNvSpPr txBox="1"/>
          <p:nvPr/>
        </p:nvSpPr>
        <p:spPr>
          <a:xfrm>
            <a:off x="1046988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8" name="Step 6"/>
          <p:cNvSpPr txBox="1"/>
          <p:nvPr/>
        </p:nvSpPr>
        <p:spPr>
          <a:xfrm>
            <a:off x="9921240" y="3429000"/>
            <a:ext cx="1755648" cy="1325880"/>
          </a:xfrm>
          <a:prstGeom prst="rect">
            <a:avLst/>
          </a:prstGeom>
          <a:noFill/>
          <a:ln/>
        </p:spPr>
        <p:txBody>
          <a:bodyPr wrap="square" lIns="0" tIns="0" rIns="0" bIns="0" rtlCol="0" anchor="t"/>
          <a:lstStyle/>
          <a:p>
            <a:pPr marL="0" indent="0" algn="ctr">
              <a:buNone/>
            </a:pPr>
            <a:r>
              <a:rPr lang="en-US" sz="1500">
                <a:solidFill>
                  <a:schemeClr val="tx1"/>
                </a:solidFill>
              </a:rPr>
              <a:t>Shares it on Instagram, a friend joins</a:t>
            </a:r>
          </a:p>
        </p:txBody>
      </p:sp>
      <p:sp>
        <p:nvSpPr>
          <p:cNvPr id="29" name="Pilot strip"/>
          <p:cNvSpPr/>
          <p:nvPr/>
        </p:nvSpPr>
        <p:spPr>
          <a:xfrm>
            <a:off x="548640" y="4983480"/>
            <a:ext cx="11064240" cy="777240"/>
          </a:xfrm>
          <a:prstGeom prst="roundRect">
            <a:avLst>
              <a:gd name="adj" fmla="val 17647"/>
            </a:avLst>
          </a:prstGeom>
          <a:solidFill>
            <a:srgbClr val="14342B"/>
          </a:solidFill>
          <a:ln/>
        </p:spPr>
        <p:txBody>
          <a:bodyPr/>
          <a:lstStyle/>
          <a:p>
            <a:endParaRPr lang="en-CH"/>
          </a:p>
        </p:txBody>
      </p:sp>
      <p:sp>
        <p:nvSpPr>
          <p:cNvPr id="30" name="Pilot text"/>
          <p:cNvSpPr txBox="1"/>
          <p:nvPr/>
        </p:nvSpPr>
        <p:spPr>
          <a:xfrm>
            <a:off x="868680" y="4983480"/>
            <a:ext cx="10515600" cy="777240"/>
          </a:xfrm>
          <a:prstGeom prst="rect">
            <a:avLst/>
          </a:prstGeom>
          <a:noFill/>
          <a:ln/>
        </p:spPr>
        <p:txBody>
          <a:bodyPr wrap="square" lIns="0" tIns="0" rIns="0" bIns="0" rtlCol="0" anchor="ctr"/>
          <a:lstStyle/>
          <a:p>
            <a:pPr marL="0" indent="0">
              <a:buNone/>
            </a:pPr>
            <a:r>
              <a:rPr lang="en-US" sz="1700" b="1">
                <a:solidFill>
                  <a:schemeClr val="accent1"/>
                </a:solidFill>
              </a:rPr>
              <a:t>Channels: </a:t>
            </a:r>
            <a:r>
              <a:rPr lang="en-CH" sz="1700">
                <a:solidFill>
                  <a:schemeClr val="bg1"/>
                </a:solidFill>
              </a:rPr>
              <a:t>school challenges · QR stickers at collection points · TikTok &amp; Instagram · Rischer Zeitung</a:t>
            </a:r>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Progress &amp; Next Steps</a:t>
            </a:r>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a:solidFill>
                  <a:schemeClr val="tx2"/>
                </a:solidFill>
              </a:rPr>
              <a:t>Built in 24 hours. Ready for a pilot in Rotkreuz.</a:t>
            </a:r>
          </a:p>
        </p:txBody>
      </p:sp>
      <p:sp>
        <p:nvSpPr>
          <p:cNvPr id="4" name="Partner card 1"/>
          <p:cNvSpPr/>
          <p:nvPr/>
        </p:nvSpPr>
        <p:spPr>
          <a:xfrm>
            <a:off x="548640" y="1874520"/>
            <a:ext cx="3566160" cy="2743200"/>
          </a:xfrm>
          <a:prstGeom prst="roundRect">
            <a:avLst>
              <a:gd name="adj" fmla="val 5000"/>
            </a:avLst>
          </a:prstGeom>
          <a:solidFill>
            <a:srgbClr val="EEF4EE"/>
          </a:solidFill>
          <a:ln/>
        </p:spPr>
        <p:txBody>
          <a:bodyPr/>
          <a:lstStyle/>
          <a:p>
            <a:endParaRPr lang="en-CH"/>
          </a:p>
        </p:txBody>
      </p:sp>
      <p:sp>
        <p:nvSpPr>
          <p:cNvPr id="5" name="Municipalities circle"/>
          <p:cNvSpPr/>
          <p:nvPr/>
        </p:nvSpPr>
        <p:spPr>
          <a:xfrm>
            <a:off x="822960" y="2103120"/>
            <a:ext cx="777240" cy="777240"/>
          </a:xfrm>
          <a:prstGeom prst="ellipse">
            <a:avLst/>
          </a:prstGeom>
          <a:solidFill>
            <a:srgbClr val="23704F"/>
          </a:solidFill>
          <a:ln/>
        </p:spPr>
        <p:txBody>
          <a:bodyPr/>
          <a:lstStyle/>
          <a:p>
            <a:endParaRPr lang="en-CH"/>
          </a:p>
        </p:txBody>
      </p:sp>
      <p:pic>
        <p:nvPicPr>
          <p:cNvPr id="6" name="Municipalities icon" descr="Municipalities"/>
          <p:cNvPicPr>
            <a:picLocks noChangeAspect="1"/>
          </p:cNvPicPr>
          <p:nvPr/>
        </p:nvPicPr>
        <p:blipFill>
          <a:blip r:embed="rId3"/>
          <a:stretch>
            <a:fillRect/>
          </a:stretch>
        </p:blipFill>
        <p:spPr>
          <a:xfrm>
            <a:off x="1017270" y="2297430"/>
            <a:ext cx="388620" cy="388620"/>
          </a:xfrm>
          <a:prstGeom prst="rect">
            <a:avLst/>
          </a:prstGeom>
        </p:spPr>
      </p:pic>
      <p:sp>
        <p:nvSpPr>
          <p:cNvPr id="7" name="Municipalities header"/>
          <p:cNvSpPr txBox="1"/>
          <p:nvPr/>
        </p:nvSpPr>
        <p:spPr>
          <a:xfrm>
            <a:off x="822960" y="3017520"/>
            <a:ext cx="3017520" cy="457200"/>
          </a:xfrm>
          <a:prstGeom prst="rect">
            <a:avLst/>
          </a:prstGeom>
          <a:noFill/>
          <a:ln/>
        </p:spPr>
        <p:txBody>
          <a:bodyPr wrap="square" lIns="0" tIns="0" rIns="0" bIns="0" rtlCol="0" anchor="ctr"/>
          <a:lstStyle/>
          <a:p>
            <a:pPr marL="0" indent="0">
              <a:buNone/>
            </a:pPr>
            <a:r>
              <a:rPr lang="en-US" sz="2200" b="1">
                <a:solidFill>
                  <a:schemeClr val="tx1"/>
                </a:solidFill>
              </a:rPr>
              <a:t>Today</a:t>
            </a:r>
          </a:p>
        </p:txBody>
      </p:sp>
      <p:sp>
        <p:nvSpPr>
          <p:cNvPr id="8" name="Municipalities text"/>
          <p:cNvSpPr txBox="1"/>
          <p:nvPr/>
        </p:nvSpPr>
        <p:spPr>
          <a:xfrm>
            <a:off x="822960" y="3520440"/>
            <a:ext cx="3017520" cy="1005840"/>
          </a:xfrm>
          <a:prstGeom prst="rect">
            <a:avLst/>
          </a:prstGeom>
          <a:noFill/>
          <a:ln/>
        </p:spPr>
        <p:txBody>
          <a:bodyPr wrap="square" lIns="0" tIns="0" rIns="0" bIns="0" rtlCol="0" anchor="t"/>
          <a:lstStyle/>
          <a:p>
            <a:pPr marL="0" indent="0">
              <a:buNone/>
            </a:pPr>
            <a:r>
              <a:rPr lang="en-US" sz="1600">
                <a:solidFill>
                  <a:schemeClr val="accent5"/>
                </a:solidFill>
              </a:rPr>
              <a:t>Working app: scan → points → leaderboard → reward. Survey: </a:t>
            </a:r>
            <a:r>
              <a:rPr lang="en-US" sz="1600" b="1">
                <a:solidFill>
                  <a:schemeClr val="accent1"/>
                </a:solidFill>
              </a:rPr>
              <a:t>[X] of [Y]</a:t>
            </a:r>
            <a:r>
              <a:rPr lang="en-US" sz="1600">
                <a:solidFill>
                  <a:schemeClr val="accent5"/>
                </a:solidFill>
              </a:rPr>
              <a:t> want rewards.</a:t>
            </a:r>
          </a:p>
        </p:txBody>
      </p:sp>
      <p:sp>
        <p:nvSpPr>
          <p:cNvPr id="9" name="Partner card 2"/>
          <p:cNvSpPr/>
          <p:nvPr/>
        </p:nvSpPr>
        <p:spPr>
          <a:xfrm>
            <a:off x="4297680" y="1874520"/>
            <a:ext cx="3566160" cy="2743200"/>
          </a:xfrm>
          <a:prstGeom prst="roundRect">
            <a:avLst>
              <a:gd name="adj" fmla="val 5000"/>
            </a:avLst>
          </a:prstGeom>
          <a:solidFill>
            <a:srgbClr val="EEF4EE"/>
          </a:solidFill>
          <a:ln/>
        </p:spPr>
        <p:txBody>
          <a:bodyPr/>
          <a:lstStyle/>
          <a:p>
            <a:endParaRPr lang="en-CH"/>
          </a:p>
        </p:txBody>
      </p:sp>
      <p:sp>
        <p:nvSpPr>
          <p:cNvPr id="10" name="Businesses circle"/>
          <p:cNvSpPr/>
          <p:nvPr/>
        </p:nvSpPr>
        <p:spPr>
          <a:xfrm>
            <a:off x="4572000" y="2103120"/>
            <a:ext cx="777240" cy="777240"/>
          </a:xfrm>
          <a:prstGeom prst="ellipse">
            <a:avLst/>
          </a:prstGeom>
          <a:solidFill>
            <a:srgbClr val="23704F"/>
          </a:solidFill>
          <a:ln/>
        </p:spPr>
        <p:txBody>
          <a:bodyPr/>
          <a:lstStyle/>
          <a:p>
            <a:endParaRPr lang="en-CH"/>
          </a:p>
        </p:txBody>
      </p:sp>
      <p:pic>
        <p:nvPicPr>
          <p:cNvPr id="11" name="Businesses icon" descr="Businesses"/>
          <p:cNvPicPr>
            <a:picLocks noChangeAspect="1"/>
          </p:cNvPicPr>
          <p:nvPr/>
        </p:nvPicPr>
        <p:blipFill>
          <a:blip r:embed="rId4"/>
          <a:stretch>
            <a:fillRect/>
          </a:stretch>
        </p:blipFill>
        <p:spPr>
          <a:xfrm>
            <a:off x="4766310" y="2297430"/>
            <a:ext cx="388620" cy="388620"/>
          </a:xfrm>
          <a:prstGeom prst="rect">
            <a:avLst/>
          </a:prstGeom>
        </p:spPr>
      </p:pic>
      <p:sp>
        <p:nvSpPr>
          <p:cNvPr id="12" name="Businesses header"/>
          <p:cNvSpPr txBox="1"/>
          <p:nvPr/>
        </p:nvSpPr>
        <p:spPr>
          <a:xfrm>
            <a:off x="4572000" y="3017520"/>
            <a:ext cx="3017520" cy="457200"/>
          </a:xfrm>
          <a:prstGeom prst="rect">
            <a:avLst/>
          </a:prstGeom>
          <a:noFill/>
          <a:ln/>
        </p:spPr>
        <p:txBody>
          <a:bodyPr wrap="square" lIns="0" tIns="0" rIns="0" bIns="0" rtlCol="0" anchor="ctr"/>
          <a:lstStyle/>
          <a:p>
            <a:pPr marL="0" indent="0">
              <a:buNone/>
            </a:pPr>
            <a:r>
              <a:rPr lang="en-US" sz="2200" b="1">
                <a:solidFill>
                  <a:schemeClr val="tx1"/>
                </a:solidFill>
              </a:rPr>
              <a:t>Next 3 months</a:t>
            </a:r>
          </a:p>
        </p:txBody>
      </p:sp>
      <p:sp>
        <p:nvSpPr>
          <p:cNvPr id="13" name="Businesses text"/>
          <p:cNvSpPr txBox="1"/>
          <p:nvPr/>
        </p:nvSpPr>
        <p:spPr>
          <a:xfrm>
            <a:off x="4572000" y="3520440"/>
            <a:ext cx="3017520" cy="1005840"/>
          </a:xfrm>
          <a:prstGeom prst="rect">
            <a:avLst/>
          </a:prstGeom>
          <a:noFill/>
          <a:ln/>
        </p:spPr>
        <p:txBody>
          <a:bodyPr wrap="square" lIns="0" tIns="0" rIns="0" bIns="0" rtlCol="0" anchor="t"/>
          <a:lstStyle/>
          <a:p>
            <a:pPr marL="0" indent="0">
              <a:buNone/>
            </a:pPr>
            <a:r>
              <a:rPr lang="en-US" sz="1600">
                <a:solidFill>
                  <a:schemeClr val="accent5"/>
                </a:solidFill>
              </a:rPr>
              <a:t>Pitch to Gemeinde Risch. QR stickers at 10 collection points. 100 pilot users.</a:t>
            </a:r>
          </a:p>
        </p:txBody>
      </p:sp>
      <p:sp>
        <p:nvSpPr>
          <p:cNvPr id="14" name="Partner card 3"/>
          <p:cNvSpPr/>
          <p:nvPr/>
        </p:nvSpPr>
        <p:spPr>
          <a:xfrm>
            <a:off x="8046720" y="1874520"/>
            <a:ext cx="3566160" cy="2743200"/>
          </a:xfrm>
          <a:prstGeom prst="roundRect">
            <a:avLst>
              <a:gd name="adj" fmla="val 5000"/>
            </a:avLst>
          </a:prstGeom>
          <a:solidFill>
            <a:srgbClr val="EEF4EE"/>
          </a:solidFill>
          <a:ln/>
        </p:spPr>
        <p:txBody>
          <a:bodyPr/>
          <a:lstStyle/>
          <a:p>
            <a:endParaRPr lang="en-CH"/>
          </a:p>
        </p:txBody>
      </p:sp>
      <p:sp>
        <p:nvSpPr>
          <p:cNvPr id="15" name="Nonprofits circle"/>
          <p:cNvSpPr/>
          <p:nvPr/>
        </p:nvSpPr>
        <p:spPr>
          <a:xfrm>
            <a:off x="8321040" y="2103120"/>
            <a:ext cx="777240" cy="777240"/>
          </a:xfrm>
          <a:prstGeom prst="ellipse">
            <a:avLst/>
          </a:prstGeom>
          <a:solidFill>
            <a:srgbClr val="23704F"/>
          </a:solidFill>
          <a:ln/>
        </p:spPr>
        <p:txBody>
          <a:bodyPr/>
          <a:lstStyle/>
          <a:p>
            <a:endParaRPr lang="en-CH"/>
          </a:p>
        </p:txBody>
      </p:sp>
      <p:pic>
        <p:nvPicPr>
          <p:cNvPr id="16" name="Nonprofits icon" descr="Nonprofits"/>
          <p:cNvPicPr>
            <a:picLocks noChangeAspect="1"/>
          </p:cNvPicPr>
          <p:nvPr/>
        </p:nvPicPr>
        <p:blipFill>
          <a:blip r:embed="rId5"/>
          <a:stretch>
            <a:fillRect/>
          </a:stretch>
        </p:blipFill>
        <p:spPr>
          <a:xfrm>
            <a:off x="8515350" y="2297430"/>
            <a:ext cx="388620" cy="388620"/>
          </a:xfrm>
          <a:prstGeom prst="rect">
            <a:avLst/>
          </a:prstGeom>
        </p:spPr>
      </p:pic>
      <p:sp>
        <p:nvSpPr>
          <p:cNvPr id="17" name="Nonprofits header"/>
          <p:cNvSpPr txBox="1"/>
          <p:nvPr/>
        </p:nvSpPr>
        <p:spPr>
          <a:xfrm>
            <a:off x="8321040" y="3017520"/>
            <a:ext cx="3017520" cy="457200"/>
          </a:xfrm>
          <a:prstGeom prst="rect">
            <a:avLst/>
          </a:prstGeom>
          <a:noFill/>
          <a:ln/>
        </p:spPr>
        <p:txBody>
          <a:bodyPr wrap="square" lIns="0" tIns="0" rIns="0" bIns="0" rtlCol="0" anchor="ctr"/>
          <a:lstStyle/>
          <a:p>
            <a:pPr marL="0" indent="0">
              <a:buNone/>
            </a:pPr>
            <a:r>
              <a:rPr lang="en-US" sz="2200" b="1">
                <a:solidFill>
                  <a:schemeClr val="tx1"/>
                </a:solidFill>
              </a:rPr>
              <a:t>Next 6 months</a:t>
            </a:r>
          </a:p>
        </p:txBody>
      </p:sp>
      <p:sp>
        <p:nvSpPr>
          <p:cNvPr id="18" name="Nonprofits text"/>
          <p:cNvSpPr txBox="1"/>
          <p:nvPr/>
        </p:nvSpPr>
        <p:spPr>
          <a:xfrm>
            <a:off x="8321040" y="3520440"/>
            <a:ext cx="3017520" cy="1005840"/>
          </a:xfrm>
          <a:prstGeom prst="rect">
            <a:avLst/>
          </a:prstGeom>
          <a:noFill/>
          <a:ln/>
        </p:spPr>
        <p:txBody>
          <a:bodyPr wrap="square" lIns="0" tIns="0" rIns="0" bIns="0" rtlCol="0" anchor="t"/>
          <a:lstStyle/>
          <a:p>
            <a:pPr marL="0" indent="0">
              <a:buNone/>
            </a:pPr>
            <a:r>
              <a:rPr lang="en-US" sz="1600">
                <a:solidFill>
                  <a:schemeClr val="accent5"/>
                </a:solidFill>
              </a:rPr>
              <a:t>5 local sponsors. Measure who comes back. Second town.</a:t>
            </a:r>
          </a:p>
        </p:txBody>
      </p:sp>
      <p:sp>
        <p:nvSpPr>
          <p:cNvPr id="19" name="Next step strip"/>
          <p:cNvSpPr/>
          <p:nvPr/>
        </p:nvSpPr>
        <p:spPr>
          <a:xfrm>
            <a:off x="548640" y="4892040"/>
            <a:ext cx="11064240" cy="868680"/>
          </a:xfrm>
          <a:prstGeom prst="roundRect">
            <a:avLst>
              <a:gd name="adj" fmla="val 15789"/>
            </a:avLst>
          </a:prstGeom>
          <a:solidFill>
            <a:srgbClr val="14342B"/>
          </a:solidFill>
          <a:ln/>
        </p:spPr>
        <p:txBody>
          <a:bodyPr/>
          <a:lstStyle/>
          <a:p>
            <a:endParaRPr lang="en-CH"/>
          </a:p>
        </p:txBody>
      </p:sp>
      <p:sp>
        <p:nvSpPr>
          <p:cNvPr id="20" name="Next step text"/>
          <p:cNvSpPr txBox="1"/>
          <p:nvPr/>
        </p:nvSpPr>
        <p:spPr>
          <a:xfrm>
            <a:off x="868680" y="4892040"/>
            <a:ext cx="10515600" cy="868680"/>
          </a:xfrm>
          <a:prstGeom prst="rect">
            <a:avLst/>
          </a:prstGeom>
          <a:noFill/>
          <a:ln/>
        </p:spPr>
        <p:txBody>
          <a:bodyPr wrap="square" lIns="0" tIns="0" rIns="0" bIns="0" rtlCol="0" anchor="ctr"/>
          <a:lstStyle/>
          <a:p>
            <a:pPr marL="0" indent="0">
              <a:buNone/>
            </a:pPr>
            <a:r>
              <a:rPr lang="en-US" sz="2000" b="1">
                <a:solidFill>
                  <a:schemeClr val="accent1"/>
                </a:solidFill>
              </a:rPr>
              <a:t>We need: </a:t>
            </a:r>
            <a:r>
              <a:rPr lang="en-US" sz="2000">
                <a:solidFill>
                  <a:schemeClr val="bg1"/>
                </a:solidFill>
              </a:rPr>
              <a:t>a pilot town, local reward sponsors, and your feedback.</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731520" y="960120"/>
            <a:ext cx="10728960" cy="365760"/>
          </a:xfrm>
          <a:prstGeom prst="rect">
            <a:avLst/>
          </a:prstGeom>
          <a:noFill/>
          <a:ln/>
        </p:spPr>
        <p:txBody>
          <a:bodyPr wrap="square" lIns="0" tIns="0" rIns="0" bIns="0" rtlCol="0" anchor="ctr"/>
          <a:lstStyle/>
          <a:p>
            <a:pPr marL="0" indent="0" algn="l">
              <a:buNone/>
            </a:pPr>
            <a:r>
              <a:rPr lang="en-US" sz="1600" b="1" kern="0" spc="400" dirty="0">
                <a:solidFill>
                  <a:schemeClr val="accent1"/>
                </a:solidFill>
              </a:rPr>
              <a:t>OUR TEAM</a:t>
            </a:r>
          </a:p>
        </p:txBody>
      </p:sp>
      <p:sp>
        <p:nvSpPr>
          <p:cNvPr id="3" name="Headline"/>
          <p:cNvSpPr txBox="1"/>
          <p:nvPr/>
        </p:nvSpPr>
        <p:spPr>
          <a:xfrm>
            <a:off x="731520" y="1371600"/>
            <a:ext cx="10728960" cy="640080"/>
          </a:xfrm>
          <a:prstGeom prst="rect">
            <a:avLst/>
          </a:prstGeom>
          <a:noFill/>
          <a:ln/>
        </p:spPr>
        <p:txBody>
          <a:bodyPr wrap="square" lIns="0" tIns="0" rIns="0" bIns="0" rtlCol="0" anchor="ctr"/>
          <a:lstStyle/>
          <a:p>
            <a:pPr marL="0" indent="0" algn="l">
              <a:buNone/>
            </a:pPr>
            <a:r>
              <a:rPr lang="en-US" spc="-50" sz="3600" b="1" dirty="0">
                <a:solidFill>
                  <a:schemeClr val="bg1"/>
                </a:solidFill>
              </a:rPr>
              <a:t>Three people. One working app in 24 hours.</a:t>
            </a:r>
          </a:p>
        </p:txBody>
      </p:sp>
      <p:sp>
        <p:nvSpPr>
          <p:cNvPr id="4" name="Member 1 card"/>
          <p:cNvSpPr/>
          <p:nvPr/>
        </p:nvSpPr>
        <p:spPr>
          <a:xfrm>
            <a:off x="731520" y="2286000"/>
            <a:ext cx="3332480" cy="2651760"/>
          </a:xfrm>
          <a:prstGeom prst="roundRect">
            <a:avLst>
              <a:gd name="adj" fmla="val 6000"/>
            </a:avLst>
          </a:prstGeom>
          <a:solidFill>
            <a:srgbClr val="1F4A3D"/>
          </a:solidFill>
          <a:ln/>
        </p:spPr>
        <p:txBody>
          <a:bodyPr/>
          <a:lstStyle/>
          <a:p>
            <a:endParaRPr lang="en-CH"/>
          </a:p>
        </p:txBody>
      </p:sp>
      <p:sp>
        <p:nvSpPr>
          <p:cNvPr id="5" name="Member 1 circle"/>
          <p:cNvSpPr/>
          <p:nvPr/>
        </p:nvSpPr>
        <p:spPr>
          <a:xfrm>
            <a:off x="1051560" y="2606040"/>
            <a:ext cx="868680" cy="868680"/>
          </a:xfrm>
          <a:prstGeom prst="ellipse">
            <a:avLst/>
          </a:prstGeom>
          <a:solidFill>
            <a:schemeClr val="accent1"/>
          </a:solidFill>
          <a:ln/>
        </p:spPr>
        <p:txBody>
          <a:bodyPr/>
          <a:lstStyle/>
          <a:p>
            <a:endParaRPr lang="en-CH"/>
          </a:p>
        </p:txBody>
      </p:sp>
      <p:sp>
        <p:nvSpPr>
          <p:cNvPr id="6" name="Member 1 initials"/>
          <p:cNvSpPr txBox="1"/>
          <p:nvPr/>
        </p:nvSpPr>
        <p:spPr>
          <a:xfrm>
            <a:off x="1051560" y="2606040"/>
            <a:ext cx="868680" cy="868680"/>
          </a:xfrm>
          <a:prstGeom prst="rect">
            <a:avLst/>
          </a:prstGeom>
          <a:noFill/>
          <a:ln/>
        </p:spPr>
        <p:txBody>
          <a:bodyPr wrap="square" lIns="0" tIns="0" rIns="0" bIns="0" rtlCol="0" anchor="ctr"/>
          <a:lstStyle/>
          <a:p>
            <a:pPr marL="0" indent="0" algn="ctr">
              <a:buNone/>
            </a:pPr>
            <a:r>
              <a:rPr lang="en-US" sz="2400" b="1" dirty="0">
                <a:solidFill>
                  <a:schemeClr val="tx1"/>
                </a:solidFill>
              </a:rPr>
              <a:t>TK</a:t>
            </a:r>
          </a:p>
        </p:txBody>
      </p:sp>
      <p:sp>
        <p:nvSpPr>
          <p:cNvPr id="7" name="Member 1 name"/>
          <p:cNvSpPr txBox="1"/>
          <p:nvPr/>
        </p:nvSpPr>
        <p:spPr>
          <a:xfrm>
            <a:off x="1051560" y="3657600"/>
            <a:ext cx="2692400" cy="685800"/>
          </a:xfrm>
          <a:prstGeom prst="rect">
            <a:avLst/>
          </a:prstGeom>
          <a:noFill/>
          <a:ln/>
        </p:spPr>
        <p:txBody>
          <a:bodyPr wrap="square" lIns="0" tIns="0" rIns="0" bIns="0" rtlCol="0" anchor="t"/>
          <a:lstStyle/>
          <a:p>
            <a:pPr marL="0" indent="0" algn="l">
              <a:buNone/>
            </a:pPr>
            <a:r>
              <a:rPr lang="en-US" sz="1700" b="1" dirty="0">
                <a:solidFill>
                  <a:schemeClr val="bg1"/>
                </a:solidFill>
              </a:rPr>
              <a:t>Thorben Che Koch</a:t>
            </a:r>
          </a:p>
        </p:txBody>
      </p:sp>
      <p:sp>
        <p:nvSpPr>
          <p:cNvPr id="8" name="Member 1 role"/>
          <p:cNvSpPr txBox="1"/>
          <p:nvPr/>
        </p:nvSpPr>
        <p:spPr>
          <a:xfrm>
            <a:off x="1051560" y="4389120"/>
            <a:ext cx="2692400" cy="365760"/>
          </a:xfrm>
          <a:prstGeom prst="rect">
            <a:avLst/>
          </a:prstGeom>
          <a:noFill/>
          <a:ln/>
        </p:spPr>
        <p:txBody>
          <a:bodyPr wrap="square" lIns="0" tIns="0" rIns="0" bIns="0" rtlCol="0" anchor="t"/>
          <a:lstStyle/>
          <a:p>
            <a:pPr marL="0" indent="0" algn="l">
              <a:buNone/>
            </a:pPr>
            <a:r>
              <a:rPr lang="en-US" sz="1600" dirty="0">
                <a:solidFill>
                  <a:schemeClr val="accent4"/>
                </a:solidFill>
              </a:rPr>
              <a:t>App developer &amp; team lead</a:t>
            </a:r>
          </a:p>
        </p:txBody>
      </p:sp>
      <p:sp>
        <p:nvSpPr>
          <p:cNvPr id="9" name="Member 2 card"/>
          <p:cNvSpPr/>
          <p:nvPr/>
        </p:nvSpPr>
        <p:spPr>
          <a:xfrm>
            <a:off x="4429760" y="2286000"/>
            <a:ext cx="3332480" cy="2651760"/>
          </a:xfrm>
          <a:prstGeom prst="roundRect">
            <a:avLst>
              <a:gd name="adj" fmla="val 6000"/>
            </a:avLst>
          </a:prstGeom>
          <a:solidFill>
            <a:srgbClr val="1F4A3D"/>
          </a:solidFill>
          <a:ln/>
        </p:spPr>
        <p:txBody>
          <a:bodyPr/>
          <a:lstStyle/>
          <a:p>
            <a:endParaRPr lang="en-CH"/>
          </a:p>
        </p:txBody>
      </p:sp>
      <p:sp>
        <p:nvSpPr>
          <p:cNvPr id="10" name="Member 2 circle"/>
          <p:cNvSpPr/>
          <p:nvPr/>
        </p:nvSpPr>
        <p:spPr>
          <a:xfrm>
            <a:off x="4749800" y="2606040"/>
            <a:ext cx="868680" cy="868680"/>
          </a:xfrm>
          <a:prstGeom prst="ellipse">
            <a:avLst/>
          </a:prstGeom>
          <a:solidFill>
            <a:schemeClr val="accent1"/>
          </a:solidFill>
          <a:ln/>
        </p:spPr>
        <p:txBody>
          <a:bodyPr/>
          <a:lstStyle/>
          <a:p>
            <a:endParaRPr lang="en-CH"/>
          </a:p>
        </p:txBody>
      </p:sp>
      <p:sp>
        <p:nvSpPr>
          <p:cNvPr id="11" name="Member 2 initials"/>
          <p:cNvSpPr txBox="1"/>
          <p:nvPr/>
        </p:nvSpPr>
        <p:spPr>
          <a:xfrm>
            <a:off x="4749800" y="2606040"/>
            <a:ext cx="868680" cy="868680"/>
          </a:xfrm>
          <a:prstGeom prst="rect">
            <a:avLst/>
          </a:prstGeom>
          <a:noFill/>
          <a:ln/>
        </p:spPr>
        <p:txBody>
          <a:bodyPr wrap="square" lIns="0" tIns="0" rIns="0" bIns="0" rtlCol="0" anchor="ctr"/>
          <a:lstStyle/>
          <a:p>
            <a:pPr marL="0" indent="0" algn="ctr">
              <a:buNone/>
            </a:pPr>
            <a:r>
              <a:rPr lang="en-US" sz="2400" b="1" dirty="0">
                <a:solidFill>
                  <a:schemeClr val="tx1"/>
                </a:solidFill>
              </a:rPr>
              <a:t>PN</a:t>
            </a:r>
          </a:p>
        </p:txBody>
      </p:sp>
      <p:sp>
        <p:nvSpPr>
          <p:cNvPr id="12" name="Member 2 name"/>
          <p:cNvSpPr txBox="1"/>
          <p:nvPr/>
        </p:nvSpPr>
        <p:spPr>
          <a:xfrm>
            <a:off x="4749800" y="3657600"/>
            <a:ext cx="2692400" cy="685800"/>
          </a:xfrm>
          <a:prstGeom prst="rect">
            <a:avLst/>
          </a:prstGeom>
          <a:noFill/>
          <a:ln/>
        </p:spPr>
        <p:txBody>
          <a:bodyPr wrap="square" lIns="0" tIns="0" rIns="0" bIns="0" rtlCol="0" anchor="t"/>
          <a:lstStyle/>
          <a:p>
            <a:pPr marL="0" indent="0" algn="l">
              <a:buNone/>
            </a:pPr>
            <a:r>
              <a:rPr lang="en-US" sz="1700" b="1" dirty="0">
                <a:solidFill>
                  <a:schemeClr val="bg1"/>
                </a:solidFill>
              </a:rPr>
              <a:t>Pipatsakorn Namthirash</a:t>
            </a:r>
          </a:p>
        </p:txBody>
      </p:sp>
      <p:sp>
        <p:nvSpPr>
          <p:cNvPr id="13" name="Member 2 role"/>
          <p:cNvSpPr txBox="1"/>
          <p:nvPr/>
        </p:nvSpPr>
        <p:spPr>
          <a:xfrm>
            <a:off x="4749800" y="4389120"/>
            <a:ext cx="2692400" cy="365760"/>
          </a:xfrm>
          <a:prstGeom prst="rect">
            <a:avLst/>
          </a:prstGeom>
          <a:noFill/>
          <a:ln/>
        </p:spPr>
        <p:txBody>
          <a:bodyPr wrap="square" lIns="0" tIns="0" rIns="0" bIns="0" rtlCol="0" anchor="t"/>
          <a:lstStyle/>
          <a:p>
            <a:pPr marL="0" indent="0" algn="l">
              <a:buNone/>
            </a:pPr>
            <a:r>
              <a:rPr lang="en-US" sz="1600" dirty="0">
                <a:solidFill>
                  <a:schemeClr val="accent4"/>
                </a:solidFill>
              </a:rPr>
              <a:t>App design &amp; slides</a:t>
            </a:r>
          </a:p>
        </p:txBody>
      </p:sp>
      <p:sp>
        <p:nvSpPr>
          <p:cNvPr id="14" name="Member 3 card"/>
          <p:cNvSpPr/>
          <p:nvPr/>
        </p:nvSpPr>
        <p:spPr>
          <a:xfrm>
            <a:off x="8128000" y="2286000"/>
            <a:ext cx="3332480" cy="2651760"/>
          </a:xfrm>
          <a:prstGeom prst="roundRect">
            <a:avLst>
              <a:gd name="adj" fmla="val 6000"/>
            </a:avLst>
          </a:prstGeom>
          <a:solidFill>
            <a:srgbClr val="1F4A3D"/>
          </a:solidFill>
          <a:ln/>
        </p:spPr>
        <p:txBody>
          <a:bodyPr/>
          <a:lstStyle/>
          <a:p>
            <a:endParaRPr lang="en-CH"/>
          </a:p>
        </p:txBody>
      </p:sp>
      <p:sp>
        <p:nvSpPr>
          <p:cNvPr id="15" name="Member 3 circle"/>
          <p:cNvSpPr/>
          <p:nvPr/>
        </p:nvSpPr>
        <p:spPr>
          <a:xfrm>
            <a:off x="8448040" y="2606040"/>
            <a:ext cx="868680" cy="868680"/>
          </a:xfrm>
          <a:prstGeom prst="ellipse">
            <a:avLst/>
          </a:prstGeom>
          <a:solidFill>
            <a:schemeClr val="accent1"/>
          </a:solidFill>
          <a:ln/>
        </p:spPr>
        <p:txBody>
          <a:bodyPr/>
          <a:lstStyle/>
          <a:p>
            <a:endParaRPr lang="en-CH"/>
          </a:p>
        </p:txBody>
      </p:sp>
      <p:sp>
        <p:nvSpPr>
          <p:cNvPr id="16" name="Member 3 initials"/>
          <p:cNvSpPr txBox="1"/>
          <p:nvPr/>
        </p:nvSpPr>
        <p:spPr>
          <a:xfrm>
            <a:off x="8448040" y="2606040"/>
            <a:ext cx="868680" cy="868680"/>
          </a:xfrm>
          <a:prstGeom prst="rect">
            <a:avLst/>
          </a:prstGeom>
          <a:noFill/>
          <a:ln/>
        </p:spPr>
        <p:txBody>
          <a:bodyPr wrap="square" lIns="0" tIns="0" rIns="0" bIns="0" rtlCol="0" anchor="ctr"/>
          <a:lstStyle/>
          <a:p>
            <a:pPr marL="0" indent="0" algn="ctr">
              <a:buNone/>
            </a:pPr>
            <a:r>
              <a:rPr lang="en-US" sz="2400" b="1" dirty="0">
                <a:solidFill>
                  <a:schemeClr val="tx1"/>
                </a:solidFill>
              </a:rPr>
              <a:t>GF</a:t>
            </a:r>
          </a:p>
        </p:txBody>
      </p:sp>
      <p:sp>
        <p:nvSpPr>
          <p:cNvPr id="17" name="Member 3 name"/>
          <p:cNvSpPr txBox="1"/>
          <p:nvPr/>
        </p:nvSpPr>
        <p:spPr>
          <a:xfrm>
            <a:off x="8448040" y="3657600"/>
            <a:ext cx="2692400" cy="685800"/>
          </a:xfrm>
          <a:prstGeom prst="rect">
            <a:avLst/>
          </a:prstGeom>
          <a:noFill/>
          <a:ln/>
        </p:spPr>
        <p:txBody>
          <a:bodyPr wrap="square" lIns="0" tIns="0" rIns="0" bIns="0" rtlCol="0" anchor="t"/>
          <a:lstStyle/>
          <a:p>
            <a:pPr marL="0" indent="0" algn="l">
              <a:buNone/>
            </a:pPr>
            <a:r>
              <a:rPr lang="en-US" sz="1700" b="1" dirty="0">
                <a:solidFill>
                  <a:schemeClr val="bg1"/>
                </a:solidFill>
              </a:rPr>
              <a:t>Gabriel da Fonseca</a:t>
            </a:r>
          </a:p>
        </p:txBody>
      </p:sp>
      <p:sp>
        <p:nvSpPr>
          <p:cNvPr id="18" name="Member 3 role"/>
          <p:cNvSpPr txBox="1"/>
          <p:nvPr/>
        </p:nvSpPr>
        <p:spPr>
          <a:xfrm>
            <a:off x="8448040" y="4389120"/>
            <a:ext cx="2692400" cy="365760"/>
          </a:xfrm>
          <a:prstGeom prst="rect">
            <a:avLst/>
          </a:prstGeom>
          <a:noFill/>
          <a:ln/>
        </p:spPr>
        <p:txBody>
          <a:bodyPr wrap="square" lIns="0" tIns="0" rIns="0" bIns="0" rtlCol="0" anchor="t"/>
          <a:lstStyle/>
          <a:p>
            <a:pPr marL="0" indent="0" algn="l">
              <a:buNone/>
            </a:pPr>
            <a:r>
              <a:rPr lang="en-US" sz="1600" dirty="0">
                <a:solidFill>
                  <a:schemeClr val="accent4"/>
                </a:solidFill>
              </a:rPr>
              <a:t>Research &amp; all-round help</a:t>
            </a:r>
          </a:p>
        </p:txBody>
      </p:sp>
      <p:sp>
        <p:nvSpPr>
          <p:cNvPr id="19" name="Use of AI"/>
          <p:cNvSpPr txBox="1"/>
          <p:nvPr/>
        </p:nvSpPr>
        <p:spPr>
          <a:xfrm>
            <a:off x="731520" y="5303520"/>
            <a:ext cx="10728960" cy="457200"/>
          </a:xfrm>
          <a:prstGeom prst="rect">
            <a:avLst/>
          </a:prstGeom>
          <a:noFill/>
          <a:ln/>
        </p:spPr>
        <p:txBody>
          <a:bodyPr wrap="square" lIns="0" tIns="0" rIns="0" bIns="0" rtlCol="0" anchor="ctr"/>
          <a:lstStyle/>
          <a:p>
            <a:pPr marL="0" indent="0" algn="l">
              <a:buNone/>
            </a:pPr>
            <a:r>
              <a:rPr lang="en-US" sz="1800" b="1" dirty="0">
                <a:solidFill>
                  <a:schemeClr val="accent1"/>
                </a:solidFill>
              </a:rPr>
              <a:t>Use of AI: </a:t>
            </a:r>
            <a:r>
              <a:rPr lang="en-US" sz="1800" dirty="0">
                <a:solidFill>
                  <a:schemeClr val="bg1"/>
                </a:solidFill>
              </a:rPr>
              <a:t>helped turn our paper idea into a working mobile web app, and helped with the slides.</a:t>
            </a:r>
          </a:p>
        </p:txBody>
      </p:sp>
      <p:sp>
        <p:nvSpPr>
          <p:cNvPr id="2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62107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731520" y="1600200"/>
            <a:ext cx="7132320" cy="365760"/>
          </a:xfrm>
          <a:prstGeom prst="rect">
            <a:avLst/>
          </a:prstGeom>
          <a:noFill/>
          <a:ln/>
        </p:spPr>
        <p:txBody>
          <a:bodyPr wrap="square" lIns="0" tIns="0" rIns="0" bIns="0" rtlCol="0" anchor="ctr"/>
          <a:lstStyle/>
          <a:p>
            <a:pPr marL="0" indent="0">
              <a:buNone/>
            </a:pPr>
            <a:r>
              <a:rPr lang="en-US" sz="1600" b="1" kern="0" spc="400" dirty="0">
                <a:solidFill>
                  <a:schemeClr val="accent1"/>
                </a:solidFill>
              </a:rPr>
              <a:t>OUR VISION</a:t>
            </a:r>
            <a:endParaRPr lang="en-US" sz="1600" dirty="0"/>
          </a:p>
        </p:txBody>
      </p:sp>
      <p:sp>
        <p:nvSpPr>
          <p:cNvPr id="3" name="Vision"/>
          <p:cNvSpPr txBox="1"/>
          <p:nvPr/>
        </p:nvSpPr>
        <p:spPr>
          <a:xfrm>
            <a:off x="731520" y="2057400"/>
            <a:ext cx="7132320" cy="1325880"/>
          </a:xfrm>
          <a:prstGeom prst="rect">
            <a:avLst/>
          </a:prstGeom>
          <a:noFill/>
          <a:ln/>
        </p:spPr>
        <p:txBody>
          <a:bodyPr wrap="square" lIns="0" tIns="0" rIns="0" bIns="0" rtlCol="0" anchor="t"/>
          <a:lstStyle/>
          <a:p>
            <a:pPr marL="0" indent="0">
              <a:buNone/>
            </a:pPr>
            <a:r>
              <a:rPr lang="en-US" spc="-50" sz="3600" b="1" dirty="0">
                <a:solidFill>
                  <a:schemeClr val="bg1"/>
                </a:solidFill>
              </a:rPr>
              <a:t>Make sustainability rewarding. Make recycling a habit.</a:t>
            </a:r>
            <a:endParaRPr lang="en-US" sz="3600" dirty="0"/>
          </a:p>
        </p:txBody>
      </p:sp>
      <p:sp>
        <p:nvSpPr>
          <p:cNvPr id="4" name="Motto"/>
          <p:cNvSpPr txBox="1"/>
          <p:nvPr/>
        </p:nvSpPr>
        <p:spPr>
          <a:xfrm>
            <a:off x="731520" y="3611880"/>
            <a:ext cx="7132320" cy="822960"/>
          </a:xfrm>
          <a:prstGeom prst="rect">
            <a:avLst/>
          </a:prstGeom>
          <a:noFill/>
          <a:ln/>
        </p:spPr>
        <p:txBody>
          <a:bodyPr wrap="square" lIns="0" tIns="0" rIns="0" bIns="0" rtlCol="0" anchor="t"/>
          <a:lstStyle/>
          <a:p>
            <a:pPr marL="0" indent="0">
              <a:buNone/>
            </a:pPr>
            <a:r>
              <a:rPr lang="en-US" sz="2400" b="1" dirty="0">
                <a:solidFill>
                  <a:schemeClr val="accent1"/>
                </a:solidFill>
              </a:rPr>
              <a:t>One action. One reward. A better community. A better future!</a:t>
            </a:r>
            <a:endParaRPr lang="en-US" sz="2400" dirty="0"/>
          </a:p>
        </p:txBody>
      </p:sp>
      <p:sp>
        <p:nvSpPr>
          <p:cNvPr id="5" name="Thanks"/>
          <p:cNvSpPr txBox="1"/>
          <p:nvPr/>
        </p:nvSpPr>
        <p:spPr>
          <a:xfrm>
            <a:off x="731520" y="4617720"/>
            <a:ext cx="7132320" cy="457200"/>
          </a:xfrm>
          <a:prstGeom prst="rect">
            <a:avLst/>
          </a:prstGeom>
          <a:noFill/>
          <a:ln/>
        </p:spPr>
        <p:txBody>
          <a:bodyPr wrap="square" lIns="0" tIns="0" rIns="0" bIns="0" rtlCol="0" anchor="ctr"/>
          <a:lstStyle/>
          <a:p>
            <a:pPr marL="0" indent="0">
              <a:buNone/>
            </a:pPr>
            <a:r>
              <a:rPr lang="en-US" sz="2200">
                <a:solidFill>
                  <a:schemeClr val="accent4"/>
                </a:solidFill>
              </a:rPr>
              <a:t>Help us start in Rotkreuz. Thank you!</a:t>
            </a:r>
          </a:p>
        </p:txBody>
      </p:sp>
      <p:sp>
        <p:nvSpPr>
          <p:cNvPr id="6" name="Badge circle"/>
          <p:cNvSpPr/>
          <p:nvPr/>
        </p:nvSpPr>
        <p:spPr>
          <a:xfrm>
            <a:off x="8138160" y="1691640"/>
            <a:ext cx="3291840" cy="3291840"/>
          </a:xfrm>
          <a:prstGeom prst="ellipse">
            <a:avLst/>
          </a:prstGeom>
          <a:solidFill>
            <a:schemeClr val="accent1"/>
          </a:solidFill>
          <a:ln/>
        </p:spPr>
        <p:txBody>
          <a:bodyPr/>
          <a:lstStyle/>
          <a:p>
            <a:endParaRPr lang="en-CH"/>
          </a:p>
        </p:txBody>
      </p:sp>
      <p:pic>
        <p:nvPicPr>
          <p:cNvPr id="7" name="Leaf icon" descr="Leaf"/>
          <p:cNvPicPr>
            <a:picLocks noChangeAspect="1"/>
          </p:cNvPicPr>
          <p:nvPr/>
        </p:nvPicPr>
        <p:blipFill>
          <a:blip r:embed="rId3"/>
          <a:stretch>
            <a:fillRect/>
          </a:stretch>
        </p:blipFill>
        <p:spPr>
          <a:xfrm>
            <a:off x="8869680" y="2423160"/>
            <a:ext cx="1828800" cy="18288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pc="-100" sz="5400" b="1" dirty="0">
                <a:solidFill>
                  <a:schemeClr val="tx1"/>
                </a:solidFill>
              </a:rPr>
              <a:t>Backup: Risks &amp; Our Answers</a:t>
            </a:r>
          </a:p>
        </p:txBody>
      </p:sp>
      <p:sp>
        <p:nvSpPr>
          <p:cNvPr id="3" name="Risk row 1"/>
          <p:cNvSpPr/>
          <p:nvPr/>
        </p:nvSpPr>
        <p:spPr>
          <a:xfrm>
            <a:off x="548640" y="1325880"/>
            <a:ext cx="11064240" cy="777240"/>
          </a:xfrm>
          <a:prstGeom prst="roundRect">
            <a:avLst>
              <a:gd name="adj" fmla="val 17647"/>
            </a:avLst>
          </a:prstGeom>
          <a:solidFill>
            <a:srgbClr val="EEF4EE"/>
          </a:solidFill>
          <a:ln/>
        </p:spPr>
        <p:txBody>
          <a:bodyPr/>
          <a:lstStyle/>
          <a:p>
            <a:endParaRPr lang="en-CH"/>
          </a:p>
        </p:txBody>
      </p:sp>
      <p:sp>
        <p:nvSpPr>
          <p:cNvPr id="4" name="Risk 1 circle"/>
          <p:cNvSpPr/>
          <p:nvPr/>
        </p:nvSpPr>
        <p:spPr>
          <a:xfrm>
            <a:off x="731520" y="1417320"/>
            <a:ext cx="594360" cy="594360"/>
          </a:xfrm>
          <a:prstGeom prst="ellipse">
            <a:avLst/>
          </a:prstGeom>
          <a:solidFill>
            <a:srgbClr val="F2A33A"/>
          </a:solidFill>
          <a:ln/>
        </p:spPr>
        <p:txBody>
          <a:bodyPr/>
          <a:lstStyle/>
          <a:p>
            <a:endParaRPr lang="en-CH"/>
          </a:p>
        </p:txBody>
      </p:sp>
      <p:pic>
        <p:nvPicPr>
          <p:cNvPr id="5" name="Risk 1 icon" descr="Risk 1"/>
          <p:cNvPicPr>
            <a:picLocks noChangeAspect="1"/>
          </p:cNvPicPr>
          <p:nvPr/>
        </p:nvPicPr>
        <p:blipFill>
          <a:blip r:embed="rId3"/>
          <a:stretch>
            <a:fillRect/>
          </a:stretch>
        </p:blipFill>
        <p:spPr>
          <a:xfrm>
            <a:off x="880110" y="1565910"/>
            <a:ext cx="297180" cy="297180"/>
          </a:xfrm>
          <a:prstGeom prst="rect">
            <a:avLst/>
          </a:prstGeom>
        </p:spPr>
      </p:pic>
      <p:sp>
        <p:nvSpPr>
          <p:cNvPr id="6" name="Risk 1"/>
          <p:cNvSpPr txBox="1"/>
          <p:nvPr/>
        </p:nvSpPr>
        <p:spPr>
          <a:xfrm>
            <a:off x="1554480" y="13258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Funding depends on partners</a:t>
            </a:r>
            <a:endParaRPr lang="en-US" sz="1700" dirty="0"/>
          </a:p>
        </p:txBody>
      </p:sp>
      <p:sp>
        <p:nvSpPr>
          <p:cNvPr id="7" name="Answer 1"/>
          <p:cNvSpPr txBox="1"/>
          <p:nvPr/>
        </p:nvSpPr>
        <p:spPr>
          <a:xfrm>
            <a:off x="5029200" y="1325880"/>
            <a:ext cx="6400800" cy="777240"/>
          </a:xfrm>
          <a:prstGeom prst="rect">
            <a:avLst/>
          </a:prstGeom>
          <a:noFill/>
          <a:ln/>
        </p:spPr>
        <p:txBody>
          <a:bodyPr wrap="square" lIns="0" tIns="0" rIns="0" bIns="0" rtlCol="0" anchor="ctr"/>
          <a:lstStyle/>
          <a:p>
            <a:pPr marL="0" indent="0">
              <a:buNone/>
            </a:pPr>
            <a:r>
              <a:rPr lang="en-US" sz="1600">
                <a:solidFill>
                  <a:schemeClr val="accent5"/>
                </a:solidFill>
              </a:rPr>
              <a:t>Three income sources; from year 2, six partner towns cover running costs</a:t>
            </a:r>
          </a:p>
        </p:txBody>
      </p:sp>
      <p:sp>
        <p:nvSpPr>
          <p:cNvPr id="8" name="Risk row 2"/>
          <p:cNvSpPr/>
          <p:nvPr/>
        </p:nvSpPr>
        <p:spPr>
          <a:xfrm>
            <a:off x="548640" y="2240280"/>
            <a:ext cx="11064240" cy="777240"/>
          </a:xfrm>
          <a:prstGeom prst="roundRect">
            <a:avLst>
              <a:gd name="adj" fmla="val 17647"/>
            </a:avLst>
          </a:prstGeom>
          <a:solidFill>
            <a:srgbClr val="FFFFFF"/>
          </a:solidFill>
          <a:ln/>
        </p:spPr>
        <p:txBody>
          <a:bodyPr/>
          <a:lstStyle/>
          <a:p>
            <a:endParaRPr lang="en-CH"/>
          </a:p>
        </p:txBody>
      </p:sp>
      <p:sp>
        <p:nvSpPr>
          <p:cNvPr id="9" name="Risk 2 circle"/>
          <p:cNvSpPr/>
          <p:nvPr/>
        </p:nvSpPr>
        <p:spPr>
          <a:xfrm>
            <a:off x="731520" y="2331720"/>
            <a:ext cx="594360" cy="594360"/>
          </a:xfrm>
          <a:prstGeom prst="ellipse">
            <a:avLst/>
          </a:prstGeom>
          <a:solidFill>
            <a:srgbClr val="F2A33A"/>
          </a:solidFill>
          <a:ln/>
        </p:spPr>
        <p:txBody>
          <a:bodyPr/>
          <a:lstStyle/>
          <a:p>
            <a:endParaRPr lang="en-CH"/>
          </a:p>
        </p:txBody>
      </p:sp>
      <p:pic>
        <p:nvPicPr>
          <p:cNvPr id="10" name="Risk 2 icon" descr="Risk 2"/>
          <p:cNvPicPr>
            <a:picLocks noChangeAspect="1"/>
          </p:cNvPicPr>
          <p:nvPr/>
        </p:nvPicPr>
        <p:blipFill>
          <a:blip r:embed="rId4"/>
          <a:stretch>
            <a:fillRect/>
          </a:stretch>
        </p:blipFill>
        <p:spPr>
          <a:xfrm>
            <a:off x="880110" y="2480310"/>
            <a:ext cx="297180" cy="297180"/>
          </a:xfrm>
          <a:prstGeom prst="rect">
            <a:avLst/>
          </a:prstGeom>
        </p:spPr>
      </p:pic>
      <p:sp>
        <p:nvSpPr>
          <p:cNvPr id="11" name="Risk 2"/>
          <p:cNvSpPr txBox="1"/>
          <p:nvPr/>
        </p:nvSpPr>
        <p:spPr>
          <a:xfrm>
            <a:off x="1554480" y="22402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People cheat for points</a:t>
            </a:r>
            <a:endParaRPr lang="en-US" sz="1700" dirty="0"/>
          </a:p>
        </p:txBody>
      </p:sp>
      <p:sp>
        <p:nvSpPr>
          <p:cNvPr id="12" name="Answer 2"/>
          <p:cNvSpPr txBox="1"/>
          <p:nvPr/>
        </p:nvSpPr>
        <p:spPr>
          <a:xfrm>
            <a:off x="5029200" y="2240280"/>
            <a:ext cx="6400800" cy="777240"/>
          </a:xfrm>
          <a:prstGeom prst="rect">
            <a:avLst/>
          </a:prstGeom>
          <a:noFill/>
          <a:ln/>
        </p:spPr>
        <p:txBody>
          <a:bodyPr wrap="square" lIns="0" tIns="0" rIns="0" bIns="0" rtlCol="0" anchor="ctr"/>
          <a:lstStyle/>
          <a:p>
            <a:pPr marL="0" indent="0">
              <a:buNone/>
            </a:pPr>
            <a:r>
              <a:rPr lang="en-US" sz="1600">
                <a:solidFill>
                  <a:schemeClr val="accent5"/>
                </a:solidFill>
              </a:rPr>
              <a:t>QR check-in at real collection points, daily point caps, manual review first</a:t>
            </a:r>
          </a:p>
        </p:txBody>
      </p:sp>
      <p:sp>
        <p:nvSpPr>
          <p:cNvPr id="13" name="Risk row 3"/>
          <p:cNvSpPr/>
          <p:nvPr/>
        </p:nvSpPr>
        <p:spPr>
          <a:xfrm>
            <a:off x="548640" y="3154680"/>
            <a:ext cx="11064240" cy="777240"/>
          </a:xfrm>
          <a:prstGeom prst="roundRect">
            <a:avLst>
              <a:gd name="adj" fmla="val 17647"/>
            </a:avLst>
          </a:prstGeom>
          <a:solidFill>
            <a:srgbClr val="EEF4EE"/>
          </a:solidFill>
          <a:ln/>
        </p:spPr>
        <p:txBody>
          <a:bodyPr/>
          <a:lstStyle/>
          <a:p>
            <a:endParaRPr lang="en-CH"/>
          </a:p>
        </p:txBody>
      </p:sp>
      <p:sp>
        <p:nvSpPr>
          <p:cNvPr id="14" name="Risk 3 circle"/>
          <p:cNvSpPr/>
          <p:nvPr/>
        </p:nvSpPr>
        <p:spPr>
          <a:xfrm>
            <a:off x="731520" y="3246120"/>
            <a:ext cx="594360" cy="594360"/>
          </a:xfrm>
          <a:prstGeom prst="ellipse">
            <a:avLst/>
          </a:prstGeom>
          <a:solidFill>
            <a:srgbClr val="F2A33A"/>
          </a:solidFill>
          <a:ln/>
        </p:spPr>
        <p:txBody>
          <a:bodyPr/>
          <a:lstStyle/>
          <a:p>
            <a:endParaRPr lang="en-CH"/>
          </a:p>
        </p:txBody>
      </p:sp>
      <p:pic>
        <p:nvPicPr>
          <p:cNvPr id="15" name="Risk 3 icon" descr="Risk 3"/>
          <p:cNvPicPr>
            <a:picLocks noChangeAspect="1"/>
          </p:cNvPicPr>
          <p:nvPr/>
        </p:nvPicPr>
        <p:blipFill>
          <a:blip r:embed="rId5"/>
          <a:stretch>
            <a:fillRect/>
          </a:stretch>
        </p:blipFill>
        <p:spPr>
          <a:xfrm>
            <a:off x="880110" y="3394710"/>
            <a:ext cx="297180" cy="297180"/>
          </a:xfrm>
          <a:prstGeom prst="rect">
            <a:avLst/>
          </a:prstGeom>
        </p:spPr>
      </p:pic>
      <p:sp>
        <p:nvSpPr>
          <p:cNvPr id="16" name="Risk 3"/>
          <p:cNvSpPr txBox="1"/>
          <p:nvPr/>
        </p:nvSpPr>
        <p:spPr>
          <a:xfrm>
            <a:off x="1554480" y="31546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Rewards get expensive</a:t>
            </a:r>
            <a:endParaRPr lang="en-US" sz="1700" dirty="0"/>
          </a:p>
        </p:txBody>
      </p:sp>
      <p:sp>
        <p:nvSpPr>
          <p:cNvPr id="17" name="Answer 3"/>
          <p:cNvSpPr txBox="1"/>
          <p:nvPr/>
        </p:nvSpPr>
        <p:spPr>
          <a:xfrm>
            <a:off x="5029200" y="31546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Rewards are sponsored by local businesses in exchange for visibility</a:t>
            </a:r>
            <a:endParaRPr lang="en-US" sz="1600" dirty="0"/>
          </a:p>
        </p:txBody>
      </p:sp>
      <p:sp>
        <p:nvSpPr>
          <p:cNvPr id="18" name="Risk row 4"/>
          <p:cNvSpPr/>
          <p:nvPr/>
        </p:nvSpPr>
        <p:spPr>
          <a:xfrm>
            <a:off x="548640" y="4069080"/>
            <a:ext cx="11064240" cy="777240"/>
          </a:xfrm>
          <a:prstGeom prst="roundRect">
            <a:avLst>
              <a:gd name="adj" fmla="val 17647"/>
            </a:avLst>
          </a:prstGeom>
          <a:solidFill>
            <a:srgbClr val="FFFFFF"/>
          </a:solidFill>
          <a:ln/>
        </p:spPr>
        <p:txBody>
          <a:bodyPr/>
          <a:lstStyle/>
          <a:p>
            <a:endParaRPr lang="en-CH"/>
          </a:p>
        </p:txBody>
      </p:sp>
      <p:sp>
        <p:nvSpPr>
          <p:cNvPr id="19" name="Risk 4 circle"/>
          <p:cNvSpPr/>
          <p:nvPr/>
        </p:nvSpPr>
        <p:spPr>
          <a:xfrm>
            <a:off x="731520" y="4160520"/>
            <a:ext cx="594360" cy="594360"/>
          </a:xfrm>
          <a:prstGeom prst="ellipse">
            <a:avLst/>
          </a:prstGeom>
          <a:solidFill>
            <a:srgbClr val="F2A33A"/>
          </a:solidFill>
          <a:ln/>
        </p:spPr>
        <p:txBody>
          <a:bodyPr/>
          <a:lstStyle/>
          <a:p>
            <a:endParaRPr lang="en-CH"/>
          </a:p>
        </p:txBody>
      </p:sp>
      <p:pic>
        <p:nvPicPr>
          <p:cNvPr id="20" name="Risk 4 icon" descr="Risk 4"/>
          <p:cNvPicPr>
            <a:picLocks noChangeAspect="1"/>
          </p:cNvPicPr>
          <p:nvPr/>
        </p:nvPicPr>
        <p:blipFill>
          <a:blip r:embed="rId6"/>
          <a:stretch>
            <a:fillRect/>
          </a:stretch>
        </p:blipFill>
        <p:spPr>
          <a:xfrm>
            <a:off x="880110" y="4309110"/>
            <a:ext cx="297180" cy="297180"/>
          </a:xfrm>
          <a:prstGeom prst="rect">
            <a:avLst/>
          </a:prstGeom>
        </p:spPr>
      </p:pic>
      <p:sp>
        <p:nvSpPr>
          <p:cNvPr id="21" name="Risk 4"/>
          <p:cNvSpPr txBox="1"/>
          <p:nvPr/>
        </p:nvSpPr>
        <p:spPr>
          <a:xfrm>
            <a:off x="1554480" y="40690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The novelty wears off</a:t>
            </a:r>
            <a:endParaRPr lang="en-US" sz="1700" dirty="0"/>
          </a:p>
        </p:txBody>
      </p:sp>
      <p:sp>
        <p:nvSpPr>
          <p:cNvPr id="22" name="Answer 4"/>
          <p:cNvSpPr txBox="1"/>
          <p:nvPr/>
        </p:nvSpPr>
        <p:spPr>
          <a:xfrm>
            <a:off x="5029200" y="4069080"/>
            <a:ext cx="6400800" cy="777240"/>
          </a:xfrm>
          <a:prstGeom prst="rect">
            <a:avLst/>
          </a:prstGeom>
          <a:noFill/>
          <a:ln/>
        </p:spPr>
        <p:txBody>
          <a:bodyPr wrap="square" lIns="0" tIns="0" rIns="0" bIns="0" rtlCol="0" anchor="ctr"/>
          <a:lstStyle/>
          <a:p>
            <a:pPr marL="0" indent="0">
              <a:buNone/>
            </a:pPr>
            <a:r>
              <a:rPr lang="en-US" sz="1600">
                <a:solidFill>
                  <a:schemeClr val="accent5"/>
                </a:solidFill>
              </a:rPr>
              <a:t>Seasonal and team challenges plus local events keep it fresh</a:t>
            </a:r>
          </a:p>
        </p:txBody>
      </p:sp>
      <p:sp>
        <p:nvSpPr>
          <p:cNvPr id="23" name="Risk row 5"/>
          <p:cNvSpPr/>
          <p:nvPr/>
        </p:nvSpPr>
        <p:spPr>
          <a:xfrm>
            <a:off x="548640" y="4983480"/>
            <a:ext cx="11064240" cy="777240"/>
          </a:xfrm>
          <a:prstGeom prst="roundRect">
            <a:avLst>
              <a:gd name="adj" fmla="val 17647"/>
            </a:avLst>
          </a:prstGeom>
          <a:solidFill>
            <a:srgbClr val="EEF4EE"/>
          </a:solidFill>
          <a:ln/>
        </p:spPr>
        <p:txBody>
          <a:bodyPr/>
          <a:lstStyle/>
          <a:p>
            <a:endParaRPr lang="en-CH"/>
          </a:p>
        </p:txBody>
      </p:sp>
      <p:sp>
        <p:nvSpPr>
          <p:cNvPr id="24" name="Risk 5 circle"/>
          <p:cNvSpPr/>
          <p:nvPr/>
        </p:nvSpPr>
        <p:spPr>
          <a:xfrm>
            <a:off x="731520" y="5074920"/>
            <a:ext cx="594360" cy="594360"/>
          </a:xfrm>
          <a:prstGeom prst="ellipse">
            <a:avLst/>
          </a:prstGeom>
          <a:solidFill>
            <a:srgbClr val="F2A33A"/>
          </a:solidFill>
          <a:ln/>
        </p:spPr>
        <p:txBody>
          <a:bodyPr/>
          <a:lstStyle/>
          <a:p>
            <a:endParaRPr lang="en-CH"/>
          </a:p>
        </p:txBody>
      </p:sp>
      <p:pic>
        <p:nvPicPr>
          <p:cNvPr id="25" name="Risk 5 icon" descr="Risk 5"/>
          <p:cNvPicPr>
            <a:picLocks noChangeAspect="1"/>
          </p:cNvPicPr>
          <p:nvPr/>
        </p:nvPicPr>
        <p:blipFill>
          <a:blip r:embed="rId7"/>
          <a:stretch>
            <a:fillRect/>
          </a:stretch>
        </p:blipFill>
        <p:spPr>
          <a:xfrm>
            <a:off x="880110" y="5223510"/>
            <a:ext cx="297180" cy="297180"/>
          </a:xfrm>
          <a:prstGeom prst="rect">
            <a:avLst/>
          </a:prstGeom>
        </p:spPr>
      </p:pic>
      <p:sp>
        <p:nvSpPr>
          <p:cNvPr id="26" name="Risk 5"/>
          <p:cNvSpPr txBox="1"/>
          <p:nvPr/>
        </p:nvSpPr>
        <p:spPr>
          <a:xfrm>
            <a:off x="1554480" y="49834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Privacy</a:t>
            </a:r>
            <a:endParaRPr lang="en-US" sz="1700" dirty="0"/>
          </a:p>
        </p:txBody>
      </p:sp>
      <p:sp>
        <p:nvSpPr>
          <p:cNvPr id="27" name="Answer 5"/>
          <p:cNvSpPr txBox="1"/>
          <p:nvPr/>
        </p:nvSpPr>
        <p:spPr>
          <a:xfrm>
            <a:off x="5029200" y="4983480"/>
            <a:ext cx="6400800" cy="777240"/>
          </a:xfrm>
          <a:prstGeom prst="rect">
            <a:avLst/>
          </a:prstGeom>
          <a:noFill/>
          <a:ln/>
        </p:spPr>
        <p:txBody>
          <a:bodyPr wrap="square" lIns="0" tIns="0" rIns="0" bIns="0" rtlCol="0" anchor="ctr"/>
          <a:lstStyle/>
          <a:p>
            <a:pPr marL="0" indent="0">
              <a:buNone/>
            </a:pPr>
            <a:r>
              <a:rPr lang="en-US" sz="1600">
                <a:solidFill>
                  <a:schemeClr val="accent5"/>
                </a:solidFill>
              </a:rPr>
              <a:t>No ads, no selling data; partners only see anonymised totals (Swiss nFADP)</a:t>
            </a:r>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RECYCL IT">
  <a:themeElements>
    <a:clrScheme name="RECYCL IT">
      <a:dk1>
        <a:srgbClr val="14342B"/>
      </a:dk1>
      <a:lt1>
        <a:srgbClr val="FFFFFF"/>
      </a:lt1>
      <a:dk2>
        <a:srgbClr val="23704F"/>
      </a:dk2>
      <a:lt2>
        <a:srgbClr val="EEF4EE"/>
      </a:lt2>
      <a:accent1>
        <a:srgbClr val="F2A33A"/>
      </a:accent1>
      <a:accent2>
        <a:srgbClr val="23704F"/>
      </a:accent2>
      <a:accent3>
        <a:srgbClr val="5FAF7E"/>
      </a:accent3>
      <a:accent4>
        <a:srgbClr val="C9DCD3"/>
      </a:accent4>
      <a:accent5>
        <a:srgbClr val="44524C"/>
      </a:accent5>
      <a:accent6>
        <a:srgbClr val="E35D3A"/>
      </a:accent6>
      <a:hlink>
        <a:srgbClr val="23704F"/>
      </a:hlink>
      <a:folHlink>
        <a:srgbClr val="44524C"/>
      </a:folHlink>
    </a:clrScheme>
    <a:fontScheme name="RECYCL IT">
      <a:majorFont>
        <a:latin typeface="S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1715</Words>
  <Application>Microsoft Office PowerPoint</Application>
  <PresentationFormat>Breitbild</PresentationFormat>
  <Paragraphs>157</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ADLaM Display</vt:lpstr>
      <vt:lpstr>Arial</vt:lpstr>
      <vt:lpstr>Calibri</vt:lpstr>
      <vt:lpstr>RECYCL IT</vt:lpstr>
      <vt:lpstr>PowerPoint-Präsentation</vt:lpstr>
      <vt:lpstr>The Problem</vt:lpstr>
      <vt:lpstr>Our Solution</vt:lpstr>
      <vt:lpstr>Business Model</vt:lpstr>
      <vt:lpstr>Why RECYCL IT?</vt:lpstr>
      <vt:lpstr>Go-to-Market</vt:lpstr>
      <vt:lpstr>Progress &amp; Next Steps</vt:lpstr>
      <vt:lpstr>PowerPoint-Präsentation</vt:lpstr>
      <vt:lpstr>PowerPoint-Präsentation</vt:lpstr>
      <vt:lpstr>Backup: Risks &amp; Our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RECYCL IT! – 4 min pitch</dc:title>
  <dc:subject>PptxGenJS Presentation</dc:subject>
  <dc:creator>PptxGenJS</dc:creator>
  <cp:lastModifiedBy>Gabriel da Fonseca</cp:lastModifiedBy>
  <cp:revision>4</cp:revision>
  <dcterms:created xsi:type="dcterms:W3CDTF">2026-10-24T01:41:37Z</dcterms:created>
  <dcterms:modified xsi:type="dcterms:W3CDTF">2026-10-24T10:59:03Z</dcterms:modified>
</cp:coreProperties>
</file>