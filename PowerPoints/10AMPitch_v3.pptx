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8" r:id="rId4"/>
    <p:sldId id="259" r:id="rId5"/>
    <p:sldId id="266" r:id="rId6"/>
    <p:sldId id="261" r:id="rId7"/>
    <p:sldId id="262" r:id="rId8"/>
    <p:sldId id="263" r:id="rId9"/>
    <p:sldId id="267"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1" d="100"/>
          <a:sy n="101" d="100"/>
        </p:scale>
        <p:origin x="2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GB" sz="1200" b="1">
                <a:solidFill>
                  <a:schemeClr val="tx2"/>
                </a:solidFill>
              </a:rPr>
              <a:t>Revenue vs. costs per year (CHF thousand)</a:t>
            </a:r>
          </a:p>
        </c:rich>
      </c:tx>
      <c:overlay val="0"/>
    </c:title>
    <c:autoTitleDeleted val="0"/>
    <c:plotArea>
      <c:layout/>
      <c:barChart>
        <c:barDir val="col"/>
        <c:grouping val="clustered"/>
        <c:varyColors val="1"/>
        <c:ser>
          <c:idx val="0"/>
          <c:order val="0"/>
          <c:tx>
            <c:strRef>
              <c:f>Sheet1!$B$1</c:f>
              <c:strCache>
                <c:ptCount val="1"/>
                <c:pt idx="0">
                  <c:v>Revenue</c:v>
                </c:pt>
              </c:strCache>
            </c:strRef>
          </c:tx>
          <c:spPr>
            <a:solidFill>
              <a:schemeClr val="accent1"/>
            </a:solidFill>
          </c:spPr>
          <c:invertIfNegative val="1"/>
          <c:dLbls>
            <c:numFmt formatCode="0" sourceLinked="0"/>
            <c:spPr>
              <a:noFill/>
              <a:ln>
                <a:noFill/>
              </a:ln>
              <a:effectLst/>
            </c:spPr>
            <c:txPr>
              <a:bodyPr/>
              <a:lstStyle/>
              <a:p>
                <a:pPr>
                  <a:defRPr sz="1100">
                    <a:solidFill>
                      <a:schemeClr val="tx1"/>
                    </a:solidFill>
                  </a:defRPr>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2027</c:v>
                </c:pt>
                <c:pt idx="1">
                  <c:v>2028</c:v>
                </c:pt>
                <c:pt idx="2">
                  <c:v>2029</c:v>
                </c:pt>
              </c:strCache>
            </c:strRef>
          </c:cat>
          <c:val>
            <c:numRef>
              <c:f>Sheet1!$B$2:$B$4</c:f>
              <c:numCache>
                <c:formatCode>General</c:formatCode>
                <c:ptCount val="3"/>
                <c:pt idx="0">
                  <c:v>22</c:v>
                </c:pt>
                <c:pt idx="1">
                  <c:v>55</c:v>
                </c:pt>
                <c:pt idx="2">
                  <c:v>142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A7-4425-B5CD-E45477338039}"/>
            </c:ext>
          </c:extLst>
        </c:ser>
        <c:ser>
          <c:idx val="1"/>
          <c:order val="1"/>
          <c:tx>
            <c:strRef>
              <c:f>Sheet1!$C$1</c:f>
              <c:strCache>
                <c:ptCount val="1"/>
                <c:pt idx="0">
                  <c:v>Costs</c:v>
                </c:pt>
              </c:strCache>
            </c:strRef>
          </c:tx>
          <c:spPr>
            <a:solidFill>
              <a:schemeClr val="accent2"/>
            </a:solidFill>
          </c:spPr>
          <c:invertIfNegative val="1"/>
          <c:dLbls>
            <c:numFmt formatCode="0" sourceLinked="0"/>
            <c:spPr>
              <a:noFill/>
              <a:ln>
                <a:noFill/>
              </a:ln>
              <a:effectLst/>
            </c:spPr>
            <c:txPr>
              <a:bodyPr/>
              <a:lstStyle/>
              <a:p>
                <a:pPr>
                  <a:defRPr sz="1100">
                    <a:solidFill>
                      <a:schemeClr val="tx1"/>
                    </a:solidFill>
                  </a:defRPr>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2027</c:v>
                </c:pt>
                <c:pt idx="1">
                  <c:v>2028</c:v>
                </c:pt>
                <c:pt idx="2">
                  <c:v>2029</c:v>
                </c:pt>
              </c:strCache>
            </c:strRef>
          </c:cat>
          <c:val>
            <c:numRef>
              <c:f>Sheet1!$C$2:$C$4</c:f>
              <c:numCache>
                <c:formatCode>General</c:formatCode>
                <c:ptCount val="3"/>
                <c:pt idx="0">
                  <c:v>42</c:v>
                </c:pt>
                <c:pt idx="1">
                  <c:v>74</c:v>
                </c:pt>
                <c:pt idx="2">
                  <c:v>122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A7-4425-B5CD-E45477338039}"/>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chemeClr val="accent5"/>
            </a:solidFill>
          </a:ln>
        </c:spPr>
        <c:txPr>
          <a:bodyPr/>
          <a:lstStyle/>
          <a:p>
            <a:pPr>
              <a:defRPr sz="1200">
                <a:solidFill>
                  <a:schemeClr val="accent4"/>
                </a:solidFill>
              </a:defRPr>
            </a:pPr>
            <a:endParaRPr lang="en-CH"/>
          </a:p>
        </c:txPr>
        <c:crossAx val="-2113994440"/>
        <c:crosses val="autoZero"/>
        <c:auto val="1"/>
        <c:lblAlgn val="ctr"/>
        <c:lblOffset val="100"/>
        <c:noMultiLvlLbl val="0"/>
      </c:catAx>
      <c:valAx>
        <c:axId val="-2113994440"/>
        <c:scaling>
          <c:orientation val="minMax"/>
          <c:max val="165"/>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solidFill>
                <a:schemeClr val="accent4"/>
              </a:solidFill>
            </a:defRPr>
          </a:pPr>
          <a:endParaRPr lang="en-CH"/>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94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Gabriel opens.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pays? Not the residents. Three paying groups: municipalities, employers, local shops and brands. The first customer we are going after is Gemeinde Risch in Rotkreuz, about 11,000 residents; our demo already runs on real OpenStreetMap data there. First target employer: Roche Diagnostics Rotkreuz, almost 3,000 employees. Handover to Euro.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use it for free, organisations pay. Municipality licence: 80 Rappen per resident per year, minimum 3,000 francs; Risch about 9,000 a year. Employer challenges: 3 francs per employee per year. Sponsored quests: 1,500 francs per monthly quest.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Switzerland has 2,110 municipalities and about 9 million residents. At 80 Rappen per resident, the municipal market alone is about 7 million francs a year. Central Switzerland, around 850,000 residents, is about 680,000 francs. Our first target, the Canton of Zug with 11 municipalities, is about 100,000 francs a year. Best-known competitor: Recycling Map, over 16,000 collection points. It tells you where; we tell you what, and reward it. No other app sells to employers.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see our QR code on the recycling station or in the municipality newsletter. They scan their first product and get an answer in seconds. They log their recycling and earn points. They come back for monthly quests and challenges with friends. And they redeem points at local sponsors, which is why sponsors pay 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strategy: sell to the organisation and let it bring the users. Step one: pilot with Risch in 2027, QR stickers on every station and an article in the Gemeinde newsletter; costs almost nothing and reaches every household. Step two: an employer challenge at Roche Rotkreuz via their intranet. Step three: use the Risch numbers as a case study to sell to the other Zug municipalities in 2028, through the cantonal network of waste managers. Then Central Switzerland in 2029.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BubbleCycle: free for people, paid by the ones who save money when people recycle right.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754880"/>
            <a:ext cx="3657600" cy="274320"/>
          </a:xfrm>
          <a:prstGeom prst="rect">
            <a:avLst/>
          </a:prstGeom>
          <a:noFill/>
          <a:ln/>
        </p:spPr>
        <p:txBody>
          <a:bodyPr wrap="square" rtlCol="0" anchor="ctr"/>
          <a:lstStyle/>
          <a:p>
            <a:pPr marL="0" indent="0">
              <a:buNone/>
            </a:pPr>
            <a:r>
              <a:rPr lang="en-US" sz="1000" dirty="0">
                <a:solidFill>
                  <a:schemeClr val="accent4"/>
                </a:solidFill>
              </a:rPr>
              <a:t>BubbleCycle · Market Pitch</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02340"/>
            <a:ext cx="8046720" cy="1097280"/>
          </a:xfrm>
          <a:prstGeom prst="rect">
            <a:avLst/>
          </a:prstGeom>
          <a:noFill/>
          <a:ln/>
        </p:spPr>
        <p:txBody>
          <a:bodyPr wrap="square" rtlCol="0" anchor="b"/>
          <a:lstStyle/>
          <a:p>
            <a:r>
              <a:rPr lang="en-US" dirty="0">
                <a:latin typeface="ADLaM Display" panose="020F0502020204030204" pitchFamily="2" charset="0"/>
                <a:ea typeface="ADLaM Display" panose="020F0502020204030204" pitchFamily="2" charset="0"/>
                <a:cs typeface="ADLaM Display" panose="020F0502020204030204" pitchFamily="2" charset="0"/>
              </a:rPr>
              <a:t>RECYCL  IT!</a:t>
            </a:r>
            <a:br>
              <a:rPr lang="en-US" dirty="0">
                <a:latin typeface="ADLaM Display" panose="020F0502020204030204" pitchFamily="2" charset="0"/>
                <a:ea typeface="ADLaM Display" panose="020F0502020204030204" pitchFamily="2" charset="0"/>
                <a:cs typeface="ADLaM Display" panose="020F0502020204030204" pitchFamily="2" charset="0"/>
              </a:rPr>
            </a:b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nchor="t"/>
          <a:lstStyle/>
          <a:p>
            <a:pPr marL="0" indent="0" algn="l">
              <a:buNone/>
            </a:pPr>
            <a:r>
              <a:rPr lang="en-US" sz="1800" dirty="0">
                <a:solidFill>
                  <a:schemeClr val="accent5"/>
                </a:solidFill>
              </a:rPr>
              <a:t>Recycle right. Get rewarded.</a:t>
            </a:r>
            <a:endParaRPr lang="en-US" sz="1800" dirty="0"/>
          </a:p>
          <a:p>
            <a:pPr marL="0" indent="0" algn="l">
              <a:buNone/>
            </a:pPr>
            <a:r>
              <a:rPr lang="en-US" sz="1800" dirty="0">
                <a:solidFill>
                  <a:schemeClr val="accent5"/>
                </a:solidFill>
              </a:rPr>
              <a:t>Market Pitch · Zentral-Hack 2026 · Thorben, </a:t>
            </a:r>
            <a:r>
              <a:rPr lang="en-CH" dirty="0" err="1"/>
              <a:t>Pipatsakorn</a:t>
            </a:r>
            <a:r>
              <a:rPr lang="en-US" sz="1800" dirty="0">
                <a:solidFill>
                  <a:schemeClr val="accent5"/>
                </a:solidFill>
              </a:rPr>
              <a:t>, Gabriel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Who uses it: our target group</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
        <p:nvSpPr>
          <p:cNvPr id="26" name="Rounded Rectangle 25"/>
          <p:cNvSpPr/>
          <p:nvPr/>
        </p:nvSpPr>
        <p:spPr>
          <a:xfrm>
            <a:off x="457200" y="1234440"/>
            <a:ext cx="2743200" cy="3017520"/>
          </a:xfrm>
          <a:prstGeom prst="roundRect">
            <a:avLst>
              <a:gd name="adj" fmla="val 35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1463040"/>
            <a:ext cx="2286000" cy="274320"/>
          </a:xfrm>
          <a:prstGeom prst="rect">
            <a:avLst/>
          </a:prstGeom>
          <a:noFill/>
        </p:spPr>
        <p:txBody>
          <a:bodyPr wrap="square" lIns="0" tIns="0" rIns="0" bIns="0" anchor="t">
            <a:spAutoFit/>
          </a:bodyPr>
          <a:lstStyle/>
          <a:p>
            <a:pPr algn="l">
              <a:spcAft>
                <a:spcPts val="0"/>
              </a:spcAft>
            </a:pPr>
            <a:r>
              <a:rPr sz="1200" b="1">
                <a:solidFill>
                  <a:schemeClr val="bg1"/>
                </a:solidFill>
              </a:rPr>
              <a:t>Pilot reach in Rotkreuz</a:t>
            </a:r>
          </a:p>
        </p:txBody>
      </p:sp>
      <p:sp>
        <p:nvSpPr>
          <p:cNvPr id="28" name="TextBox 27"/>
          <p:cNvSpPr txBox="1"/>
          <p:nvPr/>
        </p:nvSpPr>
        <p:spPr>
          <a:xfrm>
            <a:off x="685800" y="1783080"/>
            <a:ext cx="2286000" cy="640080"/>
          </a:xfrm>
          <a:prstGeom prst="rect">
            <a:avLst/>
          </a:prstGeom>
          <a:noFill/>
        </p:spPr>
        <p:txBody>
          <a:bodyPr wrap="square" lIns="0" tIns="0" rIns="0" bIns="0" anchor="t">
            <a:spAutoFit/>
          </a:bodyPr>
          <a:lstStyle/>
          <a:p>
            <a:pPr algn="l">
              <a:spcAft>
                <a:spcPts val="0"/>
              </a:spcAft>
            </a:pPr>
            <a:r>
              <a:rPr sz="4000" b="1">
                <a:solidFill>
                  <a:schemeClr val="bg1"/>
                </a:solidFill>
                <a:latin typeface="Cambria"/>
              </a:rPr>
              <a:t>14,190</a:t>
            </a:r>
          </a:p>
        </p:txBody>
      </p:sp>
      <p:sp>
        <p:nvSpPr>
          <p:cNvPr id="29" name="TextBox 28"/>
          <p:cNvSpPr txBox="1"/>
          <p:nvPr/>
        </p:nvSpPr>
        <p:spPr>
          <a:xfrm>
            <a:off x="685800" y="2468880"/>
            <a:ext cx="2286000" cy="640080"/>
          </a:xfrm>
          <a:prstGeom prst="rect">
            <a:avLst/>
          </a:prstGeom>
          <a:noFill/>
        </p:spPr>
        <p:txBody>
          <a:bodyPr wrap="square" lIns="0" tIns="0" rIns="0" bIns="0" anchor="t">
            <a:spAutoFit/>
          </a:bodyPr>
          <a:lstStyle/>
          <a:p>
            <a:pPr algn="l">
              <a:spcAft>
                <a:spcPts val="0"/>
              </a:spcAft>
            </a:pPr>
            <a:r>
              <a:rPr sz="1300" b="0">
                <a:solidFill>
                  <a:schemeClr val="bg1"/>
                </a:solidFill>
              </a:rPr>
              <a:t>11,200 residents of Risch</a:t>
            </a:r>
          </a:p>
          <a:p>
            <a:pPr algn="l">
              <a:spcAft>
                <a:spcPts val="0"/>
              </a:spcAft>
            </a:pPr>
            <a:r>
              <a:rPr sz="1300" b="0">
                <a:solidFill>
                  <a:schemeClr val="bg1"/>
                </a:solidFill>
              </a:rPr>
              <a:t>+ 2,990 Roche employees</a:t>
            </a:r>
          </a:p>
        </p:txBody>
      </p:sp>
      <p:sp>
        <p:nvSpPr>
          <p:cNvPr id="30" name="TextBox 29"/>
          <p:cNvSpPr txBox="1"/>
          <p:nvPr/>
        </p:nvSpPr>
        <p:spPr>
          <a:xfrm>
            <a:off x="685800" y="3291840"/>
            <a:ext cx="2286000" cy="777240"/>
          </a:xfrm>
          <a:prstGeom prst="rect">
            <a:avLst/>
          </a:prstGeom>
          <a:noFill/>
        </p:spPr>
        <p:txBody>
          <a:bodyPr wrap="square" lIns="0" tIns="0" rIns="0" bIns="0" anchor="b">
            <a:spAutoFit/>
          </a:bodyPr>
          <a:lstStyle/>
          <a:p>
            <a:pPr algn="l">
              <a:spcAft>
                <a:spcPts val="0"/>
              </a:spcAft>
            </a:pPr>
            <a:r>
              <a:rPr sz="1300" b="1">
                <a:solidFill>
                  <a:schemeClr val="accent2"/>
                </a:solidFill>
              </a:rPr>
              <a:t>Goal year 1: </a:t>
            </a:r>
            <a:r>
              <a:rPr sz="1300" b="0">
                <a:solidFill>
                  <a:schemeClr val="bg1"/>
                </a:solidFill>
              </a:rPr>
              <a:t>10% active, about 1,400 users</a:t>
            </a:r>
          </a:p>
        </p:txBody>
      </p:sp>
      <p:sp>
        <p:nvSpPr>
          <p:cNvPr id="31" name="Rounded Rectangle 30"/>
          <p:cNvSpPr/>
          <p:nvPr/>
        </p:nvSpPr>
        <p:spPr>
          <a:xfrm>
            <a:off x="3474720" y="1234440"/>
            <a:ext cx="5212080" cy="91440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57600" y="14173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FaHome.png"/>
          <p:cNvPicPr>
            <a:picLocks noChangeAspect="1"/>
          </p:cNvPicPr>
          <p:nvPr/>
        </p:nvPicPr>
        <p:blipFill>
          <a:blip r:embed="rId2"/>
          <a:stretch>
            <a:fillRect/>
          </a:stretch>
        </p:blipFill>
        <p:spPr>
          <a:xfrm>
            <a:off x="3805732" y="1565452"/>
            <a:ext cx="252374" cy="252374"/>
          </a:xfrm>
          <a:prstGeom prst="rect">
            <a:avLst/>
          </a:prstGeom>
        </p:spPr>
      </p:pic>
      <p:sp>
        <p:nvSpPr>
          <p:cNvPr id="34" name="TextBox 33"/>
          <p:cNvSpPr txBox="1"/>
          <p:nvPr/>
        </p:nvSpPr>
        <p:spPr>
          <a:xfrm>
            <a:off x="4434840" y="1344168"/>
            <a:ext cx="406908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Households &amp; families</a:t>
            </a:r>
          </a:p>
        </p:txBody>
      </p:sp>
      <p:sp>
        <p:nvSpPr>
          <p:cNvPr id="35" name="TextBox 34"/>
          <p:cNvSpPr txBox="1"/>
          <p:nvPr/>
        </p:nvSpPr>
        <p:spPr>
          <a:xfrm>
            <a:off x="4434840" y="1636776"/>
            <a:ext cx="4069080" cy="457200"/>
          </a:xfrm>
          <a:prstGeom prst="rect">
            <a:avLst/>
          </a:prstGeom>
          <a:noFill/>
        </p:spPr>
        <p:txBody>
          <a:bodyPr wrap="square" lIns="0" tIns="0" rIns="0" bIns="0" anchor="t">
            <a:spAutoFit/>
          </a:bodyPr>
          <a:lstStyle/>
          <a:p>
            <a:pPr algn="l">
              <a:spcAft>
                <a:spcPts val="0"/>
              </a:spcAft>
            </a:pPr>
            <a:r>
              <a:rPr sz="1200" b="0">
                <a:solidFill>
                  <a:schemeClr val="tx1"/>
                </a:solidFill>
              </a:rPr>
              <a:t>Want to sort right but often don’t know what goes where. Kids love collecting points.</a:t>
            </a:r>
          </a:p>
        </p:txBody>
      </p:sp>
      <p:sp>
        <p:nvSpPr>
          <p:cNvPr id="36" name="Rounded Rectangle 35"/>
          <p:cNvSpPr/>
          <p:nvPr/>
        </p:nvSpPr>
        <p:spPr>
          <a:xfrm>
            <a:off x="3474720" y="2286000"/>
            <a:ext cx="5212080" cy="91440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657600" y="24688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FaUserFriends.png"/>
          <p:cNvPicPr>
            <a:picLocks noChangeAspect="1"/>
          </p:cNvPicPr>
          <p:nvPr/>
        </p:nvPicPr>
        <p:blipFill>
          <a:blip r:embed="rId3"/>
          <a:stretch>
            <a:fillRect/>
          </a:stretch>
        </p:blipFill>
        <p:spPr>
          <a:xfrm>
            <a:off x="3805732" y="2617012"/>
            <a:ext cx="252374" cy="252374"/>
          </a:xfrm>
          <a:prstGeom prst="rect">
            <a:avLst/>
          </a:prstGeom>
        </p:spPr>
      </p:pic>
      <p:sp>
        <p:nvSpPr>
          <p:cNvPr id="39" name="TextBox 38"/>
          <p:cNvSpPr txBox="1"/>
          <p:nvPr/>
        </p:nvSpPr>
        <p:spPr>
          <a:xfrm>
            <a:off x="4434840" y="2395728"/>
            <a:ext cx="406908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Young people, 15–30</a:t>
            </a:r>
          </a:p>
        </p:txBody>
      </p:sp>
      <p:sp>
        <p:nvSpPr>
          <p:cNvPr id="40" name="TextBox 39"/>
          <p:cNvSpPr txBox="1"/>
          <p:nvPr/>
        </p:nvSpPr>
        <p:spPr>
          <a:xfrm>
            <a:off x="4434840" y="2688336"/>
            <a:ext cx="4069080" cy="457200"/>
          </a:xfrm>
          <a:prstGeom prst="rect">
            <a:avLst/>
          </a:prstGeom>
          <a:noFill/>
        </p:spPr>
        <p:txBody>
          <a:bodyPr wrap="square" lIns="0" tIns="0" rIns="0" bIns="0" anchor="t">
            <a:spAutoFit/>
          </a:bodyPr>
          <a:lstStyle/>
          <a:p>
            <a:pPr algn="l">
              <a:spcAft>
                <a:spcPts val="0"/>
              </a:spcAft>
            </a:pPr>
            <a:r>
              <a:rPr sz="1200" b="0">
                <a:solidFill>
                  <a:schemeClr val="tx1"/>
                </a:solidFill>
              </a:rPr>
              <a:t>Phone-first, motivated by challenges, badges and friends. No recycling routine yet.</a:t>
            </a:r>
          </a:p>
        </p:txBody>
      </p:sp>
      <p:sp>
        <p:nvSpPr>
          <p:cNvPr id="41" name="Rounded Rectangle 40"/>
          <p:cNvSpPr/>
          <p:nvPr/>
        </p:nvSpPr>
        <p:spPr>
          <a:xfrm>
            <a:off x="3474720" y="3337560"/>
            <a:ext cx="5212080" cy="91440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657600" y="352044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FaBriefcase.png"/>
          <p:cNvPicPr>
            <a:picLocks noChangeAspect="1"/>
          </p:cNvPicPr>
          <p:nvPr/>
        </p:nvPicPr>
        <p:blipFill>
          <a:blip r:embed="rId4"/>
          <a:stretch>
            <a:fillRect/>
          </a:stretch>
        </p:blipFill>
        <p:spPr>
          <a:xfrm>
            <a:off x="3805732" y="3668572"/>
            <a:ext cx="252374" cy="252374"/>
          </a:xfrm>
          <a:prstGeom prst="rect">
            <a:avLst/>
          </a:prstGeom>
        </p:spPr>
      </p:pic>
      <p:sp>
        <p:nvSpPr>
          <p:cNvPr id="44" name="TextBox 43"/>
          <p:cNvSpPr txBox="1"/>
          <p:nvPr/>
        </p:nvSpPr>
        <p:spPr>
          <a:xfrm>
            <a:off x="4434840" y="3447288"/>
            <a:ext cx="406908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Employees</a:t>
            </a:r>
          </a:p>
        </p:txBody>
      </p:sp>
      <p:sp>
        <p:nvSpPr>
          <p:cNvPr id="45" name="TextBox 44"/>
          <p:cNvSpPr txBox="1"/>
          <p:nvPr/>
        </p:nvSpPr>
        <p:spPr>
          <a:xfrm>
            <a:off x="4434840" y="3739896"/>
            <a:ext cx="4069080" cy="457200"/>
          </a:xfrm>
          <a:prstGeom prst="rect">
            <a:avLst/>
          </a:prstGeom>
          <a:noFill/>
        </p:spPr>
        <p:txBody>
          <a:bodyPr wrap="square" lIns="0" tIns="0" rIns="0" bIns="0" anchor="t">
            <a:spAutoFit/>
          </a:bodyPr>
          <a:lstStyle/>
          <a:p>
            <a:pPr algn="l">
              <a:spcAft>
                <a:spcPts val="0"/>
              </a:spcAft>
            </a:pPr>
            <a:r>
              <a:rPr sz="1200" b="0">
                <a:solidFill>
                  <a:schemeClr val="tx1"/>
                </a:solidFill>
              </a:rPr>
              <a:t>Join through their company’s team challenge and keep the habit at home.</a:t>
            </a:r>
          </a:p>
        </p:txBody>
      </p:sp>
      <p:sp>
        <p:nvSpPr>
          <p:cNvPr id="46" name="TextBox 45"/>
          <p:cNvSpPr txBox="1"/>
          <p:nvPr/>
        </p:nvSpPr>
        <p:spPr>
          <a:xfrm>
            <a:off x="457200" y="4389120"/>
            <a:ext cx="8229600" cy="274320"/>
          </a:xfrm>
          <a:prstGeom prst="rect">
            <a:avLst/>
          </a:prstGeom>
          <a:noFill/>
        </p:spPr>
        <p:txBody>
          <a:bodyPr wrap="square" lIns="0" tIns="0" rIns="0" bIns="0" anchor="t">
            <a:spAutoFit/>
          </a:bodyPr>
          <a:lstStyle/>
          <a:p>
            <a:pPr algn="l">
              <a:spcAft>
                <a:spcPts val="0"/>
              </a:spcAft>
            </a:pPr>
            <a:r>
              <a:rPr sz="1100" b="0" i="1">
                <a:solidFill>
                  <a:schemeClr val="accent4"/>
                </a:solidFill>
              </a:rPr>
              <a:t>First customer: Gemeinde Risch pays the licence, its residents are our first users.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Free for residents, paid by three groups</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
        <p:nvSpPr>
          <p:cNvPr id="3" name="Shape 1"/>
          <p:cNvSpPr/>
          <p:nvPr/>
        </p:nvSpPr>
        <p:spPr>
          <a:xfrm>
            <a:off x="457200" y="1234440"/>
            <a:ext cx="2606040" cy="315468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4" name="Shape 2"/>
          <p:cNvSpPr/>
          <p:nvPr/>
        </p:nvSpPr>
        <p:spPr>
          <a:xfrm>
            <a:off x="685800" y="137160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5" name="Text 3"/>
          <p:cNvSpPr txBox="1"/>
          <p:nvPr/>
        </p:nvSpPr>
        <p:spPr>
          <a:xfrm>
            <a:off x="68580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685800" y="2011680"/>
            <a:ext cx="219456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Municipalities</a:t>
            </a:r>
            <a:endParaRPr lang="en-US" sz="2000" dirty="0"/>
          </a:p>
        </p:txBody>
      </p:sp>
      <p:sp>
        <p:nvSpPr>
          <p:cNvPr id="7" name="Text 5"/>
          <p:cNvSpPr txBox="1"/>
          <p:nvPr/>
        </p:nvSpPr>
        <p:spPr>
          <a:xfrm>
            <a:off x="685800" y="2423160"/>
            <a:ext cx="2194560" cy="457200"/>
          </a:xfrm>
          <a:prstGeom prst="rect">
            <a:avLst/>
          </a:prstGeom>
          <a:noFill/>
          <a:ln/>
        </p:spPr>
        <p:txBody>
          <a:bodyPr wrap="square" lIns="0" tIns="0" rIns="0" bIns="0" rtlCol="0" anchor="t"/>
          <a:lstStyle/>
          <a:p>
            <a:pPr marL="0" indent="0">
              <a:buNone/>
            </a:pPr>
            <a:r>
              <a:rPr lang="en-US" sz="1300" dirty="0">
                <a:solidFill>
                  <a:schemeClr val="tx1"/>
                </a:solidFill>
              </a:rPr>
              <a:t>Save disposal costs from wrongly sorted waste</a:t>
            </a:r>
            <a:endParaRPr lang="en-US" sz="1400" dirty="0"/>
          </a:p>
        </p:txBody>
      </p:sp>
      <p:sp>
        <p:nvSpPr>
          <p:cNvPr id="8" name="Text 6"/>
          <p:cNvSpPr txBox="1"/>
          <p:nvPr/>
        </p:nvSpPr>
        <p:spPr>
          <a:xfrm>
            <a:off x="685800" y="2926080"/>
            <a:ext cx="2194560" cy="384048"/>
          </a:xfrm>
          <a:prstGeom prst="rect">
            <a:avLst/>
          </a:prstGeom>
          <a:noFill/>
          <a:ln/>
        </p:spPr>
        <p:txBody>
          <a:bodyPr wrap="square" lIns="0" tIns="0" rIns="0" bIns="0" rtlCol="0" anchor="t"/>
          <a:lstStyle/>
          <a:p>
            <a:pPr marL="0" indent="0">
              <a:buNone/>
            </a:pPr>
            <a:r>
              <a:rPr lang="en-US" sz="1300" b="1" dirty="0">
                <a:solidFill>
                  <a:schemeClr val="accent1"/>
                </a:solidFill>
              </a:rPr>
              <a:t>First: Gemeinde Risch, ~11,200 residents</a:t>
            </a:r>
            <a:endParaRPr lang="en-US" sz="1300" dirty="0"/>
          </a:p>
        </p:txBody>
      </p:sp>
      <p:sp>
        <p:nvSpPr>
          <p:cNvPr id="9" name="Shape 7"/>
          <p:cNvSpPr/>
          <p:nvPr/>
        </p:nvSpPr>
        <p:spPr>
          <a:xfrm>
            <a:off x="3264408" y="1234440"/>
            <a:ext cx="2606040" cy="315468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0" name="Shape 8"/>
          <p:cNvSpPr/>
          <p:nvPr/>
        </p:nvSpPr>
        <p:spPr>
          <a:xfrm>
            <a:off x="3493008" y="137160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11" name="Text 9"/>
          <p:cNvSpPr txBox="1"/>
          <p:nvPr/>
        </p:nvSpPr>
        <p:spPr>
          <a:xfrm>
            <a:off x="3493008"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3493008" y="2011680"/>
            <a:ext cx="219456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Employers</a:t>
            </a:r>
            <a:endParaRPr lang="en-US" sz="2000" dirty="0"/>
          </a:p>
        </p:txBody>
      </p:sp>
      <p:sp>
        <p:nvSpPr>
          <p:cNvPr id="13" name="Text 11"/>
          <p:cNvSpPr txBox="1"/>
          <p:nvPr/>
        </p:nvSpPr>
        <p:spPr>
          <a:xfrm>
            <a:off x="3493008" y="2423160"/>
            <a:ext cx="2194560" cy="457200"/>
          </a:xfrm>
          <a:prstGeom prst="rect">
            <a:avLst/>
          </a:prstGeom>
          <a:noFill/>
          <a:ln/>
        </p:spPr>
        <p:txBody>
          <a:bodyPr wrap="square" lIns="0" tIns="0" rIns="0" bIns="0" rtlCol="0" anchor="t"/>
          <a:lstStyle/>
          <a:p>
            <a:pPr marL="0" indent="0">
              <a:buNone/>
            </a:pPr>
            <a:r>
              <a:rPr lang="en-US" sz="1300" dirty="0">
                <a:solidFill>
                  <a:schemeClr val="tx1"/>
                </a:solidFill>
              </a:rPr>
              <a:t>Show sustainability to staff and in ESG reports</a:t>
            </a:r>
            <a:endParaRPr lang="en-US" sz="1400" dirty="0"/>
          </a:p>
        </p:txBody>
      </p:sp>
      <p:sp>
        <p:nvSpPr>
          <p:cNvPr id="14" name="Text 12"/>
          <p:cNvSpPr txBox="1"/>
          <p:nvPr/>
        </p:nvSpPr>
        <p:spPr>
          <a:xfrm>
            <a:off x="3493008" y="2926080"/>
            <a:ext cx="2194560" cy="384048"/>
          </a:xfrm>
          <a:prstGeom prst="rect">
            <a:avLst/>
          </a:prstGeom>
          <a:noFill/>
          <a:ln/>
        </p:spPr>
        <p:txBody>
          <a:bodyPr wrap="square" lIns="0" tIns="0" rIns="0" bIns="0" rtlCol="0" anchor="t"/>
          <a:lstStyle/>
          <a:p>
            <a:pPr marL="0" indent="0">
              <a:buNone/>
            </a:pPr>
            <a:r>
              <a:rPr lang="en-US" sz="1300" b="1" dirty="0">
                <a:solidFill>
                  <a:schemeClr val="accent1"/>
                </a:solidFill>
              </a:rPr>
              <a:t>First: Roche Rotkreuz, ~2,990 employees</a:t>
            </a:r>
            <a:endParaRPr lang="en-US" sz="1300" dirty="0"/>
          </a:p>
        </p:txBody>
      </p:sp>
      <p:sp>
        <p:nvSpPr>
          <p:cNvPr id="15" name="Shape 13"/>
          <p:cNvSpPr/>
          <p:nvPr/>
        </p:nvSpPr>
        <p:spPr>
          <a:xfrm>
            <a:off x="6071616" y="1234440"/>
            <a:ext cx="2606040" cy="315468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6" name="Shape 14"/>
          <p:cNvSpPr/>
          <p:nvPr/>
        </p:nvSpPr>
        <p:spPr>
          <a:xfrm>
            <a:off x="6300216" y="137160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17" name="Text 15"/>
          <p:cNvSpPr txBox="1"/>
          <p:nvPr/>
        </p:nvSpPr>
        <p:spPr>
          <a:xfrm>
            <a:off x="6300216"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6"/>
          <p:cNvSpPr txBox="1"/>
          <p:nvPr/>
        </p:nvSpPr>
        <p:spPr>
          <a:xfrm>
            <a:off x="6300216" y="2011680"/>
            <a:ext cx="219456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Local sponsors</a:t>
            </a:r>
            <a:endParaRPr lang="en-US" sz="2000" dirty="0"/>
          </a:p>
        </p:txBody>
      </p:sp>
      <p:sp>
        <p:nvSpPr>
          <p:cNvPr id="19" name="Text 17"/>
          <p:cNvSpPr txBox="1"/>
          <p:nvPr/>
        </p:nvSpPr>
        <p:spPr>
          <a:xfrm>
            <a:off x="6300216" y="2423160"/>
            <a:ext cx="2194560" cy="457200"/>
          </a:xfrm>
          <a:prstGeom prst="rect">
            <a:avLst/>
          </a:prstGeom>
          <a:noFill/>
          <a:ln/>
        </p:spPr>
        <p:txBody>
          <a:bodyPr wrap="square" lIns="0" tIns="0" rIns="0" bIns="0" rtlCol="0" anchor="t"/>
          <a:lstStyle/>
          <a:p>
            <a:pPr marL="0" indent="0">
              <a:buNone/>
            </a:pPr>
            <a:r>
              <a:rPr lang="en-US" sz="1300" dirty="0">
                <a:solidFill>
                  <a:schemeClr val="tx1"/>
                </a:solidFill>
              </a:rPr>
              <a:t>Reach active local customers through rewards</a:t>
            </a:r>
            <a:endParaRPr lang="en-US" sz="1400" dirty="0"/>
          </a:p>
        </p:txBody>
      </p:sp>
      <p:sp>
        <p:nvSpPr>
          <p:cNvPr id="20" name="Text 18"/>
          <p:cNvSpPr txBox="1"/>
          <p:nvPr/>
        </p:nvSpPr>
        <p:spPr>
          <a:xfrm>
            <a:off x="6300216" y="2926080"/>
            <a:ext cx="2194560" cy="384048"/>
          </a:xfrm>
          <a:prstGeom prst="rect">
            <a:avLst/>
          </a:prstGeom>
          <a:noFill/>
          <a:ln/>
        </p:spPr>
        <p:txBody>
          <a:bodyPr wrap="square" lIns="0" tIns="0" rIns="0" bIns="0" rtlCol="0" anchor="t"/>
          <a:lstStyle/>
          <a:p>
            <a:pPr marL="0" indent="0">
              <a:buNone/>
            </a:pPr>
            <a:r>
              <a:rPr lang="en-US" sz="1300" b="1" dirty="0">
                <a:solidFill>
                  <a:schemeClr val="accent1"/>
                </a:solidFill>
              </a:rPr>
              <a:t>First: shops in Rotkreuz</a:t>
            </a:r>
            <a:endParaRPr lang="en-US" sz="1300" dirty="0"/>
          </a:p>
        </p:txBody>
      </p:sp>
      <p:sp>
        <p:nvSpPr>
          <p:cNvPr id="21" name="Text 19"/>
          <p:cNvSpPr txBox="1"/>
          <p:nvPr/>
        </p:nvSpPr>
        <p:spPr>
          <a:xfrm>
            <a:off x="457200" y="4462272"/>
            <a:ext cx="8229600" cy="274320"/>
          </a:xfrm>
          <a:prstGeom prst="rect">
            <a:avLst/>
          </a:prstGeom>
          <a:noFill/>
          <a:ln/>
        </p:spPr>
        <p:txBody>
          <a:bodyPr wrap="square" lIns="0" tIns="0" rIns="0" bIns="0" rtlCol="0" anchor="ctr"/>
          <a:lstStyle/>
          <a:p>
            <a:pPr marL="0" indent="0">
              <a:buNone/>
            </a:pPr>
            <a:r>
              <a:rPr lang="en-US" sz="1200" i="1" dirty="0">
                <a:solidFill>
                  <a:schemeClr val="accent4"/>
                </a:solidFill>
              </a:rPr>
              <a:t>Users: residents of Swiss municipalities, using the app for free</a:t>
            </a:r>
            <a:endParaRPr lang="en-US" sz="1400" dirty="0"/>
          </a:p>
        </p:txBody>
      </p:sp>
      <p:sp>
        <p:nvSpPr>
          <p:cNvPr id="26" name="TextBox 25"/>
          <p:cNvSpPr txBox="1"/>
          <p:nvPr/>
        </p:nvSpPr>
        <p:spPr>
          <a:xfrm>
            <a:off x="685800" y="3456432"/>
            <a:ext cx="2194560" cy="914400"/>
          </a:xfrm>
          <a:prstGeom prst="rect">
            <a:avLst/>
          </a:prstGeom>
          <a:noFill/>
        </p:spPr>
        <p:txBody>
          <a:bodyPr wrap="square" lIns="0" tIns="0" rIns="0" bIns="0" anchor="t">
            <a:spAutoFit/>
          </a:bodyPr>
          <a:lstStyle/>
          <a:p>
            <a:pPr>
              <a:spcAft>
                <a:spcPts val="200"/>
              </a:spcAft>
            </a:pPr>
            <a:r>
              <a:rPr sz="1200" b="1">
                <a:solidFill>
                  <a:schemeClr val="tx2"/>
                </a:solidFill>
              </a:rPr>
              <a:t>Also fits: </a:t>
            </a:r>
            <a:r>
              <a:rPr sz="1200" b="0">
                <a:solidFill>
                  <a:schemeClr val="tx1"/>
                </a:solidFill>
              </a:rPr>
              <a:t>Cham, Hünenberg, Steinhausen</a:t>
            </a:r>
          </a:p>
          <a:p>
            <a:pPr>
              <a:spcAft>
                <a:spcPts val="0"/>
              </a:spcAft>
            </a:pPr>
            <a:r>
              <a:rPr sz="1100" b="0">
                <a:solidFill>
                  <a:schemeClr val="accent4"/>
                </a:solidFill>
              </a:rPr>
              <a:t>towns with 5k–30k residents and their own collection points</a:t>
            </a:r>
          </a:p>
        </p:txBody>
      </p:sp>
      <p:sp>
        <p:nvSpPr>
          <p:cNvPr id="27" name="TextBox 26"/>
          <p:cNvSpPr txBox="1"/>
          <p:nvPr/>
        </p:nvSpPr>
        <p:spPr>
          <a:xfrm>
            <a:off x="3493008" y="3456432"/>
            <a:ext cx="2194560" cy="914400"/>
          </a:xfrm>
          <a:prstGeom prst="rect">
            <a:avLst/>
          </a:prstGeom>
          <a:noFill/>
        </p:spPr>
        <p:txBody>
          <a:bodyPr wrap="square" lIns="0" tIns="0" rIns="0" bIns="0" anchor="t">
            <a:spAutoFit/>
          </a:bodyPr>
          <a:lstStyle/>
          <a:p>
            <a:pPr>
              <a:spcAft>
                <a:spcPts val="200"/>
              </a:spcAft>
            </a:pPr>
            <a:r>
              <a:rPr sz="1200" b="1">
                <a:solidFill>
                  <a:schemeClr val="tx2"/>
                </a:solidFill>
              </a:rPr>
              <a:t>Also fits: </a:t>
            </a:r>
            <a:r>
              <a:rPr sz="1200" b="0">
                <a:solidFill>
                  <a:schemeClr val="tx1"/>
                </a:solidFill>
              </a:rPr>
              <a:t>V-ZUG, Siemens (Zug), Schindler (Ebikon)</a:t>
            </a:r>
          </a:p>
          <a:p>
            <a:pPr>
              <a:spcAft>
                <a:spcPts val="0"/>
              </a:spcAft>
            </a:pPr>
            <a:r>
              <a:rPr sz="1100" b="0">
                <a:solidFill>
                  <a:schemeClr val="accent4"/>
                </a:solidFill>
              </a:rPr>
              <a:t>500+ staff on one site, publishes a sustainability report</a:t>
            </a:r>
          </a:p>
        </p:txBody>
      </p:sp>
      <p:sp>
        <p:nvSpPr>
          <p:cNvPr id="28" name="TextBox 27"/>
          <p:cNvSpPr txBox="1"/>
          <p:nvPr/>
        </p:nvSpPr>
        <p:spPr>
          <a:xfrm>
            <a:off x="6300216" y="3456432"/>
            <a:ext cx="2194560" cy="914400"/>
          </a:xfrm>
          <a:prstGeom prst="rect">
            <a:avLst/>
          </a:prstGeom>
          <a:noFill/>
        </p:spPr>
        <p:txBody>
          <a:bodyPr wrap="square" lIns="0" tIns="0" rIns="0" bIns="0" anchor="t">
            <a:spAutoFit/>
          </a:bodyPr>
          <a:lstStyle/>
          <a:p>
            <a:pPr>
              <a:spcAft>
                <a:spcPts val="200"/>
              </a:spcAft>
            </a:pPr>
            <a:r>
              <a:rPr sz="1200" b="1">
                <a:solidFill>
                  <a:schemeClr val="tx2"/>
                </a:solidFill>
              </a:rPr>
              <a:t>Also fits: </a:t>
            </a:r>
            <a:r>
              <a:rPr sz="1200" b="0">
                <a:solidFill>
                  <a:schemeClr val="tx1"/>
                </a:solidFill>
              </a:rPr>
              <a:t>bakery, café, bike or sports shop</a:t>
            </a:r>
          </a:p>
          <a:p>
            <a:pPr>
              <a:spcAft>
                <a:spcPts val="0"/>
              </a:spcAft>
            </a:pPr>
            <a:r>
              <a:rPr sz="1100" b="0">
                <a:solidFill>
                  <a:schemeClr val="accent4"/>
                </a:solidFill>
              </a:rPr>
              <a:t>local shops that want new regular customers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Three revenue streams, B2B2C</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
        <p:nvSpPr>
          <p:cNvPr id="3" name="Shape 1"/>
          <p:cNvSpPr/>
          <p:nvPr/>
        </p:nvSpPr>
        <p:spPr>
          <a:xfrm>
            <a:off x="457200" y="1234440"/>
            <a:ext cx="2606040" cy="3291840"/>
          </a:xfrm>
          <a:prstGeom prst="roundRect">
            <a:avLst>
              <a:gd name="adj" fmla="val 3509"/>
            </a:avLst>
          </a:prstGeom>
          <a:solidFill>
            <a:schemeClr val="tx2"/>
          </a:solidFill>
          <a:ln w="12700">
            <a:solidFill>
              <a:schemeClr val="tx2"/>
            </a:solidFill>
            <a:prstDash val="solid"/>
          </a:ln>
        </p:spPr>
        <p:txBody>
          <a:bodyPr/>
          <a:lstStyle/>
          <a:p>
            <a:endParaRPr lang="en-CH"/>
          </a:p>
        </p:txBody>
      </p:sp>
      <p:sp>
        <p:nvSpPr>
          <p:cNvPr id="4" name="Text 2"/>
          <p:cNvSpPr txBox="1"/>
          <p:nvPr/>
        </p:nvSpPr>
        <p:spPr>
          <a:xfrm>
            <a:off x="685800" y="1353312"/>
            <a:ext cx="2194560" cy="320040"/>
          </a:xfrm>
          <a:prstGeom prst="rect">
            <a:avLst/>
          </a:prstGeom>
          <a:noFill/>
          <a:ln/>
        </p:spPr>
        <p:txBody>
          <a:bodyPr wrap="square" lIns="0" tIns="0" rIns="0" bIns="0" rtlCol="0" anchor="ctr"/>
          <a:lstStyle/>
          <a:p>
            <a:pPr marL="0" indent="0">
              <a:buNone/>
            </a:pPr>
            <a:r>
              <a:rPr lang="en-US" sz="1600" b="1" dirty="0">
                <a:solidFill>
                  <a:schemeClr val="accent5"/>
                </a:solidFill>
              </a:rPr>
              <a:t>Municipality licence</a:t>
            </a:r>
            <a:endParaRPr lang="en-US" sz="1600" dirty="0"/>
          </a:p>
        </p:txBody>
      </p:sp>
      <p:sp>
        <p:nvSpPr>
          <p:cNvPr id="5" name="Text 3"/>
          <p:cNvSpPr txBox="1"/>
          <p:nvPr/>
        </p:nvSpPr>
        <p:spPr>
          <a:xfrm>
            <a:off x="685800" y="1664208"/>
            <a:ext cx="2194560" cy="54864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CHF 0.80</a:t>
            </a:r>
            <a:endParaRPr lang="en-US" sz="3600" dirty="0"/>
          </a:p>
        </p:txBody>
      </p:sp>
      <p:sp>
        <p:nvSpPr>
          <p:cNvPr id="6" name="Text 4"/>
          <p:cNvSpPr txBox="1"/>
          <p:nvPr/>
        </p:nvSpPr>
        <p:spPr>
          <a:xfrm>
            <a:off x="685800" y="2194560"/>
            <a:ext cx="2194560" cy="274320"/>
          </a:xfrm>
          <a:prstGeom prst="rect">
            <a:avLst/>
          </a:prstGeom>
          <a:noFill/>
          <a:ln/>
        </p:spPr>
        <p:txBody>
          <a:bodyPr wrap="square" lIns="0" tIns="0" rIns="0" bIns="0" rtlCol="0" anchor="ctr"/>
          <a:lstStyle/>
          <a:p>
            <a:pPr marL="0" indent="0">
              <a:buNone/>
            </a:pPr>
            <a:r>
              <a:rPr lang="en-US" sz="1400" dirty="0">
                <a:solidFill>
                  <a:schemeClr val="bg1"/>
                </a:solidFill>
              </a:rPr>
              <a:t>per resident per year</a:t>
            </a:r>
            <a:endParaRPr lang="en-US" sz="1400" dirty="0"/>
          </a:p>
        </p:txBody>
      </p:sp>
      <p:sp>
        <p:nvSpPr>
          <p:cNvPr id="8" name="Shape 6"/>
          <p:cNvSpPr/>
          <p:nvPr/>
        </p:nvSpPr>
        <p:spPr>
          <a:xfrm>
            <a:off x="3264408" y="1234440"/>
            <a:ext cx="2606040" cy="329184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9" name="Text 7"/>
          <p:cNvSpPr txBox="1"/>
          <p:nvPr/>
        </p:nvSpPr>
        <p:spPr>
          <a:xfrm>
            <a:off x="3493008" y="1353312"/>
            <a:ext cx="2194560" cy="320040"/>
          </a:xfrm>
          <a:prstGeom prst="rect">
            <a:avLst/>
          </a:prstGeom>
          <a:noFill/>
          <a:ln/>
        </p:spPr>
        <p:txBody>
          <a:bodyPr wrap="square" lIns="0" tIns="0" rIns="0" bIns="0" rtlCol="0" anchor="ctr"/>
          <a:lstStyle/>
          <a:p>
            <a:pPr marL="0" indent="0">
              <a:buNone/>
            </a:pPr>
            <a:r>
              <a:rPr lang="en-US" sz="1600" b="1" dirty="0">
                <a:solidFill>
                  <a:schemeClr val="accent1"/>
                </a:solidFill>
              </a:rPr>
              <a:t>Employer challenge</a:t>
            </a:r>
            <a:endParaRPr lang="en-US" sz="1600" dirty="0"/>
          </a:p>
        </p:txBody>
      </p:sp>
      <p:sp>
        <p:nvSpPr>
          <p:cNvPr id="10" name="Text 8"/>
          <p:cNvSpPr txBox="1"/>
          <p:nvPr/>
        </p:nvSpPr>
        <p:spPr>
          <a:xfrm>
            <a:off x="3493008" y="1664208"/>
            <a:ext cx="2194560" cy="5486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CHF 3</a:t>
            </a:r>
            <a:endParaRPr lang="en-US" sz="3600" dirty="0"/>
          </a:p>
        </p:txBody>
      </p:sp>
      <p:sp>
        <p:nvSpPr>
          <p:cNvPr id="11" name="Text 9"/>
          <p:cNvSpPr txBox="1"/>
          <p:nvPr/>
        </p:nvSpPr>
        <p:spPr>
          <a:xfrm>
            <a:off x="3493008" y="2194560"/>
            <a:ext cx="2194560" cy="274320"/>
          </a:xfrm>
          <a:prstGeom prst="rect">
            <a:avLst/>
          </a:prstGeom>
          <a:noFill/>
          <a:ln/>
        </p:spPr>
        <p:txBody>
          <a:bodyPr wrap="square" lIns="0" tIns="0" rIns="0" bIns="0" rtlCol="0" anchor="ctr"/>
          <a:lstStyle/>
          <a:p>
            <a:pPr marL="0" indent="0">
              <a:buNone/>
            </a:pPr>
            <a:r>
              <a:rPr lang="en-US" sz="1400" dirty="0">
                <a:solidFill>
                  <a:schemeClr val="tx2"/>
                </a:solidFill>
              </a:rPr>
              <a:t>per employee per year</a:t>
            </a:r>
            <a:endParaRPr lang="en-US" sz="1400" dirty="0"/>
          </a:p>
        </p:txBody>
      </p:sp>
      <p:sp>
        <p:nvSpPr>
          <p:cNvPr id="13" name="Shape 11"/>
          <p:cNvSpPr/>
          <p:nvPr/>
        </p:nvSpPr>
        <p:spPr>
          <a:xfrm>
            <a:off x="6071616" y="1234440"/>
            <a:ext cx="2606040" cy="329184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4" name="Text 12"/>
          <p:cNvSpPr txBox="1"/>
          <p:nvPr/>
        </p:nvSpPr>
        <p:spPr>
          <a:xfrm>
            <a:off x="6300216" y="1353312"/>
            <a:ext cx="2194560" cy="320040"/>
          </a:xfrm>
          <a:prstGeom prst="rect">
            <a:avLst/>
          </a:prstGeom>
          <a:noFill/>
          <a:ln/>
        </p:spPr>
        <p:txBody>
          <a:bodyPr wrap="square" lIns="0" tIns="0" rIns="0" bIns="0" rtlCol="0" anchor="ctr"/>
          <a:lstStyle/>
          <a:p>
            <a:pPr marL="0" indent="0">
              <a:buNone/>
            </a:pPr>
            <a:r>
              <a:rPr lang="en-US" sz="1600" b="1" dirty="0">
                <a:solidFill>
                  <a:schemeClr val="accent1"/>
                </a:solidFill>
              </a:rPr>
              <a:t>Sponsored quest</a:t>
            </a:r>
            <a:endParaRPr lang="en-US" sz="1600" dirty="0"/>
          </a:p>
        </p:txBody>
      </p:sp>
      <p:sp>
        <p:nvSpPr>
          <p:cNvPr id="15" name="Text 13"/>
          <p:cNvSpPr txBox="1"/>
          <p:nvPr/>
        </p:nvSpPr>
        <p:spPr>
          <a:xfrm>
            <a:off x="6300216" y="1664208"/>
            <a:ext cx="2194560" cy="5486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CHF 1,500</a:t>
            </a:r>
            <a:endParaRPr lang="en-US" sz="3600" dirty="0"/>
          </a:p>
        </p:txBody>
      </p:sp>
      <p:sp>
        <p:nvSpPr>
          <p:cNvPr id="16" name="Text 14"/>
          <p:cNvSpPr txBox="1"/>
          <p:nvPr/>
        </p:nvSpPr>
        <p:spPr>
          <a:xfrm>
            <a:off x="6300216" y="2194560"/>
            <a:ext cx="2194560" cy="274320"/>
          </a:xfrm>
          <a:prstGeom prst="rect">
            <a:avLst/>
          </a:prstGeom>
          <a:noFill/>
          <a:ln/>
        </p:spPr>
        <p:txBody>
          <a:bodyPr wrap="square" lIns="0" tIns="0" rIns="0" bIns="0" rtlCol="0" anchor="ctr"/>
          <a:lstStyle/>
          <a:p>
            <a:pPr marL="0" indent="0">
              <a:buNone/>
            </a:pPr>
            <a:r>
              <a:rPr lang="en-US" sz="1400" dirty="0">
                <a:solidFill>
                  <a:schemeClr val="tx2"/>
                </a:solidFill>
              </a:rPr>
              <a:t>per campaign</a:t>
            </a:r>
            <a:endParaRPr lang="en-US" sz="1400" dirty="0"/>
          </a:p>
        </p:txBody>
      </p:sp>
      <p:sp>
        <p:nvSpPr>
          <p:cNvPr id="26" name="TextBox 25"/>
          <p:cNvSpPr txBox="1"/>
          <p:nvPr/>
        </p:nvSpPr>
        <p:spPr>
          <a:xfrm>
            <a:off x="685800" y="2606040"/>
            <a:ext cx="2194560" cy="1234440"/>
          </a:xfrm>
          <a:prstGeom prst="rect">
            <a:avLst/>
          </a:prstGeom>
          <a:noFill/>
        </p:spPr>
        <p:txBody>
          <a:bodyPr wrap="square" lIns="0" tIns="0" rIns="0" bIns="0" anchor="t">
            <a:spAutoFit/>
          </a:bodyPr>
          <a:lstStyle/>
          <a:p>
            <a:pPr>
              <a:spcAft>
                <a:spcPts val="200"/>
              </a:spcAft>
            </a:pPr>
            <a:r>
              <a:rPr sz="1200" b="1">
                <a:solidFill>
                  <a:schemeClr val="accent2"/>
                </a:solidFill>
              </a:rPr>
              <a:t>Includes:</a:t>
            </a:r>
          </a:p>
          <a:p>
            <a:pPr marL="146304" indent="-146304">
              <a:spcAft>
                <a:spcPts val="100"/>
              </a:spcAft>
              <a:buFont typeface="Arial"/>
              <a:buChar char="•"/>
            </a:pPr>
            <a:r>
              <a:rPr sz="1200" b="0">
                <a:solidFill>
                  <a:schemeClr val="bg1"/>
                </a:solidFill>
              </a:rPr>
              <a:t>App for all residents</a:t>
            </a:r>
          </a:p>
          <a:p>
            <a:pPr marL="146304" indent="-146304">
              <a:spcAft>
                <a:spcPts val="100"/>
              </a:spcAft>
              <a:buFont typeface="Arial"/>
              <a:buChar char="•"/>
            </a:pPr>
            <a:r>
              <a:rPr sz="1200" b="0">
                <a:solidFill>
                  <a:schemeClr val="bg1"/>
                </a:solidFill>
              </a:rPr>
              <a:t>Local rules + pickup dates</a:t>
            </a:r>
          </a:p>
          <a:p>
            <a:pPr marL="146304" indent="-146304">
              <a:spcAft>
                <a:spcPts val="100"/>
              </a:spcAft>
              <a:buFont typeface="Arial"/>
              <a:buChar char="•"/>
            </a:pPr>
            <a:r>
              <a:rPr sz="1200" b="0">
                <a:solidFill>
                  <a:schemeClr val="bg1"/>
                </a:solidFill>
              </a:rPr>
              <a:t>QR stickers for stations</a:t>
            </a:r>
          </a:p>
          <a:p>
            <a:pPr marL="146304" indent="-146304">
              <a:spcAft>
                <a:spcPts val="100"/>
              </a:spcAft>
              <a:buFont typeface="Arial"/>
              <a:buChar char="•"/>
            </a:pPr>
            <a:r>
              <a:rPr sz="1200" b="0">
                <a:solidFill>
                  <a:schemeClr val="bg1"/>
                </a:solidFill>
              </a:rPr>
              <a:t>Dashboard with results</a:t>
            </a:r>
          </a:p>
        </p:txBody>
      </p:sp>
      <p:sp>
        <p:nvSpPr>
          <p:cNvPr id="27" name="TextBox 26"/>
          <p:cNvSpPr txBox="1"/>
          <p:nvPr/>
        </p:nvSpPr>
        <p:spPr>
          <a:xfrm>
            <a:off x="685800" y="4005072"/>
            <a:ext cx="2194560" cy="365760"/>
          </a:xfrm>
          <a:prstGeom prst="rect">
            <a:avLst/>
          </a:prstGeom>
          <a:noFill/>
        </p:spPr>
        <p:txBody>
          <a:bodyPr wrap="square" lIns="0" tIns="0" rIns="0" bIns="0" anchor="t">
            <a:spAutoFit/>
          </a:bodyPr>
          <a:lstStyle/>
          <a:p>
            <a:pPr>
              <a:spcAft>
                <a:spcPts val="0"/>
              </a:spcAft>
            </a:pPr>
            <a:r>
              <a:rPr sz="1200" b="1">
                <a:solidFill>
                  <a:schemeClr val="accent2"/>
                </a:solidFill>
              </a:rPr>
              <a:t>Risch ≈ CHF 9,000/year</a:t>
            </a:r>
          </a:p>
        </p:txBody>
      </p:sp>
      <p:sp>
        <p:nvSpPr>
          <p:cNvPr id="28" name="TextBox 27"/>
          <p:cNvSpPr txBox="1"/>
          <p:nvPr/>
        </p:nvSpPr>
        <p:spPr>
          <a:xfrm>
            <a:off x="3493008" y="2606040"/>
            <a:ext cx="2194560" cy="1234440"/>
          </a:xfrm>
          <a:prstGeom prst="rect">
            <a:avLst/>
          </a:prstGeom>
          <a:noFill/>
        </p:spPr>
        <p:txBody>
          <a:bodyPr wrap="square" lIns="0" tIns="0" rIns="0" bIns="0" anchor="t">
            <a:spAutoFit/>
          </a:bodyPr>
          <a:lstStyle/>
          <a:p>
            <a:pPr>
              <a:spcAft>
                <a:spcPts val="200"/>
              </a:spcAft>
            </a:pPr>
            <a:r>
              <a:rPr sz="1200" b="1">
                <a:solidFill>
                  <a:schemeClr val="tx2"/>
                </a:solidFill>
              </a:rPr>
              <a:t>Includes:</a:t>
            </a:r>
          </a:p>
          <a:p>
            <a:pPr marL="146304" indent="-146304">
              <a:spcAft>
                <a:spcPts val="100"/>
              </a:spcAft>
              <a:buFont typeface="Arial"/>
              <a:buChar char="•"/>
            </a:pPr>
            <a:r>
              <a:rPr sz="1200" b="0">
                <a:solidFill>
                  <a:schemeClr val="tx1"/>
                </a:solidFill>
              </a:rPr>
              <a:t>Team vs. team challenge</a:t>
            </a:r>
          </a:p>
          <a:p>
            <a:pPr marL="146304" indent="-146304">
              <a:spcAft>
                <a:spcPts val="100"/>
              </a:spcAft>
              <a:buFont typeface="Arial"/>
              <a:buChar char="•"/>
            </a:pPr>
            <a:r>
              <a:rPr sz="1200" b="0">
                <a:solidFill>
                  <a:schemeClr val="tx1"/>
                </a:solidFill>
              </a:rPr>
              <a:t>Monthly leaderboard</a:t>
            </a:r>
          </a:p>
          <a:p>
            <a:pPr marL="146304" indent="-146304">
              <a:spcAft>
                <a:spcPts val="100"/>
              </a:spcAft>
              <a:buFont typeface="Arial"/>
              <a:buChar char="•"/>
            </a:pPr>
            <a:r>
              <a:rPr sz="1200" b="0">
                <a:solidFill>
                  <a:schemeClr val="tx1"/>
                </a:solidFill>
              </a:rPr>
              <a:t>CO₂ numbers for ESG report</a:t>
            </a:r>
          </a:p>
          <a:p>
            <a:pPr marL="146304" indent="-146304">
              <a:spcAft>
                <a:spcPts val="100"/>
              </a:spcAft>
              <a:buFont typeface="Arial"/>
              <a:buChar char="•"/>
            </a:pPr>
            <a:r>
              <a:rPr sz="1200" b="0">
                <a:solidFill>
                  <a:schemeClr val="tx1"/>
                </a:solidFill>
              </a:rPr>
              <a:t>Kick-off event at the office</a:t>
            </a:r>
          </a:p>
        </p:txBody>
      </p:sp>
      <p:sp>
        <p:nvSpPr>
          <p:cNvPr id="29" name="TextBox 28"/>
          <p:cNvSpPr txBox="1"/>
          <p:nvPr/>
        </p:nvSpPr>
        <p:spPr>
          <a:xfrm>
            <a:off x="3493008" y="4005072"/>
            <a:ext cx="2194560" cy="365760"/>
          </a:xfrm>
          <a:prstGeom prst="rect">
            <a:avLst/>
          </a:prstGeom>
          <a:noFill/>
        </p:spPr>
        <p:txBody>
          <a:bodyPr wrap="square" lIns="0" tIns="0" rIns="0" bIns="0" anchor="t">
            <a:spAutoFit/>
          </a:bodyPr>
          <a:lstStyle/>
          <a:p>
            <a:pPr>
              <a:spcAft>
                <a:spcPts val="0"/>
              </a:spcAft>
            </a:pPr>
            <a:r>
              <a:rPr sz="1200" b="1">
                <a:solidFill>
                  <a:schemeClr val="accent1"/>
                </a:solidFill>
              </a:rPr>
              <a:t>Roche ≈ CHF 9,000/year</a:t>
            </a:r>
          </a:p>
        </p:txBody>
      </p:sp>
      <p:sp>
        <p:nvSpPr>
          <p:cNvPr id="30" name="TextBox 29"/>
          <p:cNvSpPr txBox="1"/>
          <p:nvPr/>
        </p:nvSpPr>
        <p:spPr>
          <a:xfrm>
            <a:off x="6300216" y="2606040"/>
            <a:ext cx="2194560" cy="1234440"/>
          </a:xfrm>
          <a:prstGeom prst="rect">
            <a:avLst/>
          </a:prstGeom>
          <a:noFill/>
        </p:spPr>
        <p:txBody>
          <a:bodyPr wrap="square" lIns="0" tIns="0" rIns="0" bIns="0" anchor="t">
            <a:spAutoFit/>
          </a:bodyPr>
          <a:lstStyle/>
          <a:p>
            <a:pPr>
              <a:spcAft>
                <a:spcPts val="200"/>
              </a:spcAft>
            </a:pPr>
            <a:r>
              <a:rPr sz="1200" b="1">
                <a:solidFill>
                  <a:schemeClr val="tx2"/>
                </a:solidFill>
              </a:rPr>
              <a:t>Includes:</a:t>
            </a:r>
          </a:p>
          <a:p>
            <a:pPr marL="146304" indent="-146304">
              <a:spcAft>
                <a:spcPts val="100"/>
              </a:spcAft>
              <a:buFont typeface="Arial"/>
              <a:buChar char="•"/>
            </a:pPr>
            <a:r>
              <a:rPr sz="1200" b="0">
                <a:solidFill>
                  <a:schemeClr val="tx1"/>
                </a:solidFill>
              </a:rPr>
              <a:t>Shop sets the quest</a:t>
            </a:r>
          </a:p>
          <a:p>
            <a:pPr marL="146304" indent="-146304">
              <a:spcAft>
                <a:spcPts val="100"/>
              </a:spcAft>
              <a:buFont typeface="Arial"/>
              <a:buChar char="•"/>
            </a:pPr>
            <a:r>
              <a:rPr sz="1200" b="0">
                <a:solidFill>
                  <a:schemeClr val="tx1"/>
                </a:solidFill>
              </a:rPr>
              <a:t>Reward redeemed in the shop</a:t>
            </a:r>
          </a:p>
          <a:p>
            <a:pPr marL="146304" indent="-146304">
              <a:spcAft>
                <a:spcPts val="100"/>
              </a:spcAft>
              <a:buFont typeface="Arial"/>
              <a:buChar char="•"/>
            </a:pPr>
            <a:r>
              <a:rPr sz="1200" b="0">
                <a:solidFill>
                  <a:schemeClr val="tx1"/>
                </a:solidFill>
              </a:rPr>
              <a:t>Logo + shop on the app map</a:t>
            </a:r>
          </a:p>
          <a:p>
            <a:pPr marL="146304" indent="-146304">
              <a:spcAft>
                <a:spcPts val="100"/>
              </a:spcAft>
              <a:buFont typeface="Arial"/>
              <a:buChar char="•"/>
            </a:pPr>
            <a:r>
              <a:rPr sz="1200" b="0">
                <a:solidFill>
                  <a:schemeClr val="tx1"/>
                </a:solidFill>
              </a:rPr>
              <a:t>Report: how many came</a:t>
            </a:r>
          </a:p>
        </p:txBody>
      </p:sp>
      <p:sp>
        <p:nvSpPr>
          <p:cNvPr id="31" name="TextBox 30"/>
          <p:cNvSpPr txBox="1"/>
          <p:nvPr/>
        </p:nvSpPr>
        <p:spPr>
          <a:xfrm>
            <a:off x="6300216" y="4005072"/>
            <a:ext cx="2194560" cy="365760"/>
          </a:xfrm>
          <a:prstGeom prst="rect">
            <a:avLst/>
          </a:prstGeom>
          <a:noFill/>
        </p:spPr>
        <p:txBody>
          <a:bodyPr wrap="square" lIns="0" tIns="0" rIns="0" bIns="0" anchor="t">
            <a:spAutoFit/>
          </a:bodyPr>
          <a:lstStyle/>
          <a:p>
            <a:pPr>
              <a:spcAft>
                <a:spcPts val="0"/>
              </a:spcAft>
            </a:pPr>
            <a:r>
              <a:rPr sz="1200" b="1">
                <a:solidFill>
                  <a:schemeClr val="accent1"/>
                </a:solidFill>
              </a:rPr>
              <a:t>e.g. 20 bottles = 1 free coffee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Costs, funding and break-even</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graphicFrame>
        <p:nvGraphicFramePr>
          <p:cNvPr id="26" name="Chart 25"/>
          <p:cNvGraphicFramePr>
            <a:graphicFrameLocks noGrp="1"/>
          </p:cNvGraphicFramePr>
          <p:nvPr/>
        </p:nvGraphicFramePr>
        <p:xfrm>
          <a:off x="457200" y="1188720"/>
          <a:ext cx="4572000" cy="3154680"/>
        </p:xfrm>
        <a:graphic>
          <a:graphicData uri="http://schemas.openxmlformats.org/drawingml/2006/chart">
            <c:chart xmlns:c="http://schemas.openxmlformats.org/drawingml/2006/chart" xmlns:r="http://schemas.openxmlformats.org/officeDocument/2006/relationships" r:id="rId2"/>
          </a:graphicData>
        </a:graphic>
      </p:graphicFrame>
      <p:sp>
        <p:nvSpPr>
          <p:cNvPr id="27" name="Rounded Rectangle 26"/>
          <p:cNvSpPr/>
          <p:nvPr/>
        </p:nvSpPr>
        <p:spPr>
          <a:xfrm>
            <a:off x="5303520" y="1188720"/>
            <a:ext cx="3383280" cy="315468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32120" y="1353312"/>
            <a:ext cx="2971800" cy="256032"/>
          </a:xfrm>
          <a:prstGeom prst="rect">
            <a:avLst/>
          </a:prstGeom>
          <a:noFill/>
        </p:spPr>
        <p:txBody>
          <a:bodyPr wrap="square" lIns="0" tIns="0" rIns="0" bIns="0" anchor="t">
            <a:spAutoFit/>
          </a:bodyPr>
          <a:lstStyle/>
          <a:p>
            <a:pPr algn="l">
              <a:spcAft>
                <a:spcPts val="0"/>
              </a:spcAft>
            </a:pPr>
            <a:r>
              <a:rPr sz="1400" b="1">
                <a:solidFill>
                  <a:schemeClr val="tx2"/>
                </a:solidFill>
                <a:latin typeface="Cambria"/>
              </a:rPr>
              <a:t>Costs per month</a:t>
            </a:r>
          </a:p>
        </p:txBody>
      </p:sp>
      <p:sp>
        <p:nvSpPr>
          <p:cNvPr id="29" name="TextBox 28"/>
          <p:cNvSpPr txBox="1"/>
          <p:nvPr/>
        </p:nvSpPr>
        <p:spPr>
          <a:xfrm>
            <a:off x="5532120" y="1673352"/>
            <a:ext cx="2971800" cy="256032"/>
          </a:xfrm>
          <a:prstGeom prst="rect">
            <a:avLst/>
          </a:prstGeom>
          <a:noFill/>
        </p:spPr>
        <p:txBody>
          <a:bodyPr wrap="square" lIns="0" tIns="0" rIns="0" bIns="0" anchor="t">
            <a:spAutoFit/>
          </a:bodyPr>
          <a:lstStyle/>
          <a:p>
            <a:pPr algn="l">
              <a:spcAft>
                <a:spcPts val="0"/>
              </a:spcAft>
            </a:pPr>
            <a:r>
              <a:rPr sz="1200" b="1">
                <a:solidFill>
                  <a:schemeClr val="accent4"/>
                </a:solidFill>
              </a:rPr>
              <a:t>2027  </a:t>
            </a:r>
            <a:r>
              <a:rPr sz="1200" b="1">
                <a:solidFill>
                  <a:schemeClr val="tx1"/>
                </a:solidFill>
              </a:rPr>
              <a:t>CHF 3,200</a:t>
            </a:r>
            <a:r>
              <a:rPr sz="1100" b="0">
                <a:solidFill>
                  <a:schemeClr val="accent4"/>
                </a:solidFill>
              </a:rPr>
              <a:t>  part-time dev, hosting</a:t>
            </a:r>
          </a:p>
        </p:txBody>
      </p:sp>
      <p:sp>
        <p:nvSpPr>
          <p:cNvPr id="30" name="TextBox 29"/>
          <p:cNvSpPr txBox="1"/>
          <p:nvPr/>
        </p:nvSpPr>
        <p:spPr>
          <a:xfrm>
            <a:off x="5532120" y="1947672"/>
            <a:ext cx="2971800" cy="256032"/>
          </a:xfrm>
          <a:prstGeom prst="rect">
            <a:avLst/>
          </a:prstGeom>
          <a:noFill/>
        </p:spPr>
        <p:txBody>
          <a:bodyPr wrap="square" lIns="0" tIns="0" rIns="0" bIns="0" anchor="t">
            <a:spAutoFit/>
          </a:bodyPr>
          <a:lstStyle/>
          <a:p>
            <a:pPr algn="l">
              <a:spcAft>
                <a:spcPts val="0"/>
              </a:spcAft>
            </a:pPr>
            <a:r>
              <a:rPr sz="1200" b="1">
                <a:solidFill>
                  <a:schemeClr val="accent4"/>
                </a:solidFill>
              </a:rPr>
              <a:t>2028  </a:t>
            </a:r>
            <a:r>
              <a:rPr sz="1200" b="1">
                <a:solidFill>
                  <a:schemeClr val="tx1"/>
                </a:solidFill>
              </a:rPr>
              <a:t>CHF 6,200</a:t>
            </a:r>
            <a:r>
              <a:rPr sz="1100" b="0">
                <a:solidFill>
                  <a:schemeClr val="accent4"/>
                </a:solidFill>
              </a:rPr>
              <a:t>  more dev, marketing</a:t>
            </a:r>
          </a:p>
        </p:txBody>
      </p:sp>
      <p:sp>
        <p:nvSpPr>
          <p:cNvPr id="31" name="TextBox 30"/>
          <p:cNvSpPr txBox="1"/>
          <p:nvPr/>
        </p:nvSpPr>
        <p:spPr>
          <a:xfrm>
            <a:off x="5532120" y="2221992"/>
            <a:ext cx="2971800" cy="256032"/>
          </a:xfrm>
          <a:prstGeom prst="rect">
            <a:avLst/>
          </a:prstGeom>
          <a:noFill/>
        </p:spPr>
        <p:txBody>
          <a:bodyPr wrap="square" lIns="0" tIns="0" rIns="0" bIns="0" anchor="t">
            <a:spAutoFit/>
          </a:bodyPr>
          <a:lstStyle/>
          <a:p>
            <a:pPr algn="l">
              <a:spcAft>
                <a:spcPts val="0"/>
              </a:spcAft>
            </a:pPr>
            <a:r>
              <a:rPr sz="1200" b="1">
                <a:solidFill>
                  <a:schemeClr val="accent4"/>
                </a:solidFill>
              </a:rPr>
              <a:t>2029  </a:t>
            </a:r>
            <a:r>
              <a:rPr sz="1200" b="1">
                <a:solidFill>
                  <a:schemeClr val="tx1"/>
                </a:solidFill>
              </a:rPr>
              <a:t>CHF 10,200</a:t>
            </a:r>
            <a:r>
              <a:rPr sz="1100" b="0">
                <a:solidFill>
                  <a:schemeClr val="accent4"/>
                </a:solidFill>
              </a:rPr>
              <a:t>  + 50% sales person</a:t>
            </a:r>
          </a:p>
        </p:txBody>
      </p:sp>
      <p:sp>
        <p:nvSpPr>
          <p:cNvPr id="32" name="TextBox 31"/>
          <p:cNvSpPr txBox="1"/>
          <p:nvPr/>
        </p:nvSpPr>
        <p:spPr>
          <a:xfrm>
            <a:off x="5532120" y="2560320"/>
            <a:ext cx="2971800" cy="256032"/>
          </a:xfrm>
          <a:prstGeom prst="rect">
            <a:avLst/>
          </a:prstGeom>
          <a:noFill/>
        </p:spPr>
        <p:txBody>
          <a:bodyPr wrap="square" lIns="0" tIns="0" rIns="0" bIns="0" anchor="t">
            <a:spAutoFit/>
          </a:bodyPr>
          <a:lstStyle/>
          <a:p>
            <a:pPr algn="l">
              <a:spcAft>
                <a:spcPts val="0"/>
              </a:spcAft>
            </a:pPr>
            <a:r>
              <a:rPr sz="1400" b="1">
                <a:solidFill>
                  <a:schemeClr val="tx2"/>
                </a:solidFill>
                <a:latin typeface="Cambria"/>
              </a:rPr>
              <a:t>Break-even April 2029</a:t>
            </a:r>
          </a:p>
        </p:txBody>
      </p:sp>
      <p:sp>
        <p:nvSpPr>
          <p:cNvPr id="33" name="TextBox 32"/>
          <p:cNvSpPr txBox="1"/>
          <p:nvPr/>
        </p:nvSpPr>
        <p:spPr>
          <a:xfrm>
            <a:off x="5532120" y="2834640"/>
            <a:ext cx="2971800" cy="502920"/>
          </a:xfrm>
          <a:prstGeom prst="rect">
            <a:avLst/>
          </a:prstGeom>
          <a:noFill/>
        </p:spPr>
        <p:txBody>
          <a:bodyPr wrap="square" lIns="0" tIns="0" rIns="0" bIns="0" anchor="t">
            <a:spAutoFit/>
          </a:bodyPr>
          <a:lstStyle/>
          <a:p>
            <a:pPr algn="l">
              <a:spcAft>
                <a:spcPts val="0"/>
              </a:spcAft>
            </a:pPr>
            <a:r>
              <a:rPr sz="1100" b="0">
                <a:solidFill>
                  <a:schemeClr val="tx1"/>
                </a:solidFill>
              </a:rPr>
              <a:t>13 municipalities, 5 employers and ~1 quest a month bring CHF 10,600/month.</a:t>
            </a:r>
          </a:p>
        </p:txBody>
      </p:sp>
      <p:sp>
        <p:nvSpPr>
          <p:cNvPr id="34" name="TextBox 33"/>
          <p:cNvSpPr txBox="1"/>
          <p:nvPr/>
        </p:nvSpPr>
        <p:spPr>
          <a:xfrm>
            <a:off x="5532120" y="3429000"/>
            <a:ext cx="2971800" cy="256032"/>
          </a:xfrm>
          <a:prstGeom prst="rect">
            <a:avLst/>
          </a:prstGeom>
          <a:noFill/>
        </p:spPr>
        <p:txBody>
          <a:bodyPr wrap="square" lIns="0" tIns="0" rIns="0" bIns="0" anchor="t">
            <a:spAutoFit/>
          </a:bodyPr>
          <a:lstStyle/>
          <a:p>
            <a:pPr algn="l">
              <a:spcAft>
                <a:spcPts val="0"/>
              </a:spcAft>
            </a:pPr>
            <a:r>
              <a:rPr sz="1400" b="1">
                <a:solidFill>
                  <a:schemeClr val="accent1"/>
                </a:solidFill>
                <a:latin typeface="Cambria"/>
              </a:rPr>
              <a:t>Funding need CHF 45,000</a:t>
            </a:r>
          </a:p>
        </p:txBody>
      </p:sp>
      <p:sp>
        <p:nvSpPr>
          <p:cNvPr id="35" name="TextBox 34"/>
          <p:cNvSpPr txBox="1"/>
          <p:nvPr/>
        </p:nvSpPr>
        <p:spPr>
          <a:xfrm>
            <a:off x="5532120" y="3703320"/>
            <a:ext cx="2971800" cy="502920"/>
          </a:xfrm>
          <a:prstGeom prst="rect">
            <a:avLst/>
          </a:prstGeom>
          <a:noFill/>
        </p:spPr>
        <p:txBody>
          <a:bodyPr wrap="square" lIns="0" tIns="0" rIns="0" bIns="0" anchor="t">
            <a:spAutoFit/>
          </a:bodyPr>
          <a:lstStyle/>
          <a:p>
            <a:pPr algn="l">
              <a:spcAft>
                <a:spcPts val="0"/>
              </a:spcAft>
            </a:pPr>
            <a:r>
              <a:rPr sz="1100" b="0">
                <a:solidFill>
                  <a:schemeClr val="tx1"/>
                </a:solidFill>
              </a:rPr>
              <a:t>Covers the gap until break-even, from sustainability grants and foundations.</a:t>
            </a:r>
          </a:p>
        </p:txBody>
      </p:sp>
      <p:sp>
        <p:nvSpPr>
          <p:cNvPr id="36" name="TextBox 35"/>
          <p:cNvSpPr txBox="1"/>
          <p:nvPr/>
        </p:nvSpPr>
        <p:spPr>
          <a:xfrm>
            <a:off x="457200" y="4434840"/>
            <a:ext cx="8229600" cy="228600"/>
          </a:xfrm>
          <a:prstGeom prst="rect">
            <a:avLst/>
          </a:prstGeom>
          <a:noFill/>
        </p:spPr>
        <p:txBody>
          <a:bodyPr wrap="square" lIns="0" tIns="0" rIns="0" bIns="0" anchor="t">
            <a:spAutoFit/>
          </a:bodyPr>
          <a:lstStyle/>
          <a:p>
            <a:pPr algn="l">
              <a:spcAft>
                <a:spcPts val="0"/>
              </a:spcAft>
            </a:pPr>
            <a:r>
              <a:rPr sz="1100" b="0" i="1">
                <a:solidFill>
                  <a:schemeClr val="accent4"/>
                </a:solidFill>
              </a:rPr>
              <a:t>Biggest cost: development (over half of all costs). Setup 2027: CHF 3,500 one-time.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A CHF 7 million market, starting in Zug</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
        <p:nvSpPr>
          <p:cNvPr id="3" name="Shape 1"/>
          <p:cNvSpPr/>
          <p:nvPr/>
        </p:nvSpPr>
        <p:spPr>
          <a:xfrm>
            <a:off x="548640" y="1097280"/>
            <a:ext cx="3566160" cy="3566160"/>
          </a:xfrm>
          <a:prstGeom prst="ellipse">
            <a:avLst/>
          </a:prstGeom>
          <a:solidFill>
            <a:schemeClr val="accent5"/>
          </a:solidFill>
          <a:ln w="12700">
            <a:solidFill>
              <a:schemeClr val="accent5"/>
            </a:solidFill>
            <a:prstDash val="solid"/>
          </a:ln>
        </p:spPr>
        <p:txBody>
          <a:bodyPr/>
          <a:lstStyle/>
          <a:p>
            <a:endParaRPr lang="en-CH"/>
          </a:p>
        </p:txBody>
      </p:sp>
      <p:sp>
        <p:nvSpPr>
          <p:cNvPr id="4" name="Shape 2"/>
          <p:cNvSpPr/>
          <p:nvPr/>
        </p:nvSpPr>
        <p:spPr>
          <a:xfrm>
            <a:off x="1234440" y="1965960"/>
            <a:ext cx="2194560" cy="2194560"/>
          </a:xfrm>
          <a:prstGeom prst="ellipse">
            <a:avLst/>
          </a:prstGeom>
          <a:solidFill>
            <a:schemeClr val="accent2"/>
          </a:solidFill>
          <a:ln w="12700">
            <a:solidFill>
              <a:schemeClr val="accent2"/>
            </a:solidFill>
            <a:prstDash val="solid"/>
          </a:ln>
        </p:spPr>
        <p:txBody>
          <a:bodyPr/>
          <a:lstStyle/>
          <a:p>
            <a:endParaRPr lang="en-CH"/>
          </a:p>
        </p:txBody>
      </p:sp>
      <p:sp>
        <p:nvSpPr>
          <p:cNvPr id="5" name="Shape 3"/>
          <p:cNvSpPr/>
          <p:nvPr/>
        </p:nvSpPr>
        <p:spPr>
          <a:xfrm>
            <a:off x="1783080" y="2743200"/>
            <a:ext cx="1097280" cy="1097280"/>
          </a:xfrm>
          <a:prstGeom prst="ellipse">
            <a:avLst/>
          </a:prstGeom>
          <a:solidFill>
            <a:schemeClr val="accent1"/>
          </a:solidFill>
          <a:ln w="12700">
            <a:solidFill>
              <a:schemeClr val="accent1"/>
            </a:solidFill>
            <a:prstDash val="solid"/>
          </a:ln>
        </p:spPr>
        <p:txBody>
          <a:bodyPr/>
          <a:lstStyle/>
          <a:p>
            <a:endParaRPr lang="en-CH"/>
          </a:p>
        </p:txBody>
      </p:sp>
      <p:sp>
        <p:nvSpPr>
          <p:cNvPr id="6" name="Text 4"/>
          <p:cNvSpPr txBox="1"/>
          <p:nvPr/>
        </p:nvSpPr>
        <p:spPr>
          <a:xfrm>
            <a:off x="1783080" y="2743200"/>
            <a:ext cx="1097280" cy="1097280"/>
          </a:xfrm>
          <a:prstGeom prst="rect">
            <a:avLst/>
          </a:prstGeom>
          <a:noFill/>
          <a:ln/>
        </p:spPr>
        <p:txBody>
          <a:bodyPr wrap="square" lIns="0" tIns="0" rIns="0" bIns="0" rtlCol="0" anchor="ctr"/>
          <a:lstStyle/>
          <a:p>
            <a:pPr marL="0" indent="0" algn="ctr">
              <a:buNone/>
            </a:pPr>
            <a:r>
              <a:rPr lang="en-US" sz="1400" b="1" dirty="0">
                <a:solidFill>
                  <a:schemeClr val="bg1"/>
                </a:solidFill>
              </a:rPr>
              <a:t>Zug</a:t>
            </a:r>
            <a:endParaRPr lang="en-US" sz="1400" dirty="0"/>
          </a:p>
        </p:txBody>
      </p:sp>
      <p:sp>
        <p:nvSpPr>
          <p:cNvPr id="7" name="Text 5"/>
          <p:cNvSpPr txBox="1"/>
          <p:nvPr/>
        </p:nvSpPr>
        <p:spPr>
          <a:xfrm>
            <a:off x="1188720" y="1280160"/>
            <a:ext cx="2286000" cy="320040"/>
          </a:xfrm>
          <a:prstGeom prst="rect">
            <a:avLst/>
          </a:prstGeom>
          <a:noFill/>
          <a:ln/>
        </p:spPr>
        <p:txBody>
          <a:bodyPr wrap="square" lIns="0" tIns="0" rIns="0" bIns="0" rtlCol="0" anchor="ctr"/>
          <a:lstStyle/>
          <a:p>
            <a:pPr marL="0" indent="0" algn="ctr">
              <a:buNone/>
            </a:pPr>
            <a:r>
              <a:rPr lang="en-US" sz="1300" b="1" dirty="0">
                <a:solidFill>
                  <a:schemeClr val="tx2"/>
                </a:solidFill>
              </a:rPr>
              <a:t>Switzerland</a:t>
            </a:r>
            <a:endParaRPr lang="en-US" sz="1300" dirty="0"/>
          </a:p>
        </p:txBody>
      </p:sp>
      <p:sp>
        <p:nvSpPr>
          <p:cNvPr id="8" name="Text 6"/>
          <p:cNvSpPr txBox="1"/>
          <p:nvPr/>
        </p:nvSpPr>
        <p:spPr>
          <a:xfrm>
            <a:off x="1417320" y="2148840"/>
            <a:ext cx="1828800" cy="320040"/>
          </a:xfrm>
          <a:prstGeom prst="rect">
            <a:avLst/>
          </a:prstGeom>
          <a:noFill/>
          <a:ln/>
        </p:spPr>
        <p:txBody>
          <a:bodyPr wrap="square" lIns="0" tIns="0" rIns="0" bIns="0" rtlCol="0" anchor="ctr"/>
          <a:lstStyle/>
          <a:p>
            <a:pPr marL="0" indent="0" algn="ctr">
              <a:buNone/>
            </a:pPr>
            <a:r>
              <a:rPr lang="en-US" sz="1300" b="1" dirty="0">
                <a:solidFill>
                  <a:schemeClr val="tx2"/>
                </a:solidFill>
              </a:rPr>
              <a:t>Central CH</a:t>
            </a:r>
            <a:endParaRPr lang="en-US" sz="1300" dirty="0"/>
          </a:p>
        </p:txBody>
      </p:sp>
      <p:sp>
        <p:nvSpPr>
          <p:cNvPr id="9" name="Text 7"/>
          <p:cNvSpPr txBox="1"/>
          <p:nvPr/>
        </p:nvSpPr>
        <p:spPr>
          <a:xfrm>
            <a:off x="4572000" y="118872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Switzerland</a:t>
            </a:r>
            <a:endParaRPr lang="en-US" sz="1600" dirty="0"/>
          </a:p>
        </p:txBody>
      </p:sp>
      <p:sp>
        <p:nvSpPr>
          <p:cNvPr id="10" name="Text 8"/>
          <p:cNvSpPr txBox="1"/>
          <p:nvPr/>
        </p:nvSpPr>
        <p:spPr>
          <a:xfrm>
            <a:off x="4572000" y="1536192"/>
            <a:ext cx="2560320" cy="320040"/>
          </a:xfrm>
          <a:prstGeom prst="rect">
            <a:avLst/>
          </a:prstGeom>
          <a:noFill/>
          <a:ln/>
        </p:spPr>
        <p:txBody>
          <a:bodyPr wrap="square" lIns="0" tIns="0" rIns="0" bIns="0" rtlCol="0" anchor="ctr"/>
          <a:lstStyle/>
          <a:p>
            <a:pPr marL="0" indent="0">
              <a:buNone/>
            </a:pPr>
            <a:r>
              <a:rPr lang="en-US" sz="1300" dirty="0">
                <a:solidFill>
                  <a:schemeClr val="tx1"/>
                </a:solidFill>
              </a:rPr>
              <a:t>2,110 municipalities · ~9M residents</a:t>
            </a:r>
            <a:endParaRPr lang="en-US" sz="1300" dirty="0"/>
          </a:p>
        </p:txBody>
      </p:sp>
      <p:sp>
        <p:nvSpPr>
          <p:cNvPr id="11" name="Text 9"/>
          <p:cNvSpPr txBox="1"/>
          <p:nvPr/>
        </p:nvSpPr>
        <p:spPr>
          <a:xfrm>
            <a:off x="7040880" y="118872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7.2M / year</a:t>
            </a:r>
            <a:endParaRPr lang="en-US" sz="1600" dirty="0"/>
          </a:p>
        </p:txBody>
      </p:sp>
      <p:sp>
        <p:nvSpPr>
          <p:cNvPr id="12" name="Text 10"/>
          <p:cNvSpPr txBox="1"/>
          <p:nvPr/>
        </p:nvSpPr>
        <p:spPr>
          <a:xfrm>
            <a:off x="4572000" y="205740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Central Switzerland</a:t>
            </a:r>
            <a:endParaRPr lang="en-US" sz="1600" dirty="0"/>
          </a:p>
        </p:txBody>
      </p:sp>
      <p:sp>
        <p:nvSpPr>
          <p:cNvPr id="13" name="Text 11"/>
          <p:cNvSpPr txBox="1"/>
          <p:nvPr/>
        </p:nvSpPr>
        <p:spPr>
          <a:xfrm>
            <a:off x="4572000" y="2404872"/>
            <a:ext cx="2560320" cy="320040"/>
          </a:xfrm>
          <a:prstGeom prst="rect">
            <a:avLst/>
          </a:prstGeom>
          <a:noFill/>
          <a:ln/>
        </p:spPr>
        <p:txBody>
          <a:bodyPr wrap="square" lIns="0" tIns="0" rIns="0" bIns="0" rtlCol="0" anchor="ctr"/>
          <a:lstStyle/>
          <a:p>
            <a:pPr marL="0" indent="0">
              <a:buNone/>
            </a:pPr>
            <a:r>
              <a:rPr lang="en-US" sz="1300" dirty="0">
                <a:solidFill>
                  <a:schemeClr val="tx1"/>
                </a:solidFill>
              </a:rPr>
              <a:t>~850,000 residents</a:t>
            </a:r>
            <a:endParaRPr lang="en-US" sz="1300" dirty="0"/>
          </a:p>
        </p:txBody>
      </p:sp>
      <p:sp>
        <p:nvSpPr>
          <p:cNvPr id="14" name="Text 12"/>
          <p:cNvSpPr txBox="1"/>
          <p:nvPr/>
        </p:nvSpPr>
        <p:spPr>
          <a:xfrm>
            <a:off x="7040880" y="205740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680k / year</a:t>
            </a:r>
            <a:endParaRPr lang="en-US" sz="1600" dirty="0"/>
          </a:p>
        </p:txBody>
      </p:sp>
      <p:sp>
        <p:nvSpPr>
          <p:cNvPr id="15" name="Text 13"/>
          <p:cNvSpPr txBox="1"/>
          <p:nvPr/>
        </p:nvSpPr>
        <p:spPr>
          <a:xfrm>
            <a:off x="4572000" y="292608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Canton of Zug (start)</a:t>
            </a:r>
            <a:endParaRPr lang="en-US" sz="1600" dirty="0"/>
          </a:p>
        </p:txBody>
      </p:sp>
      <p:sp>
        <p:nvSpPr>
          <p:cNvPr id="16" name="Text 14"/>
          <p:cNvSpPr txBox="1"/>
          <p:nvPr/>
        </p:nvSpPr>
        <p:spPr>
          <a:xfrm>
            <a:off x="4572000" y="3273552"/>
            <a:ext cx="2560320" cy="320040"/>
          </a:xfrm>
          <a:prstGeom prst="rect">
            <a:avLst/>
          </a:prstGeom>
          <a:noFill/>
          <a:ln/>
        </p:spPr>
        <p:txBody>
          <a:bodyPr wrap="square" lIns="0" tIns="0" rIns="0" bIns="0" rtlCol="0" anchor="ctr"/>
          <a:lstStyle/>
          <a:p>
            <a:pPr marL="0" indent="0">
              <a:buNone/>
            </a:pPr>
            <a:r>
              <a:rPr lang="en-US" sz="1300" dirty="0">
                <a:solidFill>
                  <a:schemeClr val="tx1"/>
                </a:solidFill>
              </a:rPr>
              <a:t>11 municipalities · ~130,000 residents</a:t>
            </a:r>
            <a:endParaRPr lang="en-US" sz="1300" dirty="0"/>
          </a:p>
        </p:txBody>
      </p:sp>
      <p:sp>
        <p:nvSpPr>
          <p:cNvPr id="17" name="Text 15"/>
          <p:cNvSpPr txBox="1"/>
          <p:nvPr/>
        </p:nvSpPr>
        <p:spPr>
          <a:xfrm>
            <a:off x="7040880" y="292608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100k / year</a:t>
            </a:r>
            <a:endParaRPr lang="en-US" sz="1600" dirty="0"/>
          </a:p>
        </p:txBody>
      </p:sp>
      <p:sp>
        <p:nvSpPr>
          <p:cNvPr id="18" name="Shape 16"/>
          <p:cNvSpPr/>
          <p:nvPr/>
        </p:nvSpPr>
        <p:spPr>
          <a:xfrm>
            <a:off x="4572000" y="3840480"/>
            <a:ext cx="4114800" cy="777240"/>
          </a:xfrm>
          <a:prstGeom prst="roundRect">
            <a:avLst>
              <a:gd name="adj" fmla="val 11765"/>
            </a:avLst>
          </a:prstGeom>
          <a:solidFill>
            <a:schemeClr val="bg2"/>
          </a:solidFill>
          <a:ln w="12700">
            <a:solidFill>
              <a:schemeClr val="bg2"/>
            </a:solidFill>
            <a:prstDash val="solid"/>
          </a:ln>
        </p:spPr>
        <p:txBody>
          <a:bodyPr/>
          <a:lstStyle/>
          <a:p>
            <a:endParaRPr lang="en-CH"/>
          </a:p>
        </p:txBody>
      </p:sp>
      <p:sp>
        <p:nvSpPr>
          <p:cNvPr id="19" name="Text 17"/>
          <p:cNvSpPr txBox="1"/>
          <p:nvPr/>
        </p:nvSpPr>
        <p:spPr>
          <a:xfrm>
            <a:off x="4709160" y="3886200"/>
            <a:ext cx="3840480" cy="685800"/>
          </a:xfrm>
          <a:prstGeom prst="rect">
            <a:avLst/>
          </a:prstGeom>
          <a:noFill/>
          <a:ln/>
        </p:spPr>
        <p:txBody>
          <a:bodyPr wrap="square" lIns="0" tIns="0" rIns="0" bIns="0" rtlCol="0" anchor="ctr"/>
          <a:lstStyle/>
          <a:p>
            <a:pPr marL="0" indent="0">
              <a:buNone/>
            </a:pPr>
            <a:r>
              <a:rPr lang="en-US" sz="1200" b="1" dirty="0">
                <a:solidFill>
                  <a:schemeClr val="tx2"/>
                </a:solidFill>
              </a:rPr>
              <a:t>vs. Recycling Map: </a:t>
            </a:r>
            <a:r>
              <a:rPr lang="en-US" sz="1200" dirty="0">
                <a:solidFill>
                  <a:schemeClr val="tx1"/>
                </a:solidFill>
              </a:rPr>
              <a:t>it shows where (16,000+ points). We show what to do with a product, and reward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The resident journey</a:t>
            </a:r>
            <a:endParaRPr lang="en-US" sz="3000" dirty="0"/>
          </a:p>
        </p:txBody>
      </p:sp>
      <p:sp>
        <p:nvSpPr>
          <p:cNvPr id="28"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
        <p:nvSpPr>
          <p:cNvPr id="3" name="Shape 1"/>
          <p:cNvSpPr/>
          <p:nvPr/>
        </p:nvSpPr>
        <p:spPr>
          <a:xfrm>
            <a:off x="868680"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4" name="Text 2"/>
          <p:cNvSpPr txBox="1"/>
          <p:nvPr/>
        </p:nvSpPr>
        <p:spPr>
          <a:xfrm>
            <a:off x="868680"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5" name="Shape 3"/>
          <p:cNvSpPr/>
          <p:nvPr/>
        </p:nvSpPr>
        <p:spPr>
          <a:xfrm>
            <a:off x="1783080" y="1874520"/>
            <a:ext cx="676656" cy="0"/>
          </a:xfrm>
          <a:prstGeom prst="line">
            <a:avLst/>
          </a:prstGeom>
          <a:noFill/>
          <a:ln w="25400">
            <a:solidFill>
              <a:schemeClr val="accent2"/>
            </a:solidFill>
            <a:prstDash val="solid"/>
            <a:tailEnd type="triangle"/>
          </a:ln>
        </p:spPr>
        <p:txBody>
          <a:bodyPr/>
          <a:lstStyle/>
          <a:p>
            <a:endParaRPr lang="en-CH"/>
          </a:p>
        </p:txBody>
      </p:sp>
      <p:sp>
        <p:nvSpPr>
          <p:cNvPr id="6" name="Text 4"/>
          <p:cNvSpPr txBox="1"/>
          <p:nvPr/>
        </p:nvSpPr>
        <p:spPr>
          <a:xfrm>
            <a:off x="457200"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See</a:t>
            </a:r>
            <a:endParaRPr lang="en-US" sz="1800" dirty="0"/>
          </a:p>
        </p:txBody>
      </p:sp>
      <p:sp>
        <p:nvSpPr>
          <p:cNvPr id="7" name="Text 5"/>
          <p:cNvSpPr txBox="1"/>
          <p:nvPr/>
        </p:nvSpPr>
        <p:spPr>
          <a:xfrm>
            <a:off x="548640"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QR code on the station or in the Gemeinde newsletter</a:t>
            </a:r>
            <a:endParaRPr lang="en-US" sz="1300" dirty="0"/>
          </a:p>
        </p:txBody>
      </p:sp>
      <p:sp>
        <p:nvSpPr>
          <p:cNvPr id="8" name="Shape 6"/>
          <p:cNvSpPr/>
          <p:nvPr/>
        </p:nvSpPr>
        <p:spPr>
          <a:xfrm>
            <a:off x="2551176"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9" name="Text 7"/>
          <p:cNvSpPr txBox="1"/>
          <p:nvPr/>
        </p:nvSpPr>
        <p:spPr>
          <a:xfrm>
            <a:off x="2551176"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Shape 8"/>
          <p:cNvSpPr/>
          <p:nvPr/>
        </p:nvSpPr>
        <p:spPr>
          <a:xfrm>
            <a:off x="3465576" y="1874520"/>
            <a:ext cx="676656" cy="0"/>
          </a:xfrm>
          <a:prstGeom prst="line">
            <a:avLst/>
          </a:prstGeom>
          <a:noFill/>
          <a:ln w="25400">
            <a:solidFill>
              <a:schemeClr val="accent2"/>
            </a:solidFill>
            <a:prstDash val="solid"/>
            <a:tailEnd type="triangle"/>
          </a:ln>
        </p:spPr>
        <p:txBody>
          <a:bodyPr/>
          <a:lstStyle/>
          <a:p>
            <a:endParaRPr lang="en-CH"/>
          </a:p>
        </p:txBody>
      </p:sp>
      <p:sp>
        <p:nvSpPr>
          <p:cNvPr id="11" name="Text 9"/>
          <p:cNvSpPr txBox="1"/>
          <p:nvPr/>
        </p:nvSpPr>
        <p:spPr>
          <a:xfrm>
            <a:off x="2139696"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Scan</a:t>
            </a:r>
            <a:endParaRPr lang="en-US" sz="1800" dirty="0"/>
          </a:p>
        </p:txBody>
      </p:sp>
      <p:sp>
        <p:nvSpPr>
          <p:cNvPr id="12" name="Text 10"/>
          <p:cNvSpPr txBox="1"/>
          <p:nvPr/>
        </p:nvSpPr>
        <p:spPr>
          <a:xfrm>
            <a:off x="2231136"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first product, answer in seconds</a:t>
            </a:r>
            <a:endParaRPr lang="en-US" sz="1300" dirty="0"/>
          </a:p>
        </p:txBody>
      </p:sp>
      <p:sp>
        <p:nvSpPr>
          <p:cNvPr id="13" name="Shape 11"/>
          <p:cNvSpPr/>
          <p:nvPr/>
        </p:nvSpPr>
        <p:spPr>
          <a:xfrm>
            <a:off x="4233672"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14" name="Text 12"/>
          <p:cNvSpPr txBox="1"/>
          <p:nvPr/>
        </p:nvSpPr>
        <p:spPr>
          <a:xfrm>
            <a:off x="4233672"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5" name="Shape 13"/>
          <p:cNvSpPr/>
          <p:nvPr/>
        </p:nvSpPr>
        <p:spPr>
          <a:xfrm>
            <a:off x="5148072" y="1874520"/>
            <a:ext cx="676656" cy="0"/>
          </a:xfrm>
          <a:prstGeom prst="line">
            <a:avLst/>
          </a:prstGeom>
          <a:noFill/>
          <a:ln w="25400">
            <a:solidFill>
              <a:schemeClr val="accent2"/>
            </a:solidFill>
            <a:prstDash val="solid"/>
            <a:tailEnd type="triangle"/>
          </a:ln>
        </p:spPr>
        <p:txBody>
          <a:bodyPr/>
          <a:lstStyle/>
          <a:p>
            <a:endParaRPr lang="en-CH"/>
          </a:p>
        </p:txBody>
      </p:sp>
      <p:sp>
        <p:nvSpPr>
          <p:cNvPr id="16" name="Text 14"/>
          <p:cNvSpPr txBox="1"/>
          <p:nvPr/>
        </p:nvSpPr>
        <p:spPr>
          <a:xfrm>
            <a:off x="3822192"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Log</a:t>
            </a:r>
            <a:endParaRPr lang="en-US" sz="1800" dirty="0"/>
          </a:p>
        </p:txBody>
      </p:sp>
      <p:sp>
        <p:nvSpPr>
          <p:cNvPr id="17" name="Text 15"/>
          <p:cNvSpPr txBox="1"/>
          <p:nvPr/>
        </p:nvSpPr>
        <p:spPr>
          <a:xfrm>
            <a:off x="3913632"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recycling, earn points</a:t>
            </a:r>
            <a:endParaRPr lang="en-US" sz="1300" dirty="0"/>
          </a:p>
        </p:txBody>
      </p:sp>
      <p:sp>
        <p:nvSpPr>
          <p:cNvPr id="18" name="Shape 16"/>
          <p:cNvSpPr/>
          <p:nvPr/>
        </p:nvSpPr>
        <p:spPr>
          <a:xfrm>
            <a:off x="5916168"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19" name="Text 17"/>
          <p:cNvSpPr txBox="1"/>
          <p:nvPr/>
        </p:nvSpPr>
        <p:spPr>
          <a:xfrm>
            <a:off x="5916168"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0" name="Shape 18"/>
          <p:cNvSpPr/>
          <p:nvPr/>
        </p:nvSpPr>
        <p:spPr>
          <a:xfrm>
            <a:off x="6830568" y="1874520"/>
            <a:ext cx="676656" cy="0"/>
          </a:xfrm>
          <a:prstGeom prst="line">
            <a:avLst/>
          </a:prstGeom>
          <a:noFill/>
          <a:ln w="25400">
            <a:solidFill>
              <a:schemeClr val="accent2"/>
            </a:solidFill>
            <a:prstDash val="solid"/>
            <a:tailEnd type="triangle"/>
          </a:ln>
        </p:spPr>
        <p:txBody>
          <a:bodyPr/>
          <a:lstStyle/>
          <a:p>
            <a:endParaRPr lang="en-CH"/>
          </a:p>
        </p:txBody>
      </p:sp>
      <p:sp>
        <p:nvSpPr>
          <p:cNvPr id="21" name="Text 19"/>
          <p:cNvSpPr txBox="1"/>
          <p:nvPr/>
        </p:nvSpPr>
        <p:spPr>
          <a:xfrm>
            <a:off x="5504688"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Return</a:t>
            </a:r>
            <a:endParaRPr lang="en-US" sz="1800" dirty="0"/>
          </a:p>
        </p:txBody>
      </p:sp>
      <p:sp>
        <p:nvSpPr>
          <p:cNvPr id="22" name="Text 20"/>
          <p:cNvSpPr txBox="1"/>
          <p:nvPr/>
        </p:nvSpPr>
        <p:spPr>
          <a:xfrm>
            <a:off x="5596128"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monthly quests and friend challenges</a:t>
            </a:r>
            <a:endParaRPr lang="en-US" sz="1300" dirty="0"/>
          </a:p>
        </p:txBody>
      </p:sp>
      <p:sp>
        <p:nvSpPr>
          <p:cNvPr id="23" name="Shape 21"/>
          <p:cNvSpPr/>
          <p:nvPr/>
        </p:nvSpPr>
        <p:spPr>
          <a:xfrm>
            <a:off x="7598664" y="1463040"/>
            <a:ext cx="822960" cy="822960"/>
          </a:xfrm>
          <a:prstGeom prst="ellipse">
            <a:avLst/>
          </a:prstGeom>
          <a:solidFill>
            <a:schemeClr val="accent3"/>
          </a:solidFill>
          <a:ln w="12700">
            <a:solidFill>
              <a:schemeClr val="accent3"/>
            </a:solidFill>
            <a:prstDash val="solid"/>
          </a:ln>
        </p:spPr>
        <p:txBody>
          <a:bodyPr/>
          <a:lstStyle/>
          <a:p>
            <a:endParaRPr lang="en-CH"/>
          </a:p>
        </p:txBody>
      </p:sp>
      <p:sp>
        <p:nvSpPr>
          <p:cNvPr id="24" name="Text 22"/>
          <p:cNvSpPr txBox="1"/>
          <p:nvPr/>
        </p:nvSpPr>
        <p:spPr>
          <a:xfrm>
            <a:off x="7598664"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5" name="Text 23"/>
          <p:cNvSpPr txBox="1"/>
          <p:nvPr/>
        </p:nvSpPr>
        <p:spPr>
          <a:xfrm>
            <a:off x="7187184"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Redeem</a:t>
            </a:r>
            <a:endParaRPr lang="en-US" sz="1800" dirty="0"/>
          </a:p>
        </p:txBody>
      </p:sp>
      <p:sp>
        <p:nvSpPr>
          <p:cNvPr id="26" name="Text 24"/>
          <p:cNvSpPr txBox="1"/>
          <p:nvPr/>
        </p:nvSpPr>
        <p:spPr>
          <a:xfrm>
            <a:off x="7278624"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points at local sponsors</a:t>
            </a:r>
            <a:endParaRPr lang="en-US" sz="1300" dirty="0"/>
          </a:p>
        </p:txBody>
      </p:sp>
      <p:sp>
        <p:nvSpPr>
          <p:cNvPr id="27" name="Text 25"/>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400" i="1" dirty="0">
                <a:solidFill>
                  <a:schemeClr val="accent4"/>
                </a:solidFill>
              </a:rPr>
              <a:t>Step 5 is why sponsors pay us.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Sell to the organisation, let it bring the users</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
        <p:nvSpPr>
          <p:cNvPr id="3" name="Shape 1"/>
          <p:cNvSpPr/>
          <p:nvPr/>
        </p:nvSpPr>
        <p:spPr>
          <a:xfrm>
            <a:off x="457200"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4" name="Text 2"/>
          <p:cNvSpPr txBox="1"/>
          <p:nvPr/>
        </p:nvSpPr>
        <p:spPr>
          <a:xfrm>
            <a:off x="685800"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2027</a:t>
            </a:r>
            <a:endParaRPr lang="en-US" sz="3200" dirty="0"/>
          </a:p>
        </p:txBody>
      </p:sp>
      <p:sp>
        <p:nvSpPr>
          <p:cNvPr id="5" name="Text 3"/>
          <p:cNvSpPr txBox="1"/>
          <p:nvPr/>
        </p:nvSpPr>
        <p:spPr>
          <a:xfrm>
            <a:off x="685800"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Pilot in Rotkreuz</a:t>
            </a:r>
            <a:endParaRPr lang="en-US" sz="1600" dirty="0"/>
          </a:p>
        </p:txBody>
      </p:sp>
      <p:sp>
        <p:nvSpPr>
          <p:cNvPr id="6" name="Text 4"/>
          <p:cNvSpPr txBox="1"/>
          <p:nvPr/>
        </p:nvSpPr>
        <p:spPr>
          <a:xfrm>
            <a:off x="685800"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Gemeinde Risch: QR stickers on every station</a:t>
            </a:r>
            <a:endParaRPr lang="en-US" sz="1300" dirty="0"/>
          </a:p>
          <a:p>
            <a:pPr marL="342900" indent="-342900">
              <a:spcAft>
                <a:spcPts val="600"/>
              </a:spcAft>
              <a:buSzPct val="100000"/>
              <a:buChar char="•"/>
            </a:pPr>
            <a:r>
              <a:rPr lang="en-US" sz="1300" dirty="0">
                <a:solidFill>
                  <a:schemeClr val="tx1"/>
                </a:solidFill>
              </a:rPr>
              <a:t>Article in the Gemeinde newsletter</a:t>
            </a:r>
            <a:endParaRPr lang="en-US" sz="1300" dirty="0"/>
          </a:p>
          <a:p>
            <a:pPr marL="342900" indent="-342900">
              <a:spcAft>
                <a:spcPts val="600"/>
              </a:spcAft>
              <a:buSzPct val="100000"/>
              <a:buChar char="•"/>
            </a:pPr>
            <a:r>
              <a:rPr lang="en-US" sz="1300" dirty="0">
                <a:solidFill>
                  <a:schemeClr val="tx1"/>
                </a:solidFill>
              </a:rPr>
              <a:t>Employer challenge at Roche via intranet</a:t>
            </a:r>
            <a:endParaRPr lang="en-US" sz="1300" dirty="0"/>
          </a:p>
        </p:txBody>
      </p:sp>
      <p:sp>
        <p:nvSpPr>
          <p:cNvPr id="7" name="Shape 5"/>
          <p:cNvSpPr/>
          <p:nvPr/>
        </p:nvSpPr>
        <p:spPr>
          <a:xfrm>
            <a:off x="3264408"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8" name="Text 6"/>
          <p:cNvSpPr txBox="1"/>
          <p:nvPr/>
        </p:nvSpPr>
        <p:spPr>
          <a:xfrm>
            <a:off x="3493008"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2028</a:t>
            </a:r>
            <a:endParaRPr lang="en-US" sz="3200" dirty="0"/>
          </a:p>
        </p:txBody>
      </p:sp>
      <p:sp>
        <p:nvSpPr>
          <p:cNvPr id="9" name="Text 7"/>
          <p:cNvSpPr txBox="1"/>
          <p:nvPr/>
        </p:nvSpPr>
        <p:spPr>
          <a:xfrm>
            <a:off x="3493008"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Canton of Zug</a:t>
            </a:r>
            <a:endParaRPr lang="en-US" sz="1600" dirty="0"/>
          </a:p>
        </p:txBody>
      </p:sp>
      <p:sp>
        <p:nvSpPr>
          <p:cNvPr id="10" name="Text 8"/>
          <p:cNvSpPr txBox="1"/>
          <p:nvPr/>
        </p:nvSpPr>
        <p:spPr>
          <a:xfrm>
            <a:off x="3493008"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Risch numbers as case study</a:t>
            </a:r>
            <a:endParaRPr lang="en-US" sz="1300" dirty="0"/>
          </a:p>
          <a:p>
            <a:pPr marL="342900" indent="-342900">
              <a:spcAft>
                <a:spcPts val="600"/>
              </a:spcAft>
              <a:buSzPct val="100000"/>
              <a:buChar char="•"/>
            </a:pPr>
            <a:r>
              <a:rPr lang="en-US" sz="1300" dirty="0">
                <a:solidFill>
                  <a:schemeClr val="tx1"/>
                </a:solidFill>
              </a:rPr>
              <a:t>Sell via cantonal waste managers network</a:t>
            </a:r>
            <a:endParaRPr lang="en-US" sz="1300" dirty="0"/>
          </a:p>
          <a:p>
            <a:pPr marL="342900" indent="-342900">
              <a:spcAft>
                <a:spcPts val="600"/>
              </a:spcAft>
              <a:buSzPct val="100000"/>
              <a:buChar char="•"/>
            </a:pPr>
            <a:r>
              <a:rPr lang="en-US" sz="1300" dirty="0">
                <a:solidFill>
                  <a:schemeClr val="tx1"/>
                </a:solidFill>
              </a:rPr>
              <a:t>+6 municipalities, more employers</a:t>
            </a:r>
            <a:endParaRPr lang="en-US" sz="1300" dirty="0"/>
          </a:p>
        </p:txBody>
      </p:sp>
      <p:sp>
        <p:nvSpPr>
          <p:cNvPr id="11" name="Shape 9"/>
          <p:cNvSpPr/>
          <p:nvPr/>
        </p:nvSpPr>
        <p:spPr>
          <a:xfrm>
            <a:off x="6071616"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2" name="Text 10"/>
          <p:cNvSpPr txBox="1"/>
          <p:nvPr/>
        </p:nvSpPr>
        <p:spPr>
          <a:xfrm>
            <a:off x="6300216"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2029</a:t>
            </a:r>
            <a:endParaRPr lang="en-US" sz="3200" dirty="0"/>
          </a:p>
        </p:txBody>
      </p:sp>
      <p:sp>
        <p:nvSpPr>
          <p:cNvPr id="13" name="Text 11"/>
          <p:cNvSpPr txBox="1"/>
          <p:nvPr/>
        </p:nvSpPr>
        <p:spPr>
          <a:xfrm>
            <a:off x="6300216"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Central Switzerland</a:t>
            </a:r>
            <a:endParaRPr lang="en-US" sz="1600" dirty="0"/>
          </a:p>
        </p:txBody>
      </p:sp>
      <p:sp>
        <p:nvSpPr>
          <p:cNvPr id="14" name="Text 12"/>
          <p:cNvSpPr txBox="1"/>
          <p:nvPr/>
        </p:nvSpPr>
        <p:spPr>
          <a:xfrm>
            <a:off x="6300216"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+12 municipalities</a:t>
            </a:r>
            <a:endParaRPr lang="en-US" sz="1300" dirty="0"/>
          </a:p>
          <a:p>
            <a:pPr marL="342900" indent="-342900">
              <a:spcAft>
                <a:spcPts val="600"/>
              </a:spcAft>
              <a:buSzPct val="100000"/>
              <a:buChar char="•"/>
            </a:pPr>
            <a:r>
              <a:rPr lang="en-US" sz="1300" dirty="0">
                <a:solidFill>
                  <a:schemeClr val="tx1"/>
                </a:solidFill>
              </a:rPr>
              <a:t>Part-time sales person</a:t>
            </a:r>
            <a:endParaRPr lang="en-US" sz="1300" dirty="0"/>
          </a:p>
          <a:p>
            <a:pPr marL="342900" indent="-342900">
              <a:spcAft>
                <a:spcPts val="600"/>
              </a:spcAft>
              <a:buSzPct val="100000"/>
              <a:buChar char="•"/>
            </a:pPr>
            <a:r>
              <a:rPr lang="en-US" sz="1300" dirty="0">
                <a:solidFill>
                  <a:schemeClr val="tx1"/>
                </a:solidFill>
              </a:rPr>
              <a:t>Break-even in April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Marketing: a channel for every group</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9</a:t>
            </a:fld>
            <a:endParaRPr lang="en-US"/>
          </a:p>
        </p:txBody>
      </p:sp>
      <p:sp>
        <p:nvSpPr>
          <p:cNvPr id="26" name="Rounded Rectangle 25"/>
          <p:cNvSpPr/>
          <p:nvPr/>
        </p:nvSpPr>
        <p:spPr>
          <a:xfrm>
            <a:off x="457200" y="1234440"/>
            <a:ext cx="4023360" cy="132588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58368" y="146304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FaUsers.png"/>
          <p:cNvPicPr>
            <a:picLocks noChangeAspect="1"/>
          </p:cNvPicPr>
          <p:nvPr/>
        </p:nvPicPr>
        <p:blipFill>
          <a:blip r:embed="rId2"/>
          <a:stretch>
            <a:fillRect/>
          </a:stretch>
        </p:blipFill>
        <p:spPr>
          <a:xfrm>
            <a:off x="806500" y="1611172"/>
            <a:ext cx="252374" cy="252374"/>
          </a:xfrm>
          <a:prstGeom prst="rect">
            <a:avLst/>
          </a:prstGeom>
        </p:spPr>
      </p:pic>
      <p:sp>
        <p:nvSpPr>
          <p:cNvPr id="29" name="TextBox 28"/>
          <p:cNvSpPr txBox="1"/>
          <p:nvPr/>
        </p:nvSpPr>
        <p:spPr>
          <a:xfrm>
            <a:off x="1417320" y="1417320"/>
            <a:ext cx="288036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Residents</a:t>
            </a:r>
          </a:p>
        </p:txBody>
      </p:sp>
      <p:sp>
        <p:nvSpPr>
          <p:cNvPr id="30" name="TextBox 29"/>
          <p:cNvSpPr txBox="1"/>
          <p:nvPr/>
        </p:nvSpPr>
        <p:spPr>
          <a:xfrm>
            <a:off x="1417320" y="1737360"/>
            <a:ext cx="2880360" cy="731520"/>
          </a:xfrm>
          <a:prstGeom prst="rect">
            <a:avLst/>
          </a:prstGeom>
          <a:noFill/>
        </p:spPr>
        <p:txBody>
          <a:bodyPr wrap="square" lIns="0" tIns="0" rIns="0" bIns="0" anchor="t">
            <a:spAutoFit/>
          </a:bodyPr>
          <a:lstStyle/>
          <a:p>
            <a:pPr algn="l">
              <a:spcAft>
                <a:spcPts val="0"/>
              </a:spcAft>
            </a:pPr>
            <a:r>
              <a:rPr sz="1200" b="0">
                <a:solidFill>
                  <a:schemeClr val="tx1"/>
                </a:solidFill>
              </a:rPr>
              <a:t>QR stickers at every collection point, Gemeinde newsletter, school visits, invite-a-friend bonus</a:t>
            </a:r>
          </a:p>
        </p:txBody>
      </p:sp>
      <p:sp>
        <p:nvSpPr>
          <p:cNvPr id="31" name="Rounded Rectangle 30"/>
          <p:cNvSpPr/>
          <p:nvPr/>
        </p:nvSpPr>
        <p:spPr>
          <a:xfrm>
            <a:off x="4663440" y="1234440"/>
            <a:ext cx="4023360" cy="132588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64607" y="146304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FaLandmark.png"/>
          <p:cNvPicPr>
            <a:picLocks noChangeAspect="1"/>
          </p:cNvPicPr>
          <p:nvPr/>
        </p:nvPicPr>
        <p:blipFill>
          <a:blip r:embed="rId3"/>
          <a:stretch>
            <a:fillRect/>
          </a:stretch>
        </p:blipFill>
        <p:spPr>
          <a:xfrm>
            <a:off x="5012740" y="1611172"/>
            <a:ext cx="252374" cy="252374"/>
          </a:xfrm>
          <a:prstGeom prst="rect">
            <a:avLst/>
          </a:prstGeom>
        </p:spPr>
      </p:pic>
      <p:sp>
        <p:nvSpPr>
          <p:cNvPr id="34" name="TextBox 33"/>
          <p:cNvSpPr txBox="1"/>
          <p:nvPr/>
        </p:nvSpPr>
        <p:spPr>
          <a:xfrm>
            <a:off x="5623559" y="1417320"/>
            <a:ext cx="288036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Municipalities</a:t>
            </a:r>
          </a:p>
        </p:txBody>
      </p:sp>
      <p:sp>
        <p:nvSpPr>
          <p:cNvPr id="35" name="TextBox 34"/>
          <p:cNvSpPr txBox="1"/>
          <p:nvPr/>
        </p:nvSpPr>
        <p:spPr>
          <a:xfrm>
            <a:off x="5623559" y="1737360"/>
            <a:ext cx="2880360" cy="731520"/>
          </a:xfrm>
          <a:prstGeom prst="rect">
            <a:avLst/>
          </a:prstGeom>
          <a:noFill/>
        </p:spPr>
        <p:txBody>
          <a:bodyPr wrap="square" lIns="0" tIns="0" rIns="0" bIns="0" anchor="t">
            <a:spAutoFit/>
          </a:bodyPr>
          <a:lstStyle/>
          <a:p>
            <a:pPr algn="l">
              <a:spcAft>
                <a:spcPts val="0"/>
              </a:spcAft>
            </a:pPr>
            <a:r>
              <a:rPr sz="1200" b="0">
                <a:solidFill>
                  <a:schemeClr val="tx1"/>
                </a:solidFill>
              </a:rPr>
              <a:t>Direct pitch to the environment commission, Risch case study, cantonal waste managers network</a:t>
            </a:r>
          </a:p>
        </p:txBody>
      </p:sp>
      <p:sp>
        <p:nvSpPr>
          <p:cNvPr id="36" name="Rounded Rectangle 35"/>
          <p:cNvSpPr/>
          <p:nvPr/>
        </p:nvSpPr>
        <p:spPr>
          <a:xfrm>
            <a:off x="457200" y="2743200"/>
            <a:ext cx="4023360" cy="132588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58368" y="297180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FaBriefcase.png"/>
          <p:cNvPicPr>
            <a:picLocks noChangeAspect="1"/>
          </p:cNvPicPr>
          <p:nvPr/>
        </p:nvPicPr>
        <p:blipFill>
          <a:blip r:embed="rId4"/>
          <a:stretch>
            <a:fillRect/>
          </a:stretch>
        </p:blipFill>
        <p:spPr>
          <a:xfrm>
            <a:off x="806500" y="3119932"/>
            <a:ext cx="252374" cy="252374"/>
          </a:xfrm>
          <a:prstGeom prst="rect">
            <a:avLst/>
          </a:prstGeom>
        </p:spPr>
      </p:pic>
      <p:sp>
        <p:nvSpPr>
          <p:cNvPr id="39" name="TextBox 38"/>
          <p:cNvSpPr txBox="1"/>
          <p:nvPr/>
        </p:nvSpPr>
        <p:spPr>
          <a:xfrm>
            <a:off x="1417320" y="2926080"/>
            <a:ext cx="288036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Employers</a:t>
            </a:r>
          </a:p>
        </p:txBody>
      </p:sp>
      <p:sp>
        <p:nvSpPr>
          <p:cNvPr id="40" name="TextBox 39"/>
          <p:cNvSpPr txBox="1"/>
          <p:nvPr/>
        </p:nvSpPr>
        <p:spPr>
          <a:xfrm>
            <a:off x="1417320" y="3246120"/>
            <a:ext cx="2880360" cy="731520"/>
          </a:xfrm>
          <a:prstGeom prst="rect">
            <a:avLst/>
          </a:prstGeom>
          <a:noFill/>
        </p:spPr>
        <p:txBody>
          <a:bodyPr wrap="square" lIns="0" tIns="0" rIns="0" bIns="0" anchor="t">
            <a:spAutoFit/>
          </a:bodyPr>
          <a:lstStyle/>
          <a:p>
            <a:pPr algn="l">
              <a:spcAft>
                <a:spcPts val="0"/>
              </a:spcAft>
            </a:pPr>
            <a:r>
              <a:rPr sz="1200" b="0">
                <a:solidFill>
                  <a:schemeClr val="tx1"/>
                </a:solidFill>
              </a:rPr>
              <a:t>Reach HR and CSR teams, launch the challenge on the intranet, deliver numbers for the ESG report</a:t>
            </a:r>
          </a:p>
        </p:txBody>
      </p:sp>
      <p:sp>
        <p:nvSpPr>
          <p:cNvPr id="41" name="Rounded Rectangle 40"/>
          <p:cNvSpPr/>
          <p:nvPr/>
        </p:nvSpPr>
        <p:spPr>
          <a:xfrm>
            <a:off x="4663440" y="2743200"/>
            <a:ext cx="4023360" cy="1325880"/>
          </a:xfrm>
          <a:prstGeom prst="roundRect">
            <a:avLst>
              <a:gd name="adj" fmla="val 3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864607" y="297180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FaStore.png"/>
          <p:cNvPicPr>
            <a:picLocks noChangeAspect="1"/>
          </p:cNvPicPr>
          <p:nvPr/>
        </p:nvPicPr>
        <p:blipFill>
          <a:blip r:embed="rId5"/>
          <a:stretch>
            <a:fillRect/>
          </a:stretch>
        </p:blipFill>
        <p:spPr>
          <a:xfrm>
            <a:off x="5012740" y="3119932"/>
            <a:ext cx="252374" cy="252374"/>
          </a:xfrm>
          <a:prstGeom prst="rect">
            <a:avLst/>
          </a:prstGeom>
        </p:spPr>
      </p:pic>
      <p:sp>
        <p:nvSpPr>
          <p:cNvPr id="44" name="TextBox 43"/>
          <p:cNvSpPr txBox="1"/>
          <p:nvPr/>
        </p:nvSpPr>
        <p:spPr>
          <a:xfrm>
            <a:off x="5623559" y="2926080"/>
            <a:ext cx="2880360" cy="292608"/>
          </a:xfrm>
          <a:prstGeom prst="rect">
            <a:avLst/>
          </a:prstGeom>
          <a:noFill/>
        </p:spPr>
        <p:txBody>
          <a:bodyPr wrap="square" lIns="0" tIns="0" rIns="0" bIns="0" anchor="t">
            <a:spAutoFit/>
          </a:bodyPr>
          <a:lstStyle/>
          <a:p>
            <a:pPr algn="l">
              <a:spcAft>
                <a:spcPts val="0"/>
              </a:spcAft>
            </a:pPr>
            <a:r>
              <a:rPr sz="1500" b="1">
                <a:solidFill>
                  <a:schemeClr val="tx2"/>
                </a:solidFill>
                <a:latin typeface="Cambria"/>
              </a:rPr>
              <a:t>Local sponsors</a:t>
            </a:r>
          </a:p>
        </p:txBody>
      </p:sp>
      <p:sp>
        <p:nvSpPr>
          <p:cNvPr id="45" name="TextBox 44"/>
          <p:cNvSpPr txBox="1"/>
          <p:nvPr/>
        </p:nvSpPr>
        <p:spPr>
          <a:xfrm>
            <a:off x="5623559" y="3246120"/>
            <a:ext cx="2880360" cy="731520"/>
          </a:xfrm>
          <a:prstGeom prst="rect">
            <a:avLst/>
          </a:prstGeom>
          <a:noFill/>
        </p:spPr>
        <p:txBody>
          <a:bodyPr wrap="square" lIns="0" tIns="0" rIns="0" bIns="0" anchor="t">
            <a:spAutoFit/>
          </a:bodyPr>
          <a:lstStyle/>
          <a:p>
            <a:pPr algn="l">
              <a:spcAft>
                <a:spcPts val="0"/>
              </a:spcAft>
            </a:pPr>
            <a:r>
              <a:rPr sz="1200" b="0">
                <a:solidFill>
                  <a:schemeClr val="tx1"/>
                </a:solidFill>
              </a:rPr>
              <a:t>Via the local trade association: more customers in the shop, logo and rewards in the app</a:t>
            </a:r>
          </a:p>
        </p:txBody>
      </p:sp>
      <p:sp>
        <p:nvSpPr>
          <p:cNvPr id="46" name="TextBox 45"/>
          <p:cNvSpPr txBox="1"/>
          <p:nvPr/>
        </p:nvSpPr>
        <p:spPr>
          <a:xfrm>
            <a:off x="457200" y="4389120"/>
            <a:ext cx="8229600" cy="274320"/>
          </a:xfrm>
          <a:prstGeom prst="rect">
            <a:avLst/>
          </a:prstGeom>
          <a:noFill/>
        </p:spPr>
        <p:txBody>
          <a:bodyPr wrap="square" lIns="0" tIns="0" rIns="0" bIns="0" anchor="t">
            <a:spAutoFit/>
          </a:bodyPr>
          <a:lstStyle/>
          <a:p>
            <a:pPr algn="l">
              <a:spcAft>
                <a:spcPts val="0"/>
              </a:spcAft>
            </a:pPr>
            <a:r>
              <a:rPr sz="1100" b="0">
                <a:solidFill>
                  <a:schemeClr val="accent4"/>
                </a:solidFill>
              </a:rPr>
              <a:t>One message everywhere: </a:t>
            </a:r>
            <a:r>
              <a:rPr sz="1100" b="1">
                <a:solidFill>
                  <a:schemeClr val="accent1"/>
                </a:solidFill>
              </a:rPr>
              <a:t>Recycle right. Get rewarded.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097280"/>
          </a:xfrm>
          <a:prstGeom prst="rect">
            <a:avLst/>
          </a:prstGeom>
          <a:noFill/>
          <a:ln/>
        </p:spPr>
        <p:txBody>
          <a:bodyPr wrap="square" rtlCol="0" anchor="b"/>
          <a:lstStyle/>
          <a:p>
            <a:pPr marL="0" indent="0" algn="l">
              <a:buNone/>
            </a:pPr>
            <a:r>
              <a:rPr lang="en-US" sz="4400" b="1" dirty="0">
                <a:solidFill>
                  <a:schemeClr val="bg1"/>
                </a:solidFill>
              </a:rPr>
              <a:t>Free for people. Paid by the ones who save.</a:t>
            </a: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nchor="t"/>
          <a:lstStyle/>
          <a:p>
            <a:pPr marL="0" indent="0" algn="l">
              <a:buNone/>
            </a:pPr>
            <a:r>
              <a:rPr lang="en-US" sz="1800" dirty="0">
                <a:solidFill>
                  <a:schemeClr val="accent5"/>
                </a:solidFill>
              </a:rPr>
              <a:t>Break-even April 2029 · Funding need CHF 45,000</a:t>
            </a:r>
            <a:endParaRPr lang="en-US" sz="1800" dirty="0"/>
          </a:p>
          <a:p>
            <a:pPr marL="0" indent="0" algn="l">
              <a:buNone/>
            </a:pPr>
            <a:r>
              <a:rPr lang="en-US" sz="1800" dirty="0">
                <a:solidFill>
                  <a:schemeClr val="accent5"/>
                </a:solidFill>
              </a:rPr>
              <a:t>Thank you</a:t>
            </a:r>
            <a:endParaRPr lang="en-US" sz="1800" dirty="0"/>
          </a:p>
        </p:txBody>
      </p:sp>
    </p:spTree>
  </p:cSld>
  <p:clrMapOvr>
    <a:masterClrMapping/>
  </p:clrMapOvr>
</p:sld>
</file>

<file path=ppt/theme/theme1.xml><?xml version="1.0" encoding="utf-8"?>
<a:theme xmlns:a="http://schemas.openxmlformats.org/drawingml/2006/main" name="BubbleCycle">
  <a:themeElements>
    <a:clrScheme name="BubbleCycle">
      <a:dk1>
        <a:srgbClr val="1F2A24"/>
      </a:dk1>
      <a:lt1>
        <a:srgbClr val="FFFFFF"/>
      </a:lt1>
      <a:dk2>
        <a:srgbClr val="1E4D2B"/>
      </a:dk2>
      <a:lt2>
        <a:srgbClr val="EEF4EC"/>
      </a:lt2>
      <a:accent1>
        <a:srgbClr val="2E7D4F"/>
      </a:accent1>
      <a:accent2>
        <a:srgbClr val="9CCB86"/>
      </a:accent2>
      <a:accent3>
        <a:srgbClr val="F2B134"/>
      </a:accent3>
      <a:accent4>
        <a:srgbClr val="5A6B62"/>
      </a:accent4>
      <a:accent5>
        <a:srgbClr val="CFE5C8"/>
      </a:accent5>
      <a:accent6>
        <a:srgbClr val="E07A5F"/>
      </a:accent6>
      <a:hlink>
        <a:srgbClr val="2E7D4F"/>
      </a:hlink>
      <a:folHlink>
        <a:srgbClr val="5A6B62"/>
      </a:folHlink>
    </a:clrScheme>
    <a:fontScheme name="BubbleCyc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1153</Words>
  <Application>Microsoft Office PowerPoint</Application>
  <PresentationFormat>On-screen Show (16:9)</PresentationFormat>
  <Paragraphs>157</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ADLaM Display</vt:lpstr>
      <vt:lpstr>Arial</vt:lpstr>
      <vt:lpstr>Calibri</vt:lpstr>
      <vt:lpstr>Cambria</vt:lpstr>
      <vt:lpstr>BubbleCycle</vt:lpstr>
      <vt:lpstr>RECYCL  IT! </vt:lpstr>
      <vt:lpstr>Who uses it: our target group</vt:lpstr>
      <vt:lpstr>Free for residents, paid by three groups</vt:lpstr>
      <vt:lpstr>Three revenue streams, B2B2C</vt:lpstr>
      <vt:lpstr>Costs, funding and break-even</vt:lpstr>
      <vt:lpstr>A CHF 7 million market, starting in Zug</vt:lpstr>
      <vt:lpstr>The resident journey</vt:lpstr>
      <vt:lpstr>Sell to the organisation, let it bring the users</vt:lpstr>
      <vt:lpstr>Marketing: a channel for every group</vt:lpstr>
      <vt:lpstr>Free for people. Paid by the ones who save.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BubbleCycle – Market Pitch</dc:title>
  <dc:subject>PptxGenJS Presentation</dc:subject>
  <dc:creator>PptxGenJS</dc:creator>
  <cp:lastModifiedBy>Thorben Che Koch</cp:lastModifiedBy>
  <cp:revision>3</cp:revision>
  <dcterms:created xsi:type="dcterms:W3CDTF">2026-10-24T01:32:47Z</dcterms:created>
  <dcterms:modified xsi:type="dcterms:W3CDTF">2026-10-24T05:36:56Z</dcterms:modified>
</cp:coreProperties>
</file>