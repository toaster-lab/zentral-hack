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6" r:id="rId5"/>
    <p:sldId id="261" r:id="rId6"/>
    <p:sldId id="263" r:id="rId7"/>
    <p:sldId id="259" r:id="rId8"/>
    <p:sldId id="265" r:id="rId9"/>
    <p:sldId id="264" r:id="rId10"/>
    <p:sldId id="262"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solution" id="{9E4BFD65-67E8-3928-6A14-C332E0FEFA97}">
          <p14:sldIdLst>
            <p14:sldId id="256"/>
            <p14:sldId id="257"/>
            <p14:sldId id="258"/>
            <p14:sldId id="266"/>
          </p14:sldIdLst>
        </p14:section>
        <p14:section name="Why us, risks, next steps" id="{0319B97D-4E74-1E44-9A5B-804520175331}">
          <p14:sldIdLst>
            <p14:sldId id="261"/>
            <p14:sldId id="263"/>
          </p14:sldIdLst>
        </p14:section>
        <p14:section name="Business and money" id="{D704BC05-1E27-749D-CEA4-663CFF693BAC}">
          <p14:sldIdLst>
            <p14:sldId id="259"/>
            <p14:sldId id="265"/>
            <p14:sldId id="264"/>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080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s] We all know recycling matters. But knowing something is good doesn't make us do it. What if recycling was something you actually looked forward to? We are RECYCL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Picture this: it's 11 pm, you're holding an empty PET bottle. The trash bin is one meter away, the collection point five minutes away. Most of us pick the bin. Switzerland recycles about 52% of its municipal waste, yet more than a fifth of every trash bag could still be recycled, and each of us produces about 671 kg of waste a year. The bins exist. What's missing is a reason to walk there. Our bet: rewards, challenges and friends can turn recycling into a habit.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[~70 s incl. demo] RECYCL IT turns recycling into a game. You scan the QR code at a real collection point, earn points and streaks, climb the leaderboard of your class and town, and redeem points at local shops. SWITCH TO THE DEMO — one loop only: scan → points → leaderboard → reward. If the live demo fails, play the backup video immediately.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 Who pays? Not the users — the app is always free. Our first customer is the Gemeinde Risch: every bottle that leaves the trash bag means less incineration and a better recycling rate. We charge 40 Rappen per resident a year, about CHF 4,400 for Risch. Local shops and cafés pay CHF 30 a month for visibility and fund the rewards themselves, so rewards cost us nothing. Year-1 costs are about CHF 4,000: hosting and app-store fees ~1,500, QR stickers ~500, flyers and school events ~1,000, buffer ~1,000. With Risch and five shops we earn about CHF 6,200, so the pilot breaks even in year 1. Six towns like Risch bring about CHF 26,000 a year — enough for a part-time developer.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 There are good recycling services in Switzerland. Mr. Green picks up your recycling for a monthly fee. Kuh-Bag is a plastic collection bag used in 130 towns. The IGORA Recycling Map shows 16,000+ collection points. They make recycling possible — but none of them makes you want to do it. We're free, we reward you, and we make it social. And we'd rather partner with them than fight them: our map could point to their collection points.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Our target users are 14- to 25-year-olds; we start with the HSLU campus and the schools in Rotkreuz. Meet Lea, 16. She sees our QR poster at school, downloads the app and joins her class team. She scans the sticker at the collection point and gets 10 points. In week 2 her class challenges the class next door. With 100 points she gets a free drink at a local café — and posts it, so a friend joins. Our channels cost almost nothing: school challenges, stickers at collection points, social media, and the municipal newspaper.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 In 24 hours we built a working mobile web app — the loop you just saw. We also asked [Y] people here at ZentralHack: [X] said rewards would get them to recycle more. Next three months: pitch to the Gemeinde Risch, put QR stickers on 10 collection points, reach 100 pilot users. In six months: five local sponsors, measure who keeps coming back, and start a second town. What we need now: a pilot town, local reward sponsors, and your feedback.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s] We are three: Thorben builds the app, Pipatsakorn designs it, Gabriel does the research. We used AI to go from a paper idea to a working app in 24 hours.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s] Our vision: make sustainability rewarding and make recycling a habit. One action. One reward. A better community. Help us start in Rotkreuz.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 do not present. Open this slide during Q&amp;A when the jury asks about cheating, funding, privacy or motivation.</a:t>
            </a:r>
          </a:p>
          <a:p>
            <a:r>
              <a:t>Other likely questions:</a:t>
            </a:r>
          </a:p>
          <a:p>
            <a:r>
              <a:t>• Why would a town pay? Less recyclable waste in the trash bag means less incineration and a better recycling rate; we also give them anonymised data on where people recycle.</a:t>
            </a:r>
          </a:p>
          <a:p>
            <a:r>
              <a:t>• Who is your first paying customer? The Gemeinde Risch — we pitch them first because we can test locally.</a:t>
            </a:r>
          </a:p>
          <a:p>
            <a:r>
              <a:t>• How is this different from PET-Recycling's own campaigns? Those are one-off contests; we are a year-round habit.</a:t>
            </a:r>
          </a:p>
          <a:p>
            <a:r>
              <a:t>• Minors' data? No ads, no data selling, only anonymised totals for partners, parental consent under 16.</a:t>
            </a:r>
          </a:p>
          <a:p>
            <a:r>
              <a:t>• What if sponsors leave? Rewards scale with sponsors; points can also unlock community rewards (e.g. tree planted).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CYCL 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RECYCL IT!  |  ZentralHack 2026</a:t>
            </a:r>
            <a:endParaRPr lang="en-US" sz="1000" dirty="0"/>
          </a:p>
        </p:txBody>
      </p:sp>
      <p:sp>
        <p:nvSpPr>
          <p:cNvPr id="3" name="Text 1"/>
          <p:cNvSpPr>
            <a:spLocks noGrp="1"/>
          </p:cNvSpPr>
          <p:nvPr>
            <p:ph type="title" idx="101" hasCustomPrompt="1"/>
          </p:nvPr>
        </p:nvSpPr>
        <p:spPr>
          <a:xfrm>
            <a:off x="548640" y="365760"/>
            <a:ext cx="1106424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ECYCL Dark">
    <p:bg>
      <p:bgPr>
        <a:solidFill>
          <a:srgbClr val="14342B"/>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RECYCL IT!  |  ZentralHack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dge circle"/>
          <p:cNvSpPr/>
          <p:nvPr/>
        </p:nvSpPr>
        <p:spPr>
          <a:xfrm>
            <a:off x="7955280" y="1280160"/>
            <a:ext cx="3566160" cy="3566160"/>
          </a:xfrm>
          <a:prstGeom prst="ellipse">
            <a:avLst/>
          </a:prstGeom>
          <a:solidFill>
            <a:schemeClr val="accent1"/>
          </a:solidFill>
          <a:ln/>
        </p:spPr>
        <p:txBody>
          <a:bodyPr/>
          <a:lstStyle/>
          <a:p>
            <a:endParaRPr lang="en-CH"/>
          </a:p>
        </p:txBody>
      </p:sp>
      <p:sp>
        <p:nvSpPr>
          <p:cNvPr id="4" name="Title"/>
          <p:cNvSpPr txBox="1"/>
          <p:nvPr/>
        </p:nvSpPr>
        <p:spPr>
          <a:xfrm>
            <a:off x="670560" y="1645920"/>
            <a:ext cx="6949440" cy="1280160"/>
          </a:xfrm>
          <a:prstGeom prst="rect">
            <a:avLst/>
          </a:prstGeom>
          <a:noFill/>
          <a:ln/>
        </p:spPr>
        <p:txBody>
          <a:bodyPr wrap="square" lIns="0" tIns="0" rIns="0" bIns="0" rtlCol="0" anchor="ctr"/>
          <a:lstStyle/>
          <a:p>
            <a:pPr marL="0" indent="0">
              <a:buNone/>
            </a:pPr>
            <a:r>
              <a:rPr lang="en-US" sz="7200" b="1"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RECYCL  IT!</a:t>
            </a:r>
            <a:endParaRPr lang="en-US" sz="72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5" name="Tagline"/>
          <p:cNvSpPr txBox="1"/>
          <p:nvPr/>
        </p:nvSpPr>
        <p:spPr>
          <a:xfrm>
            <a:off x="731520" y="3017520"/>
            <a:ext cx="6949440" cy="548640"/>
          </a:xfrm>
          <a:prstGeom prst="rect">
            <a:avLst/>
          </a:prstGeom>
          <a:noFill/>
          <a:ln/>
        </p:spPr>
        <p:txBody>
          <a:bodyPr wrap="square" lIns="0" tIns="0" rIns="0" bIns="0" rtlCol="0" anchor="ctr"/>
          <a:lstStyle/>
          <a:p>
            <a:r>
              <a:rPr lang="en-US" sz="3000" b="1" dirty="0">
                <a:solidFill>
                  <a:schemeClr val="accent1"/>
                </a:solidFill>
              </a:rPr>
              <a:t>Recycling gamified!</a:t>
            </a:r>
            <a:endParaRPr lang="en-US" sz="3000" dirty="0"/>
          </a:p>
        </p:txBody>
      </p:sp>
      <p:sp>
        <p:nvSpPr>
          <p:cNvPr id="6" name="Subtitle"/>
          <p:cNvSpPr txBox="1"/>
          <p:nvPr/>
        </p:nvSpPr>
        <p:spPr>
          <a:xfrm>
            <a:off x="731520" y="3611880"/>
            <a:ext cx="6949440" cy="548640"/>
          </a:xfrm>
          <a:prstGeom prst="rect">
            <a:avLst/>
          </a:prstGeom>
          <a:noFill/>
          <a:ln/>
        </p:spPr>
        <p:txBody>
          <a:bodyPr wrap="square" lIns="0" tIns="0" rIns="0" bIns="0" rtlCol="0" anchor="ctr"/>
          <a:lstStyle/>
          <a:p>
            <a:pPr marL="0" indent="0">
              <a:buNone/>
            </a:pPr>
            <a:r>
              <a:rPr lang="en-US" sz="2200" dirty="0">
                <a:solidFill>
                  <a:schemeClr val="accent4"/>
                </a:solidFill>
              </a:rPr>
              <a:t>Turn everyday recycling into real-world rewards.</a:t>
            </a:r>
            <a:endParaRPr lang="en-US" sz="2200" dirty="0"/>
          </a:p>
        </p:txBody>
      </p:sp>
      <p:sp>
        <p:nvSpPr>
          <p:cNvPr id="7" name="Team line"/>
          <p:cNvSpPr txBox="1"/>
          <p:nvPr/>
        </p:nvSpPr>
        <p:spPr>
          <a:xfrm>
            <a:off x="731520" y="4846320"/>
            <a:ext cx="6949440" cy="365760"/>
          </a:xfrm>
          <a:prstGeom prst="rect">
            <a:avLst/>
          </a:prstGeom>
          <a:noFill/>
          <a:ln/>
        </p:spPr>
        <p:txBody>
          <a:bodyPr wrap="square" lIns="0" tIns="0" rIns="0" bIns="0" rtlCol="0" anchor="ctr"/>
          <a:lstStyle/>
          <a:p>
            <a:pPr marL="0" indent="0">
              <a:buNone/>
            </a:pPr>
            <a:r>
              <a:rPr lang="en-CH" sz="1400">
                <a:solidFill>
                  <a:schemeClr val="accent4"/>
                </a:solidFill>
              </a:rPr>
              <a:t>Arduino · SDG 11 Sustainable cities and communities</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a:t>
            </a:fld>
            <a:endParaRPr lang="en-US"/>
          </a:p>
        </p:txBody>
      </p:sp>
      <p:pic>
        <p:nvPicPr>
          <p:cNvPr id="11" name="Picture 10" descr="Made Fun&#10;&#10;AI-generated content may be incorrect.">
            <a:extLst>
              <a:ext uri="{FF2B5EF4-FFF2-40B4-BE49-F238E27FC236}">
                <a16:creationId xmlns:a16="http://schemas.microsoft.com/office/drawing/2014/main" id="{F17BDBE0-BF24-B823-F4AE-F628CBA590A0}"/>
              </a:ext>
            </a:extLst>
          </p:cNvPr>
          <p:cNvPicPr>
            <a:picLocks noChangeAspect="1"/>
          </p:cNvPicPr>
          <p:nvPr/>
        </p:nvPicPr>
        <p:blipFill>
          <a:blip r:embed="rId3"/>
          <a:stretch>
            <a:fillRect/>
          </a:stretch>
        </p:blipFill>
        <p:spPr>
          <a:xfrm>
            <a:off x="7808631" y="1058461"/>
            <a:ext cx="3931920" cy="3931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dirty="0">
                <a:solidFill>
                  <a:schemeClr val="tx1"/>
                </a:solidFill>
              </a:rPr>
              <a:t>The Problem</a:t>
            </a:r>
            <a:endParaRPr lang="en-US" sz="3600" dirty="0"/>
          </a:p>
        </p:txBody>
      </p:sp>
      <p:sp>
        <p:nvSpPr>
          <p:cNvPr id="3" name="Problem 1 circle"/>
          <p:cNvSpPr/>
          <p:nvPr/>
        </p:nvSpPr>
        <p:spPr>
          <a:xfrm>
            <a:off x="548640" y="1417320"/>
            <a:ext cx="685800" cy="685800"/>
          </a:xfrm>
          <a:prstGeom prst="ellipse">
            <a:avLst/>
          </a:prstGeom>
          <a:solidFill>
            <a:srgbClr val="F2A33A"/>
          </a:solidFill>
          <a:ln/>
        </p:spPr>
        <p:txBody>
          <a:bodyPr/>
          <a:lstStyle/>
          <a:p>
            <a:endParaRPr lang="en-CH"/>
          </a:p>
        </p:txBody>
      </p:sp>
      <p:pic>
        <p:nvPicPr>
          <p:cNvPr id="4" name="Problem 1 icon" descr="Problem 1"/>
          <p:cNvPicPr>
            <a:picLocks noChangeAspect="1"/>
          </p:cNvPicPr>
          <p:nvPr/>
        </p:nvPicPr>
        <p:blipFill>
          <a:blip r:embed="rId3"/>
          <a:stretch>
            <a:fillRect/>
          </a:stretch>
        </p:blipFill>
        <p:spPr>
          <a:xfrm>
            <a:off x="720090" y="1588770"/>
            <a:ext cx="342900" cy="342900"/>
          </a:xfrm>
          <a:prstGeom prst="rect">
            <a:avLst/>
          </a:prstGeom>
        </p:spPr>
      </p:pic>
      <p:sp>
        <p:nvSpPr>
          <p:cNvPr id="5" name="Problem text 1"/>
          <p:cNvSpPr txBox="1"/>
          <p:nvPr/>
        </p:nvSpPr>
        <p:spPr>
          <a:xfrm>
            <a:off x="1463040" y="1371600"/>
            <a:ext cx="5852160" cy="777240"/>
          </a:xfrm>
          <a:prstGeom prst="rect">
            <a:avLst/>
          </a:prstGeom>
          <a:noFill/>
          <a:ln/>
        </p:spPr>
        <p:txBody>
          <a:bodyPr wrap="square" lIns="0" tIns="0" rIns="0" bIns="0" rtlCol="0" anchor="ctr"/>
          <a:lstStyle/>
          <a:p>
            <a:pPr marL="0" indent="0">
              <a:buNone/>
            </a:pPr>
            <a:r>
              <a:rPr lang="en-US" sz="1800">
                <a:solidFill>
                  <a:schemeClr val="tx1"/>
                </a:solidFill>
              </a:rPr>
              <a:t>The trash bin is 1 m away. The collection point is 5 minutes away.</a:t>
            </a:r>
          </a:p>
        </p:txBody>
      </p:sp>
      <p:sp>
        <p:nvSpPr>
          <p:cNvPr id="6" name="Problem 2 circle"/>
          <p:cNvSpPr/>
          <p:nvPr/>
        </p:nvSpPr>
        <p:spPr>
          <a:xfrm>
            <a:off x="548640" y="2331720"/>
            <a:ext cx="685800" cy="685800"/>
          </a:xfrm>
          <a:prstGeom prst="ellipse">
            <a:avLst/>
          </a:prstGeom>
          <a:solidFill>
            <a:srgbClr val="F2A33A"/>
          </a:solidFill>
          <a:ln/>
        </p:spPr>
        <p:txBody>
          <a:bodyPr/>
          <a:lstStyle/>
          <a:p>
            <a:endParaRPr lang="en-CH"/>
          </a:p>
        </p:txBody>
      </p:sp>
      <p:pic>
        <p:nvPicPr>
          <p:cNvPr id="7" name="Problem 2 icon" descr="Problem 2"/>
          <p:cNvPicPr>
            <a:picLocks noChangeAspect="1"/>
          </p:cNvPicPr>
          <p:nvPr/>
        </p:nvPicPr>
        <p:blipFill>
          <a:blip r:embed="rId4"/>
          <a:stretch>
            <a:fillRect/>
          </a:stretch>
        </p:blipFill>
        <p:spPr>
          <a:xfrm>
            <a:off x="720090" y="2503170"/>
            <a:ext cx="342900" cy="342900"/>
          </a:xfrm>
          <a:prstGeom prst="rect">
            <a:avLst/>
          </a:prstGeom>
        </p:spPr>
      </p:pic>
      <p:sp>
        <p:nvSpPr>
          <p:cNvPr id="8" name="Problem text 2"/>
          <p:cNvSpPr txBox="1"/>
          <p:nvPr/>
        </p:nvSpPr>
        <p:spPr>
          <a:xfrm>
            <a:off x="1463040" y="2286000"/>
            <a:ext cx="5852160" cy="777240"/>
          </a:xfrm>
          <a:prstGeom prst="rect">
            <a:avLst/>
          </a:prstGeom>
          <a:noFill/>
          <a:ln/>
        </p:spPr>
        <p:txBody>
          <a:bodyPr wrap="square" lIns="0" tIns="0" rIns="0" bIns="0" rtlCol="0" anchor="ctr"/>
          <a:lstStyle/>
          <a:p>
            <a:pPr marL="0" indent="0">
              <a:buNone/>
            </a:pPr>
            <a:r>
              <a:rPr lang="en-US" sz="1800">
                <a:solidFill>
                  <a:schemeClr val="tx1"/>
                </a:solidFill>
              </a:rPr>
              <a:t>Recycling gives you nothing back: no reward, no feedback.</a:t>
            </a:r>
          </a:p>
        </p:txBody>
      </p:sp>
      <p:sp>
        <p:nvSpPr>
          <p:cNvPr id="9" name="Problem 3 circle"/>
          <p:cNvSpPr/>
          <p:nvPr/>
        </p:nvSpPr>
        <p:spPr>
          <a:xfrm>
            <a:off x="548640" y="3246120"/>
            <a:ext cx="685800" cy="685800"/>
          </a:xfrm>
          <a:prstGeom prst="ellipse">
            <a:avLst/>
          </a:prstGeom>
          <a:solidFill>
            <a:srgbClr val="F2A33A"/>
          </a:solidFill>
          <a:ln/>
        </p:spPr>
        <p:txBody>
          <a:bodyPr/>
          <a:lstStyle/>
          <a:p>
            <a:endParaRPr lang="en-CH"/>
          </a:p>
        </p:txBody>
      </p:sp>
      <p:pic>
        <p:nvPicPr>
          <p:cNvPr id="10" name="Problem 3 icon" descr="Problem 3"/>
          <p:cNvPicPr>
            <a:picLocks noChangeAspect="1"/>
          </p:cNvPicPr>
          <p:nvPr/>
        </p:nvPicPr>
        <p:blipFill>
          <a:blip r:embed="rId5"/>
          <a:stretch>
            <a:fillRect/>
          </a:stretch>
        </p:blipFill>
        <p:spPr>
          <a:xfrm>
            <a:off x="720090" y="3417570"/>
            <a:ext cx="342900" cy="342900"/>
          </a:xfrm>
          <a:prstGeom prst="rect">
            <a:avLst/>
          </a:prstGeom>
        </p:spPr>
      </p:pic>
      <p:sp>
        <p:nvSpPr>
          <p:cNvPr id="11" name="Problem text 3"/>
          <p:cNvSpPr txBox="1"/>
          <p:nvPr/>
        </p:nvSpPr>
        <p:spPr>
          <a:xfrm>
            <a:off x="1463040" y="3200400"/>
            <a:ext cx="5852160" cy="777240"/>
          </a:xfrm>
          <a:prstGeom prst="rect">
            <a:avLst/>
          </a:prstGeom>
          <a:noFill/>
          <a:ln/>
        </p:spPr>
        <p:txBody>
          <a:bodyPr wrap="square" lIns="0" tIns="0" rIns="0" bIns="0" rtlCol="0" anchor="ctr"/>
          <a:lstStyle/>
          <a:p>
            <a:pPr marL="0" indent="0">
              <a:buNone/>
            </a:pPr>
            <a:r>
              <a:rPr lang="en-US" sz="1800">
                <a:solidFill>
                  <a:schemeClr val="tx1"/>
                </a:solidFill>
              </a:rPr>
              <a:t>Young people know it matters, but the habit doesn't stick.</a:t>
            </a:r>
          </a:p>
        </p:txBody>
      </p:sp>
      <p:sp>
        <p:nvSpPr>
          <p:cNvPr id="12" name="Hypothesis card"/>
          <p:cNvSpPr/>
          <p:nvPr/>
        </p:nvSpPr>
        <p:spPr>
          <a:xfrm>
            <a:off x="548640" y="4297680"/>
            <a:ext cx="6766560" cy="1417320"/>
          </a:xfrm>
          <a:prstGeom prst="roundRect">
            <a:avLst>
              <a:gd name="adj" fmla="val 9677"/>
            </a:avLst>
          </a:prstGeom>
          <a:solidFill>
            <a:srgbClr val="14342B"/>
          </a:solidFill>
          <a:ln/>
        </p:spPr>
        <p:txBody>
          <a:bodyPr/>
          <a:lstStyle/>
          <a:p>
            <a:endParaRPr lang="en-CH"/>
          </a:p>
        </p:txBody>
      </p:sp>
      <p:sp>
        <p:nvSpPr>
          <p:cNvPr id="13" name="Hypothesis"/>
          <p:cNvSpPr txBox="1"/>
          <p:nvPr/>
        </p:nvSpPr>
        <p:spPr>
          <a:xfrm>
            <a:off x="822960" y="4389120"/>
            <a:ext cx="6217920" cy="1234440"/>
          </a:xfrm>
          <a:prstGeom prst="rect">
            <a:avLst/>
          </a:prstGeom>
          <a:noFill/>
          <a:ln/>
        </p:spPr>
        <p:txBody>
          <a:bodyPr wrap="square" lIns="0" tIns="0" rIns="0" bIns="0" rtlCol="0" anchor="ctr"/>
          <a:lstStyle/>
          <a:p>
            <a:pPr marL="0" indent="0">
              <a:buNone/>
            </a:pPr>
            <a:r>
              <a:rPr lang="en-US" sz="2100" b="1" dirty="0">
                <a:solidFill>
                  <a:schemeClr val="accent1"/>
                </a:solidFill>
              </a:rPr>
              <a:t>Our hypothesis: </a:t>
            </a:r>
            <a:r>
              <a:rPr lang="en-US" sz="2100" dirty="0">
                <a:solidFill>
                  <a:schemeClr val="bg1"/>
                </a:solidFill>
              </a:rPr>
              <a:t>rewards, challenges and friends turn recycling into a habit.</a:t>
            </a:r>
          </a:p>
        </p:txBody>
      </p:sp>
      <p:sp>
        <p:nvSpPr>
          <p:cNvPr id="14" name="Stats card"/>
          <p:cNvSpPr/>
          <p:nvPr/>
        </p:nvSpPr>
        <p:spPr>
          <a:xfrm>
            <a:off x="7772400" y="1417320"/>
            <a:ext cx="3840480" cy="4297680"/>
          </a:xfrm>
          <a:prstGeom prst="roundRect">
            <a:avLst>
              <a:gd name="adj" fmla="val 3571"/>
            </a:avLst>
          </a:prstGeom>
          <a:solidFill>
            <a:srgbClr val="EEF4EE"/>
          </a:solidFill>
          <a:ln/>
        </p:spPr>
        <p:txBody>
          <a:bodyPr/>
          <a:lstStyle/>
          <a:p>
            <a:endParaRPr lang="en-CH"/>
          </a:p>
        </p:txBody>
      </p:sp>
      <p:sp>
        <p:nvSpPr>
          <p:cNvPr id="15" name="Stat 1"/>
          <p:cNvSpPr txBox="1"/>
          <p:nvPr/>
        </p:nvSpPr>
        <p:spPr>
          <a:xfrm>
            <a:off x="8092440" y="1645920"/>
            <a:ext cx="3291840" cy="685800"/>
          </a:xfrm>
          <a:prstGeom prst="rect">
            <a:avLst/>
          </a:prstGeom>
          <a:noFill/>
          <a:ln/>
        </p:spPr>
        <p:txBody>
          <a:bodyPr wrap="square" lIns="0" tIns="0" rIns="0" bIns="0" rtlCol="0" anchor="ctr"/>
          <a:lstStyle/>
          <a:p>
            <a:pPr marL="0" indent="0">
              <a:buNone/>
            </a:pPr>
            <a:r>
              <a:rPr lang="en-US" sz="4400" b="1" dirty="0">
                <a:solidFill>
                  <a:schemeClr val="tx2"/>
                </a:solidFill>
              </a:rPr>
              <a:t>52%</a:t>
            </a:r>
            <a:endParaRPr lang="en-US" sz="4400" dirty="0"/>
          </a:p>
        </p:txBody>
      </p:sp>
      <p:sp>
        <p:nvSpPr>
          <p:cNvPr id="16" name="Stat label 1"/>
          <p:cNvSpPr txBox="1"/>
          <p:nvPr/>
        </p:nvSpPr>
        <p:spPr>
          <a:xfrm>
            <a:off x="8092440" y="2304288"/>
            <a:ext cx="3291840" cy="457200"/>
          </a:xfrm>
          <a:prstGeom prst="rect">
            <a:avLst/>
          </a:prstGeom>
          <a:noFill/>
          <a:ln/>
        </p:spPr>
        <p:txBody>
          <a:bodyPr wrap="square" lIns="0" tIns="0" rIns="0" bIns="0" rtlCol="0" anchor="ctr"/>
          <a:lstStyle/>
          <a:p>
            <a:pPr marL="0" indent="0">
              <a:buNone/>
            </a:pPr>
            <a:r>
              <a:rPr lang="en-US" sz="1400" dirty="0">
                <a:solidFill>
                  <a:schemeClr val="accent5"/>
                </a:solidFill>
              </a:rPr>
              <a:t>of Swiss municipal waste is recycled (2024)</a:t>
            </a:r>
            <a:endParaRPr lang="en-US" sz="1400" dirty="0"/>
          </a:p>
        </p:txBody>
      </p:sp>
      <p:sp>
        <p:nvSpPr>
          <p:cNvPr id="17" name="Stat 2"/>
          <p:cNvSpPr txBox="1"/>
          <p:nvPr/>
        </p:nvSpPr>
        <p:spPr>
          <a:xfrm>
            <a:off x="8092440" y="2990088"/>
            <a:ext cx="3291840" cy="685800"/>
          </a:xfrm>
          <a:prstGeom prst="rect">
            <a:avLst/>
          </a:prstGeom>
          <a:noFill/>
          <a:ln/>
        </p:spPr>
        <p:txBody>
          <a:bodyPr wrap="square" lIns="0" tIns="0" rIns="0" bIns="0" rtlCol="0" anchor="ctr"/>
          <a:lstStyle/>
          <a:p>
            <a:pPr marL="0" indent="0">
              <a:buNone/>
            </a:pPr>
            <a:r>
              <a:rPr lang="en-US" sz="4400" b="1" dirty="0">
                <a:solidFill>
                  <a:schemeClr val="tx2"/>
                </a:solidFill>
              </a:rPr>
              <a:t>20%+</a:t>
            </a:r>
            <a:endParaRPr lang="en-US" sz="4400" dirty="0"/>
          </a:p>
        </p:txBody>
      </p:sp>
      <p:sp>
        <p:nvSpPr>
          <p:cNvPr id="18" name="Stat label 2"/>
          <p:cNvSpPr txBox="1"/>
          <p:nvPr/>
        </p:nvSpPr>
        <p:spPr>
          <a:xfrm>
            <a:off x="8092440" y="3648456"/>
            <a:ext cx="3291840" cy="457200"/>
          </a:xfrm>
          <a:prstGeom prst="rect">
            <a:avLst/>
          </a:prstGeom>
          <a:noFill/>
          <a:ln/>
        </p:spPr>
        <p:txBody>
          <a:bodyPr wrap="square" lIns="0" tIns="0" rIns="0" bIns="0" rtlCol="0" anchor="ctr"/>
          <a:lstStyle/>
          <a:p>
            <a:pPr marL="0" indent="0">
              <a:buNone/>
            </a:pPr>
            <a:r>
              <a:rPr lang="en-US" sz="1400" dirty="0">
                <a:solidFill>
                  <a:schemeClr val="accent5"/>
                </a:solidFill>
              </a:rPr>
              <a:t>of each trash bag could still be recycled</a:t>
            </a:r>
            <a:endParaRPr lang="en-US" sz="1400" dirty="0"/>
          </a:p>
        </p:txBody>
      </p:sp>
      <p:sp>
        <p:nvSpPr>
          <p:cNvPr id="19" name="Stat 3"/>
          <p:cNvSpPr txBox="1"/>
          <p:nvPr/>
        </p:nvSpPr>
        <p:spPr>
          <a:xfrm>
            <a:off x="8092440" y="4334256"/>
            <a:ext cx="3291840" cy="685800"/>
          </a:xfrm>
          <a:prstGeom prst="rect">
            <a:avLst/>
          </a:prstGeom>
          <a:noFill/>
          <a:ln/>
        </p:spPr>
        <p:txBody>
          <a:bodyPr wrap="square" lIns="0" tIns="0" rIns="0" bIns="0" rtlCol="0" anchor="ctr"/>
          <a:lstStyle/>
          <a:p>
            <a:pPr marL="0" indent="0">
              <a:buNone/>
            </a:pPr>
            <a:r>
              <a:rPr lang="en-US" sz="4400" b="1" dirty="0">
                <a:solidFill>
                  <a:schemeClr val="tx2"/>
                </a:solidFill>
              </a:rPr>
              <a:t>671 kg</a:t>
            </a:r>
            <a:endParaRPr lang="en-US" sz="4400" dirty="0"/>
          </a:p>
        </p:txBody>
      </p:sp>
      <p:sp>
        <p:nvSpPr>
          <p:cNvPr id="20" name="Stat label 3"/>
          <p:cNvSpPr txBox="1"/>
          <p:nvPr/>
        </p:nvSpPr>
        <p:spPr>
          <a:xfrm>
            <a:off x="8092440" y="4992624"/>
            <a:ext cx="3291840" cy="457200"/>
          </a:xfrm>
          <a:prstGeom prst="rect">
            <a:avLst/>
          </a:prstGeom>
          <a:noFill/>
          <a:ln/>
        </p:spPr>
        <p:txBody>
          <a:bodyPr wrap="square" lIns="0" tIns="0" rIns="0" bIns="0" rtlCol="0" anchor="ctr"/>
          <a:lstStyle/>
          <a:p>
            <a:pPr marL="0" indent="0">
              <a:buNone/>
            </a:pPr>
            <a:r>
              <a:rPr lang="en-US" sz="1400" dirty="0">
                <a:solidFill>
                  <a:schemeClr val="accent5"/>
                </a:solidFill>
              </a:rPr>
              <a:t>municipal waste per person per year (2022)</a:t>
            </a:r>
            <a:endParaRPr lang="en-US" sz="1400" dirty="0"/>
          </a:p>
        </p:txBody>
      </p:sp>
      <p:sp>
        <p:nvSpPr>
          <p:cNvPr id="21" name="Source"/>
          <p:cNvSpPr txBox="1"/>
          <p:nvPr/>
        </p:nvSpPr>
        <p:spPr>
          <a:xfrm>
            <a:off x="548640" y="5989320"/>
            <a:ext cx="11064240" cy="274320"/>
          </a:xfrm>
          <a:prstGeom prst="rect">
            <a:avLst/>
          </a:prstGeom>
          <a:noFill/>
          <a:ln/>
        </p:spPr>
        <p:txBody>
          <a:bodyPr wrap="square" lIns="0" tIns="0" rIns="0" bIns="0" rtlCol="0" anchor="ctr"/>
          <a:lstStyle/>
          <a:p>
            <a:pPr marL="0" indent="0">
              <a:buNone/>
            </a:pPr>
            <a:r>
              <a:rPr lang="en-US" sz="1000" dirty="0">
                <a:solidFill>
                  <a:schemeClr val="accent5"/>
                </a:solidFill>
              </a:rPr>
              <a:t>Sources: Federal Office for the Environment (FOEN) via Keystone-SDA / blue News; swissinfo.ch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dirty="0">
                <a:solidFill>
                  <a:schemeClr val="tx1"/>
                </a:solidFill>
              </a:rPr>
              <a:t>Our Solution</a:t>
            </a:r>
            <a:endParaRPr lang="en-US" sz="3600" dirty="0"/>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a:solidFill>
                  <a:schemeClr val="tx2"/>
                </a:solidFill>
              </a:rPr>
              <a:t>RECYCL IT turns recycling into a game you play with your town.</a:t>
            </a:r>
          </a:p>
        </p:txBody>
      </p:sp>
      <p:sp>
        <p:nvSpPr>
          <p:cNvPr id="4" name="Step card 1"/>
          <p:cNvSpPr/>
          <p:nvPr/>
        </p:nvSpPr>
        <p:spPr>
          <a:xfrm>
            <a:off x="548640" y="1874520"/>
            <a:ext cx="2103120" cy="2743200"/>
          </a:xfrm>
          <a:prstGeom prst="roundRect">
            <a:avLst>
              <a:gd name="adj" fmla="val 6522"/>
            </a:avLst>
          </a:prstGeom>
          <a:solidFill>
            <a:srgbClr val="EEF4EE"/>
          </a:solidFill>
          <a:ln/>
        </p:spPr>
        <p:txBody>
          <a:bodyPr/>
          <a:lstStyle/>
          <a:p>
            <a:endParaRPr lang="en-CH"/>
          </a:p>
        </p:txBody>
      </p:sp>
      <p:sp>
        <p:nvSpPr>
          <p:cNvPr id="5" name="Step 1 circle"/>
          <p:cNvSpPr/>
          <p:nvPr/>
        </p:nvSpPr>
        <p:spPr>
          <a:xfrm>
            <a:off x="777240" y="2103120"/>
            <a:ext cx="731520" cy="731520"/>
          </a:xfrm>
          <a:prstGeom prst="ellipse">
            <a:avLst/>
          </a:prstGeom>
          <a:solidFill>
            <a:srgbClr val="23704F"/>
          </a:solidFill>
          <a:ln/>
        </p:spPr>
        <p:txBody>
          <a:bodyPr/>
          <a:lstStyle/>
          <a:p>
            <a:endParaRPr lang="en-CH"/>
          </a:p>
        </p:txBody>
      </p:sp>
      <p:pic>
        <p:nvPicPr>
          <p:cNvPr id="6" name="Step 1 icon" descr="Step 1"/>
          <p:cNvPicPr>
            <a:picLocks noChangeAspect="1"/>
          </p:cNvPicPr>
          <p:nvPr/>
        </p:nvPicPr>
        <p:blipFill>
          <a:blip r:embed="rId3"/>
          <a:stretch>
            <a:fillRect/>
          </a:stretch>
        </p:blipFill>
        <p:spPr>
          <a:xfrm>
            <a:off x="960120" y="2286000"/>
            <a:ext cx="365760" cy="365760"/>
          </a:xfrm>
          <a:prstGeom prst="rect">
            <a:avLst/>
          </a:prstGeom>
        </p:spPr>
      </p:pic>
      <p:sp>
        <p:nvSpPr>
          <p:cNvPr id="7" name="Step number 1"/>
          <p:cNvSpPr txBox="1"/>
          <p:nvPr/>
        </p:nvSpPr>
        <p:spPr>
          <a:xfrm>
            <a:off x="1874520" y="2103120"/>
            <a:ext cx="548640" cy="731520"/>
          </a:xfrm>
          <a:prstGeom prst="rect">
            <a:avLst/>
          </a:prstGeom>
          <a:noFill/>
          <a:ln/>
        </p:spPr>
        <p:txBody>
          <a:bodyPr wrap="square" lIns="0" tIns="0" rIns="0" bIns="0" rtlCol="0" anchor="ctr"/>
          <a:lstStyle/>
          <a:p>
            <a:pPr marL="0" indent="0" algn="r">
              <a:buNone/>
            </a:pPr>
            <a:r>
              <a:rPr lang="en-US" sz="3600" b="1" dirty="0">
                <a:solidFill>
                  <a:schemeClr val="accent1"/>
                </a:solidFill>
              </a:rPr>
              <a:t>1</a:t>
            </a:r>
            <a:endParaRPr lang="en-US" sz="3600" dirty="0"/>
          </a:p>
        </p:txBody>
      </p:sp>
      <p:sp>
        <p:nvSpPr>
          <p:cNvPr id="8" name="Step text 1"/>
          <p:cNvSpPr txBox="1"/>
          <p:nvPr/>
        </p:nvSpPr>
        <p:spPr>
          <a:xfrm>
            <a:off x="777240" y="3017520"/>
            <a:ext cx="1691640" cy="1463040"/>
          </a:xfrm>
          <a:prstGeom prst="rect">
            <a:avLst/>
          </a:prstGeom>
          <a:noFill/>
          <a:ln/>
        </p:spPr>
        <p:txBody>
          <a:bodyPr wrap="square" lIns="0" tIns="0" rIns="0" bIns="0" rtlCol="0" anchor="t"/>
          <a:lstStyle/>
          <a:p>
            <a:pPr marL="0" indent="0">
              <a:buNone/>
            </a:pPr>
            <a:r>
              <a:rPr lang="en-US" sz="1700">
                <a:solidFill>
                  <a:schemeClr val="tx1"/>
                </a:solidFill>
              </a:rPr>
              <a:t>Scan the QR code at a real collection point</a:t>
            </a:r>
          </a:p>
        </p:txBody>
      </p:sp>
      <p:sp>
        <p:nvSpPr>
          <p:cNvPr id="9" name="Step card 2"/>
          <p:cNvSpPr/>
          <p:nvPr/>
        </p:nvSpPr>
        <p:spPr>
          <a:xfrm>
            <a:off x="2788920" y="1874520"/>
            <a:ext cx="2103120" cy="2743200"/>
          </a:xfrm>
          <a:prstGeom prst="roundRect">
            <a:avLst>
              <a:gd name="adj" fmla="val 6522"/>
            </a:avLst>
          </a:prstGeom>
          <a:solidFill>
            <a:srgbClr val="EEF4EE"/>
          </a:solidFill>
          <a:ln/>
        </p:spPr>
        <p:txBody>
          <a:bodyPr/>
          <a:lstStyle/>
          <a:p>
            <a:endParaRPr lang="en-CH"/>
          </a:p>
        </p:txBody>
      </p:sp>
      <p:sp>
        <p:nvSpPr>
          <p:cNvPr id="10" name="Step 2 circle"/>
          <p:cNvSpPr/>
          <p:nvPr/>
        </p:nvSpPr>
        <p:spPr>
          <a:xfrm>
            <a:off x="3017520" y="2103120"/>
            <a:ext cx="731520" cy="731520"/>
          </a:xfrm>
          <a:prstGeom prst="ellipse">
            <a:avLst/>
          </a:prstGeom>
          <a:solidFill>
            <a:srgbClr val="23704F"/>
          </a:solidFill>
          <a:ln/>
        </p:spPr>
        <p:txBody>
          <a:bodyPr/>
          <a:lstStyle/>
          <a:p>
            <a:endParaRPr lang="en-CH"/>
          </a:p>
        </p:txBody>
      </p:sp>
      <p:pic>
        <p:nvPicPr>
          <p:cNvPr id="11" name="Step 2 icon" descr="Step 2"/>
          <p:cNvPicPr>
            <a:picLocks noChangeAspect="1"/>
          </p:cNvPicPr>
          <p:nvPr/>
        </p:nvPicPr>
        <p:blipFill>
          <a:blip r:embed="rId4"/>
          <a:stretch>
            <a:fillRect/>
          </a:stretch>
        </p:blipFill>
        <p:spPr>
          <a:xfrm>
            <a:off x="3200400" y="2286000"/>
            <a:ext cx="365760" cy="365760"/>
          </a:xfrm>
          <a:prstGeom prst="rect">
            <a:avLst/>
          </a:prstGeom>
        </p:spPr>
      </p:pic>
      <p:sp>
        <p:nvSpPr>
          <p:cNvPr id="12" name="Step number 2"/>
          <p:cNvSpPr txBox="1"/>
          <p:nvPr/>
        </p:nvSpPr>
        <p:spPr>
          <a:xfrm>
            <a:off x="4114800" y="2103120"/>
            <a:ext cx="548640" cy="731520"/>
          </a:xfrm>
          <a:prstGeom prst="rect">
            <a:avLst/>
          </a:prstGeom>
          <a:noFill/>
          <a:ln/>
        </p:spPr>
        <p:txBody>
          <a:bodyPr wrap="square" lIns="0" tIns="0" rIns="0" bIns="0" rtlCol="0" anchor="ctr"/>
          <a:lstStyle/>
          <a:p>
            <a:pPr marL="0" indent="0" algn="r">
              <a:buNone/>
            </a:pPr>
            <a:r>
              <a:rPr lang="en-US" sz="3600" b="1" dirty="0">
                <a:solidFill>
                  <a:schemeClr val="accent1"/>
                </a:solidFill>
              </a:rPr>
              <a:t>2</a:t>
            </a:r>
            <a:endParaRPr lang="en-US" sz="3600" dirty="0"/>
          </a:p>
        </p:txBody>
      </p:sp>
      <p:sp>
        <p:nvSpPr>
          <p:cNvPr id="13" name="Step text 2"/>
          <p:cNvSpPr txBox="1"/>
          <p:nvPr/>
        </p:nvSpPr>
        <p:spPr>
          <a:xfrm>
            <a:off x="3017520" y="3017520"/>
            <a:ext cx="1691640" cy="1463040"/>
          </a:xfrm>
          <a:prstGeom prst="rect">
            <a:avLst/>
          </a:prstGeom>
          <a:noFill/>
          <a:ln/>
        </p:spPr>
        <p:txBody>
          <a:bodyPr wrap="square" lIns="0" tIns="0" rIns="0" bIns="0" rtlCol="0" anchor="t"/>
          <a:lstStyle/>
          <a:p>
            <a:pPr marL="0" indent="0">
              <a:buNone/>
            </a:pPr>
            <a:r>
              <a:rPr lang="en-US" sz="1700">
                <a:solidFill>
                  <a:schemeClr val="tx1"/>
                </a:solidFill>
              </a:rPr>
              <a:t>Earn points and streaks</a:t>
            </a:r>
          </a:p>
        </p:txBody>
      </p:sp>
      <p:sp>
        <p:nvSpPr>
          <p:cNvPr id="14" name="Step card 3"/>
          <p:cNvSpPr/>
          <p:nvPr/>
        </p:nvSpPr>
        <p:spPr>
          <a:xfrm>
            <a:off x="5029200" y="1874520"/>
            <a:ext cx="2103120" cy="2743200"/>
          </a:xfrm>
          <a:prstGeom prst="roundRect">
            <a:avLst>
              <a:gd name="adj" fmla="val 6522"/>
            </a:avLst>
          </a:prstGeom>
          <a:solidFill>
            <a:srgbClr val="EEF4EE"/>
          </a:solidFill>
          <a:ln/>
        </p:spPr>
        <p:txBody>
          <a:bodyPr/>
          <a:lstStyle/>
          <a:p>
            <a:endParaRPr lang="en-CH"/>
          </a:p>
        </p:txBody>
      </p:sp>
      <p:sp>
        <p:nvSpPr>
          <p:cNvPr id="15" name="Step 3 circle"/>
          <p:cNvSpPr/>
          <p:nvPr/>
        </p:nvSpPr>
        <p:spPr>
          <a:xfrm>
            <a:off x="5257800" y="2103120"/>
            <a:ext cx="731520" cy="731520"/>
          </a:xfrm>
          <a:prstGeom prst="ellipse">
            <a:avLst/>
          </a:prstGeom>
          <a:solidFill>
            <a:srgbClr val="23704F"/>
          </a:solidFill>
          <a:ln/>
        </p:spPr>
        <p:txBody>
          <a:bodyPr/>
          <a:lstStyle/>
          <a:p>
            <a:endParaRPr lang="en-CH"/>
          </a:p>
        </p:txBody>
      </p:sp>
      <p:pic>
        <p:nvPicPr>
          <p:cNvPr id="16" name="Step 3 icon" descr="Step 3"/>
          <p:cNvPicPr>
            <a:picLocks noChangeAspect="1"/>
          </p:cNvPicPr>
          <p:nvPr/>
        </p:nvPicPr>
        <p:blipFill>
          <a:blip r:embed="rId5"/>
          <a:stretch>
            <a:fillRect/>
          </a:stretch>
        </p:blipFill>
        <p:spPr>
          <a:xfrm>
            <a:off x="5440680" y="2286000"/>
            <a:ext cx="365760" cy="365760"/>
          </a:xfrm>
          <a:prstGeom prst="rect">
            <a:avLst/>
          </a:prstGeom>
        </p:spPr>
      </p:pic>
      <p:sp>
        <p:nvSpPr>
          <p:cNvPr id="17" name="Step number 3"/>
          <p:cNvSpPr txBox="1"/>
          <p:nvPr/>
        </p:nvSpPr>
        <p:spPr>
          <a:xfrm>
            <a:off x="6355080" y="2103120"/>
            <a:ext cx="548640" cy="731520"/>
          </a:xfrm>
          <a:prstGeom prst="rect">
            <a:avLst/>
          </a:prstGeom>
          <a:noFill/>
          <a:ln/>
        </p:spPr>
        <p:txBody>
          <a:bodyPr wrap="square" lIns="0" tIns="0" rIns="0" bIns="0" rtlCol="0" anchor="ctr"/>
          <a:lstStyle/>
          <a:p>
            <a:pPr marL="0" indent="0" algn="r">
              <a:buNone/>
            </a:pPr>
            <a:r>
              <a:rPr lang="en-US" sz="3600" b="1" dirty="0">
                <a:solidFill>
                  <a:schemeClr val="accent1"/>
                </a:solidFill>
              </a:rPr>
              <a:t>3</a:t>
            </a:r>
            <a:endParaRPr lang="en-US" sz="3600" dirty="0"/>
          </a:p>
        </p:txBody>
      </p:sp>
      <p:sp>
        <p:nvSpPr>
          <p:cNvPr id="18" name="Step text 3"/>
          <p:cNvSpPr txBox="1"/>
          <p:nvPr/>
        </p:nvSpPr>
        <p:spPr>
          <a:xfrm>
            <a:off x="5257800" y="3017520"/>
            <a:ext cx="1691640" cy="1463040"/>
          </a:xfrm>
          <a:prstGeom prst="rect">
            <a:avLst/>
          </a:prstGeom>
          <a:noFill/>
          <a:ln/>
        </p:spPr>
        <p:txBody>
          <a:bodyPr wrap="square" lIns="0" tIns="0" rIns="0" bIns="0" rtlCol="0" anchor="t"/>
          <a:lstStyle/>
          <a:p>
            <a:pPr marL="0" indent="0">
              <a:buNone/>
            </a:pPr>
            <a:r>
              <a:rPr lang="en-US" sz="1700" dirty="0">
                <a:solidFill>
                  <a:schemeClr val="tx1"/>
                </a:solidFill>
              </a:rPr>
              <a:t>Climb the class, town leaderboard</a:t>
            </a:r>
            <a:r>
              <a:rPr lang="en-US" sz="1700" dirty="0"/>
              <a:t> and compete against your friends!</a:t>
            </a:r>
            <a:endParaRPr lang="en-US" sz="1700" dirty="0">
              <a:solidFill>
                <a:schemeClr val="tx1"/>
              </a:solidFill>
            </a:endParaRPr>
          </a:p>
        </p:txBody>
      </p:sp>
      <p:sp>
        <p:nvSpPr>
          <p:cNvPr id="19" name="Step card 4"/>
          <p:cNvSpPr/>
          <p:nvPr/>
        </p:nvSpPr>
        <p:spPr>
          <a:xfrm>
            <a:off x="7269480" y="1874520"/>
            <a:ext cx="2103120" cy="2743200"/>
          </a:xfrm>
          <a:prstGeom prst="roundRect">
            <a:avLst>
              <a:gd name="adj" fmla="val 6522"/>
            </a:avLst>
          </a:prstGeom>
          <a:solidFill>
            <a:srgbClr val="EEF4EE"/>
          </a:solidFill>
          <a:ln/>
        </p:spPr>
        <p:txBody>
          <a:bodyPr/>
          <a:lstStyle/>
          <a:p>
            <a:endParaRPr lang="en-CH"/>
          </a:p>
        </p:txBody>
      </p:sp>
      <p:sp>
        <p:nvSpPr>
          <p:cNvPr id="20" name="Step 4 circle"/>
          <p:cNvSpPr/>
          <p:nvPr/>
        </p:nvSpPr>
        <p:spPr>
          <a:xfrm>
            <a:off x="7498080" y="2103120"/>
            <a:ext cx="731520" cy="731520"/>
          </a:xfrm>
          <a:prstGeom prst="ellipse">
            <a:avLst/>
          </a:prstGeom>
          <a:solidFill>
            <a:srgbClr val="23704F"/>
          </a:solidFill>
          <a:ln/>
        </p:spPr>
        <p:txBody>
          <a:bodyPr/>
          <a:lstStyle/>
          <a:p>
            <a:endParaRPr lang="en-CH"/>
          </a:p>
        </p:txBody>
      </p:sp>
      <p:pic>
        <p:nvPicPr>
          <p:cNvPr id="21" name="Step 4 icon" descr="Step 4"/>
          <p:cNvPicPr>
            <a:picLocks noChangeAspect="1"/>
          </p:cNvPicPr>
          <p:nvPr/>
        </p:nvPicPr>
        <p:blipFill>
          <a:blip r:embed="rId6"/>
          <a:stretch>
            <a:fillRect/>
          </a:stretch>
        </p:blipFill>
        <p:spPr>
          <a:xfrm>
            <a:off x="7680960" y="2286000"/>
            <a:ext cx="365760" cy="365760"/>
          </a:xfrm>
          <a:prstGeom prst="rect">
            <a:avLst/>
          </a:prstGeom>
        </p:spPr>
      </p:pic>
      <p:sp>
        <p:nvSpPr>
          <p:cNvPr id="22" name="Step number 4"/>
          <p:cNvSpPr txBox="1"/>
          <p:nvPr/>
        </p:nvSpPr>
        <p:spPr>
          <a:xfrm>
            <a:off x="8595360" y="2103120"/>
            <a:ext cx="548640" cy="731520"/>
          </a:xfrm>
          <a:prstGeom prst="rect">
            <a:avLst/>
          </a:prstGeom>
          <a:noFill/>
          <a:ln/>
        </p:spPr>
        <p:txBody>
          <a:bodyPr wrap="square" lIns="0" tIns="0" rIns="0" bIns="0" rtlCol="0" anchor="ctr"/>
          <a:lstStyle/>
          <a:p>
            <a:pPr marL="0" indent="0" algn="r">
              <a:buNone/>
            </a:pPr>
            <a:r>
              <a:rPr lang="en-US" sz="3600" b="1" dirty="0">
                <a:solidFill>
                  <a:schemeClr val="accent1"/>
                </a:solidFill>
              </a:rPr>
              <a:t>4</a:t>
            </a:r>
            <a:endParaRPr lang="en-US" sz="3600" dirty="0"/>
          </a:p>
        </p:txBody>
      </p:sp>
      <p:sp>
        <p:nvSpPr>
          <p:cNvPr id="23" name="Step text 4"/>
          <p:cNvSpPr txBox="1"/>
          <p:nvPr/>
        </p:nvSpPr>
        <p:spPr>
          <a:xfrm>
            <a:off x="7498080" y="3017520"/>
            <a:ext cx="1691640" cy="1463040"/>
          </a:xfrm>
          <a:prstGeom prst="rect">
            <a:avLst/>
          </a:prstGeom>
          <a:noFill/>
          <a:ln/>
        </p:spPr>
        <p:txBody>
          <a:bodyPr wrap="square" lIns="0" tIns="0" rIns="0" bIns="0" rtlCol="0" anchor="t"/>
          <a:lstStyle/>
          <a:p>
            <a:pPr marL="0" indent="0">
              <a:buNone/>
            </a:pPr>
            <a:r>
              <a:rPr lang="en-US" sz="1700">
                <a:solidFill>
                  <a:schemeClr val="tx1"/>
                </a:solidFill>
              </a:rPr>
              <a:t>Redeem points at local shops</a:t>
            </a:r>
          </a:p>
        </p:txBody>
      </p:sp>
      <p:sp>
        <p:nvSpPr>
          <p:cNvPr id="24" name="Step card 5"/>
          <p:cNvSpPr/>
          <p:nvPr/>
        </p:nvSpPr>
        <p:spPr>
          <a:xfrm>
            <a:off x="9509760" y="1874520"/>
            <a:ext cx="2103120" cy="2743200"/>
          </a:xfrm>
          <a:prstGeom prst="roundRect">
            <a:avLst>
              <a:gd name="adj" fmla="val 6522"/>
            </a:avLst>
          </a:prstGeom>
          <a:solidFill>
            <a:srgbClr val="EEF4EE"/>
          </a:solidFill>
          <a:ln/>
        </p:spPr>
        <p:txBody>
          <a:bodyPr/>
          <a:lstStyle/>
          <a:p>
            <a:endParaRPr lang="en-CH"/>
          </a:p>
        </p:txBody>
      </p:sp>
      <p:sp>
        <p:nvSpPr>
          <p:cNvPr id="25" name="Step 5 circle"/>
          <p:cNvSpPr/>
          <p:nvPr/>
        </p:nvSpPr>
        <p:spPr>
          <a:xfrm>
            <a:off x="9738360" y="2103120"/>
            <a:ext cx="731520" cy="731520"/>
          </a:xfrm>
          <a:prstGeom prst="ellipse">
            <a:avLst/>
          </a:prstGeom>
          <a:solidFill>
            <a:srgbClr val="23704F"/>
          </a:solidFill>
          <a:ln/>
        </p:spPr>
        <p:txBody>
          <a:bodyPr/>
          <a:lstStyle/>
          <a:p>
            <a:endParaRPr lang="en-CH"/>
          </a:p>
        </p:txBody>
      </p:sp>
      <p:pic>
        <p:nvPicPr>
          <p:cNvPr id="26" name="Step 5 icon" descr="Step 5"/>
          <p:cNvPicPr>
            <a:picLocks noChangeAspect="1"/>
          </p:cNvPicPr>
          <p:nvPr/>
        </p:nvPicPr>
        <p:blipFill>
          <a:blip r:embed="rId7"/>
          <a:stretch>
            <a:fillRect/>
          </a:stretch>
        </p:blipFill>
        <p:spPr>
          <a:xfrm>
            <a:off x="9921240" y="2286000"/>
            <a:ext cx="365760" cy="365760"/>
          </a:xfrm>
          <a:prstGeom prst="rect">
            <a:avLst/>
          </a:prstGeom>
        </p:spPr>
      </p:pic>
      <p:sp>
        <p:nvSpPr>
          <p:cNvPr id="27" name="Step number 5"/>
          <p:cNvSpPr txBox="1"/>
          <p:nvPr/>
        </p:nvSpPr>
        <p:spPr>
          <a:xfrm>
            <a:off x="10835640" y="2103120"/>
            <a:ext cx="548640" cy="731520"/>
          </a:xfrm>
          <a:prstGeom prst="rect">
            <a:avLst/>
          </a:prstGeom>
          <a:noFill/>
          <a:ln/>
        </p:spPr>
        <p:txBody>
          <a:bodyPr wrap="square" lIns="0" tIns="0" rIns="0" bIns="0" rtlCol="0" anchor="ctr"/>
          <a:lstStyle/>
          <a:p>
            <a:pPr marL="0" indent="0" algn="r">
              <a:buNone/>
            </a:pPr>
            <a:r>
              <a:rPr lang="en-US" sz="3600" b="1" dirty="0">
                <a:solidFill>
                  <a:schemeClr val="accent1"/>
                </a:solidFill>
              </a:rPr>
              <a:t>5</a:t>
            </a:r>
            <a:endParaRPr lang="en-US" sz="3600" dirty="0"/>
          </a:p>
        </p:txBody>
      </p:sp>
      <p:sp>
        <p:nvSpPr>
          <p:cNvPr id="28" name="Step text 5"/>
          <p:cNvSpPr txBox="1"/>
          <p:nvPr/>
        </p:nvSpPr>
        <p:spPr>
          <a:xfrm>
            <a:off x="9738360" y="3017520"/>
            <a:ext cx="1691640" cy="1463040"/>
          </a:xfrm>
          <a:prstGeom prst="rect">
            <a:avLst/>
          </a:prstGeom>
          <a:noFill/>
          <a:ln/>
        </p:spPr>
        <p:txBody>
          <a:bodyPr wrap="square" lIns="0" tIns="0" rIns="0" bIns="0" rtlCol="0" anchor="t"/>
          <a:lstStyle/>
          <a:p>
            <a:pPr marL="0" indent="0">
              <a:buNone/>
            </a:pPr>
            <a:r>
              <a:rPr lang="en-US" sz="1700" dirty="0">
                <a:solidFill>
                  <a:schemeClr val="tx1"/>
                </a:solidFill>
              </a:rPr>
              <a:t>Join challenges with friends</a:t>
            </a:r>
          </a:p>
        </p:txBody>
      </p:sp>
      <p:sp>
        <p:nvSpPr>
          <p:cNvPr id="29" name="Demo callout"/>
          <p:cNvSpPr/>
          <p:nvPr/>
        </p:nvSpPr>
        <p:spPr>
          <a:xfrm>
            <a:off x="548640" y="4892040"/>
            <a:ext cx="11064240" cy="868680"/>
          </a:xfrm>
          <a:prstGeom prst="roundRect">
            <a:avLst>
              <a:gd name="adj" fmla="val 15789"/>
            </a:avLst>
          </a:prstGeom>
          <a:solidFill>
            <a:srgbClr val="F2A33A"/>
          </a:solidFill>
          <a:ln/>
        </p:spPr>
        <p:txBody>
          <a:bodyPr/>
          <a:lstStyle/>
          <a:p>
            <a:endParaRPr lang="en-CH"/>
          </a:p>
        </p:txBody>
      </p:sp>
      <p:pic>
        <p:nvPicPr>
          <p:cNvPr id="30" name="Phone icon" descr="Phone"/>
          <p:cNvPicPr>
            <a:picLocks noChangeAspect="1"/>
          </p:cNvPicPr>
          <p:nvPr/>
        </p:nvPicPr>
        <p:blipFill>
          <a:blip r:embed="rId8"/>
          <a:stretch>
            <a:fillRect/>
          </a:stretch>
        </p:blipFill>
        <p:spPr>
          <a:xfrm>
            <a:off x="868680" y="5074920"/>
            <a:ext cx="502920" cy="502920"/>
          </a:xfrm>
          <a:prstGeom prst="rect">
            <a:avLst/>
          </a:prstGeom>
        </p:spPr>
      </p:pic>
      <p:sp>
        <p:nvSpPr>
          <p:cNvPr id="31" name="Demo text"/>
          <p:cNvSpPr txBox="1"/>
          <p:nvPr/>
        </p:nvSpPr>
        <p:spPr>
          <a:xfrm>
            <a:off x="1600200" y="4892040"/>
            <a:ext cx="9784080" cy="868680"/>
          </a:xfrm>
          <a:prstGeom prst="rect">
            <a:avLst/>
          </a:prstGeom>
          <a:noFill/>
          <a:ln/>
        </p:spPr>
        <p:txBody>
          <a:bodyPr wrap="square" lIns="0" tIns="0" rIns="0" bIns="0" rtlCol="0" anchor="ctr"/>
          <a:lstStyle/>
          <a:p>
            <a:pPr marL="0" indent="0">
              <a:buNone/>
            </a:pPr>
            <a:r>
              <a:rPr lang="en-US" sz="2200" b="1">
                <a:solidFill>
                  <a:schemeClr val="tx1"/>
                </a:solidFill>
              </a:rPr>
              <a:t>Live demo: scan → points → leaderboard → reward</a:t>
            </a:r>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a:solidFill>
                  <a:schemeClr val="tx1"/>
                </a:solidFill>
              </a:rPr>
              <a:t>Business Model</a:t>
            </a:r>
          </a:p>
        </p:txBody>
      </p:sp>
      <p:sp>
        <p:nvSpPr>
          <p:cNvPr id="3" name="Problem 1 circle"/>
          <p:cNvSpPr/>
          <p:nvPr/>
        </p:nvSpPr>
        <p:spPr>
          <a:xfrm>
            <a:off x="548640" y="1417320"/>
            <a:ext cx="685800" cy="685800"/>
          </a:xfrm>
          <a:prstGeom prst="ellipse">
            <a:avLst/>
          </a:prstGeom>
          <a:solidFill>
            <a:srgbClr val="F2A33A"/>
          </a:solidFill>
          <a:ln/>
        </p:spPr>
        <p:txBody>
          <a:bodyPr/>
          <a:lstStyle/>
          <a:p>
            <a:endParaRPr lang="en-CH"/>
          </a:p>
        </p:txBody>
      </p:sp>
      <p:pic>
        <p:nvPicPr>
          <p:cNvPr id="4" name="Problem 1 icon" descr="Problem 1"/>
          <p:cNvPicPr>
            <a:picLocks noChangeAspect="1"/>
          </p:cNvPicPr>
          <p:nvPr/>
        </p:nvPicPr>
        <p:blipFill>
          <a:blip r:embed="rId3"/>
          <a:stretch>
            <a:fillRect/>
          </a:stretch>
        </p:blipFill>
        <p:spPr>
          <a:xfrm>
            <a:off x="720090" y="1588770"/>
            <a:ext cx="342900" cy="342900"/>
          </a:xfrm>
          <a:prstGeom prst="rect">
            <a:avLst/>
          </a:prstGeom>
        </p:spPr>
      </p:pic>
      <p:sp>
        <p:nvSpPr>
          <p:cNvPr id="5" name="Problem text 1"/>
          <p:cNvSpPr txBox="1"/>
          <p:nvPr/>
        </p:nvSpPr>
        <p:spPr>
          <a:xfrm>
            <a:off x="1463040" y="1371600"/>
            <a:ext cx="5852160" cy="777240"/>
          </a:xfrm>
          <a:prstGeom prst="rect">
            <a:avLst/>
          </a:prstGeom>
          <a:noFill/>
          <a:ln/>
        </p:spPr>
        <p:txBody>
          <a:bodyPr wrap="square" lIns="0" tIns="0" rIns="0" bIns="0" rtlCol="0" anchor="ctr"/>
          <a:lstStyle/>
          <a:p>
            <a:pPr marL="0" indent="0">
              <a:buNone/>
            </a:pPr>
            <a:r>
              <a:rPr lang="en-US" sz="1800" b="1">
                <a:solidFill>
                  <a:schemeClr val="tx1"/>
                </a:solidFill>
              </a:rPr>
              <a:t>Gemeinde Risch</a:t>
            </a:r>
            <a:r>
              <a:rPr lang="en-US" sz="1800">
                <a:solidFill>
                  <a:schemeClr val="tx1"/>
                </a:solidFill>
              </a:rPr>
              <a:t> (first customer we pitch): CHF 0.40 per resident a year ≈ CHF 4,400</a:t>
            </a:r>
          </a:p>
        </p:txBody>
      </p:sp>
      <p:sp>
        <p:nvSpPr>
          <p:cNvPr id="6" name="Problem 2 circle"/>
          <p:cNvSpPr/>
          <p:nvPr/>
        </p:nvSpPr>
        <p:spPr>
          <a:xfrm>
            <a:off x="548640" y="2331720"/>
            <a:ext cx="685800" cy="685800"/>
          </a:xfrm>
          <a:prstGeom prst="ellipse">
            <a:avLst/>
          </a:prstGeom>
          <a:solidFill>
            <a:srgbClr val="F2A33A"/>
          </a:solidFill>
          <a:ln/>
        </p:spPr>
        <p:txBody>
          <a:bodyPr/>
          <a:lstStyle/>
          <a:p>
            <a:endParaRPr lang="en-CH"/>
          </a:p>
        </p:txBody>
      </p:sp>
      <p:pic>
        <p:nvPicPr>
          <p:cNvPr id="7" name="Problem 2 icon" descr="Problem 2"/>
          <p:cNvPicPr>
            <a:picLocks noChangeAspect="1"/>
          </p:cNvPicPr>
          <p:nvPr/>
        </p:nvPicPr>
        <p:blipFill>
          <a:blip r:embed="rId4"/>
          <a:stretch>
            <a:fillRect/>
          </a:stretch>
        </p:blipFill>
        <p:spPr>
          <a:xfrm>
            <a:off x="720090" y="2503170"/>
            <a:ext cx="342900" cy="342900"/>
          </a:xfrm>
          <a:prstGeom prst="rect">
            <a:avLst/>
          </a:prstGeom>
        </p:spPr>
      </p:pic>
      <p:sp>
        <p:nvSpPr>
          <p:cNvPr id="8" name="Problem text 2"/>
          <p:cNvSpPr txBox="1"/>
          <p:nvPr/>
        </p:nvSpPr>
        <p:spPr>
          <a:xfrm>
            <a:off x="1463040" y="2286000"/>
            <a:ext cx="5852160" cy="777240"/>
          </a:xfrm>
          <a:prstGeom prst="rect">
            <a:avLst/>
          </a:prstGeom>
          <a:noFill/>
          <a:ln/>
        </p:spPr>
        <p:txBody>
          <a:bodyPr wrap="square" lIns="0" tIns="0" rIns="0" bIns="0" rtlCol="0" anchor="ctr"/>
          <a:lstStyle/>
          <a:p>
            <a:pPr marL="0" indent="0">
              <a:buNone/>
            </a:pPr>
            <a:r>
              <a:rPr lang="en-US" sz="1800" b="1" dirty="0">
                <a:solidFill>
                  <a:schemeClr val="tx1"/>
                </a:solidFill>
              </a:rPr>
              <a:t>Local shops &amp; cafés</a:t>
            </a:r>
            <a:r>
              <a:rPr lang="en-US" sz="1800" dirty="0">
                <a:solidFill>
                  <a:schemeClr val="tx1"/>
                </a:solidFill>
              </a:rPr>
              <a:t>: CHF 30 a month for visibility, and they fund the rewards</a:t>
            </a:r>
            <a:r>
              <a:rPr lang="en-US" dirty="0"/>
              <a:t>, small discounts or a free coffee!</a:t>
            </a:r>
            <a:endParaRPr lang="en-US" sz="1800" dirty="0">
              <a:solidFill>
                <a:schemeClr val="tx1"/>
              </a:solidFill>
            </a:endParaRPr>
          </a:p>
        </p:txBody>
      </p:sp>
      <p:sp>
        <p:nvSpPr>
          <p:cNvPr id="9" name="Problem 3 circle"/>
          <p:cNvSpPr/>
          <p:nvPr/>
        </p:nvSpPr>
        <p:spPr>
          <a:xfrm>
            <a:off x="548640" y="3246120"/>
            <a:ext cx="685800" cy="685800"/>
          </a:xfrm>
          <a:prstGeom prst="ellipse">
            <a:avLst/>
          </a:prstGeom>
          <a:solidFill>
            <a:srgbClr val="F2A33A"/>
          </a:solidFill>
          <a:ln/>
        </p:spPr>
        <p:txBody>
          <a:bodyPr/>
          <a:lstStyle/>
          <a:p>
            <a:endParaRPr lang="en-CH"/>
          </a:p>
        </p:txBody>
      </p:sp>
      <p:pic>
        <p:nvPicPr>
          <p:cNvPr id="10" name="Problem 3 icon" descr="Problem 3"/>
          <p:cNvPicPr>
            <a:picLocks noChangeAspect="1"/>
          </p:cNvPicPr>
          <p:nvPr/>
        </p:nvPicPr>
        <p:blipFill>
          <a:blip r:embed="rId5"/>
          <a:stretch>
            <a:fillRect/>
          </a:stretch>
        </p:blipFill>
        <p:spPr>
          <a:xfrm>
            <a:off x="720090" y="3417570"/>
            <a:ext cx="342900" cy="342900"/>
          </a:xfrm>
          <a:prstGeom prst="rect">
            <a:avLst/>
          </a:prstGeom>
        </p:spPr>
      </p:pic>
      <p:sp>
        <p:nvSpPr>
          <p:cNvPr id="11" name="Problem text 3"/>
          <p:cNvSpPr txBox="1"/>
          <p:nvPr/>
        </p:nvSpPr>
        <p:spPr>
          <a:xfrm>
            <a:off x="1463040" y="3200400"/>
            <a:ext cx="5852160" cy="777240"/>
          </a:xfrm>
          <a:prstGeom prst="rect">
            <a:avLst/>
          </a:prstGeom>
          <a:noFill/>
          <a:ln/>
        </p:spPr>
        <p:txBody>
          <a:bodyPr wrap="square" lIns="0" tIns="0" rIns="0" bIns="0" rtlCol="0" anchor="ctr"/>
          <a:lstStyle/>
          <a:p>
            <a:pPr marL="0" indent="0">
              <a:buNone/>
            </a:pPr>
            <a:r>
              <a:rPr lang="en-US" sz="1800" b="1" dirty="0">
                <a:solidFill>
                  <a:schemeClr val="tx1"/>
                </a:solidFill>
              </a:rPr>
              <a:t>Users</a:t>
            </a:r>
            <a:r>
              <a:rPr lang="en-US" sz="1800" dirty="0">
                <a:solidFill>
                  <a:schemeClr val="tx1"/>
                </a:solidFill>
              </a:rPr>
              <a:t>: always free. No ads, no selling data. You are in charge</a:t>
            </a:r>
          </a:p>
        </p:txBody>
      </p:sp>
      <p:sp>
        <p:nvSpPr>
          <p:cNvPr id="12" name="Hypothesis card"/>
          <p:cNvSpPr/>
          <p:nvPr/>
        </p:nvSpPr>
        <p:spPr>
          <a:xfrm>
            <a:off x="548640" y="4297680"/>
            <a:ext cx="6766560" cy="1417320"/>
          </a:xfrm>
          <a:prstGeom prst="roundRect">
            <a:avLst>
              <a:gd name="adj" fmla="val 9677"/>
            </a:avLst>
          </a:prstGeom>
          <a:solidFill>
            <a:srgbClr val="14342B"/>
          </a:solidFill>
          <a:ln/>
        </p:spPr>
        <p:txBody>
          <a:bodyPr/>
          <a:lstStyle/>
          <a:p>
            <a:endParaRPr lang="en-CH"/>
          </a:p>
        </p:txBody>
      </p:sp>
      <p:sp>
        <p:nvSpPr>
          <p:cNvPr id="13" name="Hypothesis"/>
          <p:cNvSpPr txBox="1"/>
          <p:nvPr/>
        </p:nvSpPr>
        <p:spPr>
          <a:xfrm>
            <a:off x="822960" y="4389120"/>
            <a:ext cx="6217920" cy="1234440"/>
          </a:xfrm>
          <a:prstGeom prst="rect">
            <a:avLst/>
          </a:prstGeom>
          <a:noFill/>
          <a:ln/>
        </p:spPr>
        <p:txBody>
          <a:bodyPr wrap="square" lIns="0" tIns="0" rIns="0" bIns="0" rtlCol="0" anchor="ctr"/>
          <a:lstStyle/>
          <a:p>
            <a:r>
              <a:rPr lang="en-US" sz="2100" b="1" dirty="0">
                <a:solidFill>
                  <a:schemeClr val="accent1"/>
                </a:solidFill>
              </a:rPr>
              <a:t>Scale: </a:t>
            </a:r>
            <a:r>
              <a:rPr lang="en-US" sz="2100" dirty="0">
                <a:solidFill>
                  <a:schemeClr val="bg1"/>
                </a:solidFill>
              </a:rPr>
              <a:t>6 towns like Risch ≈ CHF 26,000 a year, enough for keeping this self sufficient.</a:t>
            </a:r>
          </a:p>
        </p:txBody>
      </p:sp>
      <p:sp>
        <p:nvSpPr>
          <p:cNvPr id="14" name="Stats card"/>
          <p:cNvSpPr/>
          <p:nvPr/>
        </p:nvSpPr>
        <p:spPr>
          <a:xfrm>
            <a:off x="7772400" y="1417320"/>
            <a:ext cx="3840480" cy="4297680"/>
          </a:xfrm>
          <a:prstGeom prst="roundRect">
            <a:avLst>
              <a:gd name="adj" fmla="val 3571"/>
            </a:avLst>
          </a:prstGeom>
          <a:solidFill>
            <a:srgbClr val="EEF4EE"/>
          </a:solidFill>
          <a:ln/>
        </p:spPr>
        <p:txBody>
          <a:bodyPr/>
          <a:lstStyle/>
          <a:p>
            <a:endParaRPr lang="en-CH"/>
          </a:p>
        </p:txBody>
      </p:sp>
      <p:sp>
        <p:nvSpPr>
          <p:cNvPr id="15" name="Stat 1"/>
          <p:cNvSpPr txBox="1"/>
          <p:nvPr/>
        </p:nvSpPr>
        <p:spPr>
          <a:xfrm>
            <a:off x="8092440" y="1645920"/>
            <a:ext cx="3291840" cy="685800"/>
          </a:xfrm>
          <a:prstGeom prst="rect">
            <a:avLst/>
          </a:prstGeom>
          <a:noFill/>
          <a:ln/>
        </p:spPr>
        <p:txBody>
          <a:bodyPr wrap="square" lIns="0" tIns="0" rIns="0" bIns="0" rtlCol="0" anchor="ctr"/>
          <a:lstStyle/>
          <a:p>
            <a:pPr marL="0" indent="0">
              <a:buNone/>
            </a:pPr>
            <a:r>
              <a:rPr lang="en-US" sz="3600" b="1">
                <a:solidFill>
                  <a:schemeClr val="tx2"/>
                </a:solidFill>
              </a:rPr>
              <a:t>CHF 4,000</a:t>
            </a:r>
          </a:p>
        </p:txBody>
      </p:sp>
      <p:sp>
        <p:nvSpPr>
          <p:cNvPr id="16" name="Stat label 1"/>
          <p:cNvSpPr txBox="1"/>
          <p:nvPr/>
        </p:nvSpPr>
        <p:spPr>
          <a:xfrm>
            <a:off x="8092440" y="2304288"/>
            <a:ext cx="3291840" cy="457200"/>
          </a:xfrm>
          <a:prstGeom prst="rect">
            <a:avLst/>
          </a:prstGeom>
          <a:noFill/>
          <a:ln/>
        </p:spPr>
        <p:txBody>
          <a:bodyPr wrap="square" lIns="0" tIns="0" rIns="0" bIns="0" rtlCol="0" anchor="ctr"/>
          <a:lstStyle/>
          <a:p>
            <a:pPr marL="0" indent="0">
              <a:buNone/>
            </a:pPr>
            <a:r>
              <a:rPr lang="en-US" sz="1400">
                <a:solidFill>
                  <a:schemeClr val="accent5"/>
                </a:solidFill>
              </a:rPr>
              <a:t>pilot costs, year 1 (hosting, QR stickers, flyers)</a:t>
            </a:r>
          </a:p>
        </p:txBody>
      </p:sp>
      <p:sp>
        <p:nvSpPr>
          <p:cNvPr id="17" name="Stat 2"/>
          <p:cNvSpPr txBox="1"/>
          <p:nvPr/>
        </p:nvSpPr>
        <p:spPr>
          <a:xfrm>
            <a:off x="8092440" y="2990088"/>
            <a:ext cx="3291840" cy="685800"/>
          </a:xfrm>
          <a:prstGeom prst="rect">
            <a:avLst/>
          </a:prstGeom>
          <a:noFill/>
          <a:ln/>
        </p:spPr>
        <p:txBody>
          <a:bodyPr wrap="square" lIns="0" tIns="0" rIns="0" bIns="0" rtlCol="0" anchor="ctr"/>
          <a:lstStyle/>
          <a:p>
            <a:pPr marL="0" indent="0">
              <a:buNone/>
            </a:pPr>
            <a:r>
              <a:rPr lang="en-US" sz="3600" b="1">
                <a:solidFill>
                  <a:schemeClr val="tx2"/>
                </a:solidFill>
              </a:rPr>
              <a:t>CHF 6,200</a:t>
            </a:r>
          </a:p>
        </p:txBody>
      </p:sp>
      <p:sp>
        <p:nvSpPr>
          <p:cNvPr id="18" name="Stat label 2"/>
          <p:cNvSpPr txBox="1"/>
          <p:nvPr/>
        </p:nvSpPr>
        <p:spPr>
          <a:xfrm>
            <a:off x="8092440" y="3648456"/>
            <a:ext cx="3291840" cy="457200"/>
          </a:xfrm>
          <a:prstGeom prst="rect">
            <a:avLst/>
          </a:prstGeom>
          <a:noFill/>
          <a:ln/>
        </p:spPr>
        <p:txBody>
          <a:bodyPr wrap="square" lIns="0" tIns="0" rIns="0" bIns="0" rtlCol="0" anchor="ctr"/>
          <a:lstStyle/>
          <a:p>
            <a:pPr marL="0" indent="0">
              <a:buNone/>
            </a:pPr>
            <a:r>
              <a:rPr lang="en-US" sz="1400">
                <a:solidFill>
                  <a:schemeClr val="accent5"/>
                </a:solidFill>
              </a:rPr>
              <a:t>revenue, year 1 (Risch + 5 local shops)</a:t>
            </a:r>
          </a:p>
        </p:txBody>
      </p:sp>
      <p:sp>
        <p:nvSpPr>
          <p:cNvPr id="19" name="Stat 3"/>
          <p:cNvSpPr txBox="1"/>
          <p:nvPr/>
        </p:nvSpPr>
        <p:spPr>
          <a:xfrm>
            <a:off x="8092440" y="4334256"/>
            <a:ext cx="3291840" cy="685800"/>
          </a:xfrm>
          <a:prstGeom prst="rect">
            <a:avLst/>
          </a:prstGeom>
          <a:noFill/>
          <a:ln/>
        </p:spPr>
        <p:txBody>
          <a:bodyPr wrap="square" lIns="0" tIns="0" rIns="0" bIns="0" rtlCol="0" anchor="ctr"/>
          <a:lstStyle/>
          <a:p>
            <a:pPr marL="0" indent="0">
              <a:buNone/>
            </a:pPr>
            <a:r>
              <a:rPr lang="en-US" sz="3600" b="1">
                <a:solidFill>
                  <a:schemeClr val="tx2"/>
                </a:solidFill>
              </a:rPr>
              <a:t>Year 1</a:t>
            </a:r>
          </a:p>
        </p:txBody>
      </p:sp>
      <p:sp>
        <p:nvSpPr>
          <p:cNvPr id="20" name="Stat label 3"/>
          <p:cNvSpPr txBox="1"/>
          <p:nvPr/>
        </p:nvSpPr>
        <p:spPr>
          <a:xfrm>
            <a:off x="8092440" y="4992624"/>
            <a:ext cx="3291840" cy="457200"/>
          </a:xfrm>
          <a:prstGeom prst="rect">
            <a:avLst/>
          </a:prstGeom>
          <a:noFill/>
          <a:ln/>
        </p:spPr>
        <p:txBody>
          <a:bodyPr wrap="square" lIns="0" tIns="0" rIns="0" bIns="0" rtlCol="0" anchor="ctr"/>
          <a:lstStyle/>
          <a:p>
            <a:pPr marL="0" indent="0">
              <a:buNone/>
            </a:pPr>
            <a:r>
              <a:rPr lang="en-US" sz="1400">
                <a:solidFill>
                  <a:schemeClr val="accent5"/>
                </a:solidFill>
              </a:rPr>
              <a:t>break-even in the pilot year</a:t>
            </a:r>
          </a:p>
        </p:txBody>
      </p:sp>
      <p:sp>
        <p:nvSpPr>
          <p:cNvPr id="21" name="Source"/>
          <p:cNvSpPr txBox="1"/>
          <p:nvPr/>
        </p:nvSpPr>
        <p:spPr>
          <a:xfrm>
            <a:off x="548640" y="5989320"/>
            <a:ext cx="11064240" cy="274320"/>
          </a:xfrm>
          <a:prstGeom prst="rect">
            <a:avLst/>
          </a:prstGeom>
          <a:noFill/>
          <a:ln/>
        </p:spPr>
        <p:txBody>
          <a:bodyPr wrap="square" lIns="0" tIns="0" rIns="0" bIns="0" rtlCol="0" anchor="ctr"/>
          <a:lstStyle/>
          <a:p>
            <a:pPr marL="0" indent="0">
              <a:buNone/>
            </a:pPr>
            <a:r>
              <a:rPr lang="en-US" sz="1000">
                <a:solidFill>
                  <a:schemeClr val="accent5"/>
                </a:solidFill>
              </a:rPr>
              <a:t>All figures are our estimates. Rewards are paid by sponsors; the team works unpaid during the pilot.</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dirty="0">
                <a:solidFill>
                  <a:schemeClr val="tx1"/>
                </a:solidFill>
              </a:rPr>
              <a:t>WHY US?</a:t>
            </a:r>
            <a:endParaRPr lang="en-US" sz="3600" dirty="0"/>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dirty="0">
                <a:solidFill>
                  <a:schemeClr val="tx2"/>
                </a:solidFill>
              </a:rPr>
              <a:t>The only option that is free, rewarding, social and forms a community.</a:t>
            </a:r>
          </a:p>
        </p:txBody>
      </p:sp>
      <p:sp>
        <p:nvSpPr>
          <p:cNvPr id="28" name="Competition card"/>
          <p:cNvSpPr/>
          <p:nvPr/>
        </p:nvSpPr>
        <p:spPr>
          <a:xfrm>
            <a:off x="548640" y="4498848"/>
            <a:ext cx="11064240" cy="1307592"/>
          </a:xfrm>
          <a:prstGeom prst="roundRect">
            <a:avLst>
              <a:gd name="adj" fmla="val 9375"/>
            </a:avLst>
          </a:prstGeom>
          <a:solidFill>
            <a:srgbClr val="14342B"/>
          </a:solidFill>
          <a:ln/>
        </p:spPr>
        <p:txBody>
          <a:bodyPr/>
          <a:lstStyle/>
          <a:p>
            <a:endParaRPr lang="en-CH"/>
          </a:p>
        </p:txBody>
      </p:sp>
      <p:sp>
        <p:nvSpPr>
          <p:cNvPr id="29" name="Handshake circle"/>
          <p:cNvSpPr/>
          <p:nvPr/>
        </p:nvSpPr>
        <p:spPr>
          <a:xfrm>
            <a:off x="868680" y="4736592"/>
            <a:ext cx="822960" cy="822960"/>
          </a:xfrm>
          <a:prstGeom prst="ellipse">
            <a:avLst/>
          </a:prstGeom>
          <a:solidFill>
            <a:srgbClr val="F2A33A"/>
          </a:solidFill>
          <a:ln/>
        </p:spPr>
        <p:txBody>
          <a:bodyPr/>
          <a:lstStyle/>
          <a:p>
            <a:endParaRPr lang="en-CH"/>
          </a:p>
        </p:txBody>
      </p:sp>
      <p:pic>
        <p:nvPicPr>
          <p:cNvPr id="30" name="Handshake icon" descr="Handshake"/>
          <p:cNvPicPr>
            <a:picLocks noChangeAspect="1"/>
          </p:cNvPicPr>
          <p:nvPr/>
        </p:nvPicPr>
        <p:blipFill>
          <a:blip r:embed="rId3"/>
          <a:stretch>
            <a:fillRect/>
          </a:stretch>
        </p:blipFill>
        <p:spPr>
          <a:xfrm>
            <a:off x="1074420" y="4937760"/>
            <a:ext cx="411480" cy="411480"/>
          </a:xfrm>
          <a:prstGeom prst="rect">
            <a:avLst/>
          </a:prstGeom>
        </p:spPr>
      </p:pic>
      <p:sp>
        <p:nvSpPr>
          <p:cNvPr id="31" name="Competition text"/>
          <p:cNvSpPr txBox="1"/>
          <p:nvPr/>
        </p:nvSpPr>
        <p:spPr>
          <a:xfrm>
            <a:off x="1965960" y="4526280"/>
            <a:ext cx="9418320" cy="1252728"/>
          </a:xfrm>
          <a:prstGeom prst="rect">
            <a:avLst/>
          </a:prstGeom>
          <a:noFill/>
          <a:ln/>
        </p:spPr>
        <p:txBody>
          <a:bodyPr wrap="square" lIns="0" tIns="0" rIns="0" bIns="0" rtlCol="0" anchor="ctr"/>
          <a:lstStyle/>
          <a:p>
            <a:pPr marL="0" indent="0">
              <a:buNone/>
            </a:pPr>
            <a:r>
              <a:rPr lang="en-US" sz="1900" dirty="0">
                <a:solidFill>
                  <a:schemeClr val="bg1"/>
                </a:solidFill>
              </a:rPr>
              <a:t>They make recycling possible. We make people want to do it, and we can partner with them instead of fighting them. We are fighting against waste not against each other!</a:t>
            </a:r>
          </a:p>
        </p:txBody>
      </p:sp>
      <p:sp>
        <p:nvSpPr>
          <p:cNvPr id="32" name="Source"/>
          <p:cNvSpPr txBox="1"/>
          <p:nvPr/>
        </p:nvSpPr>
        <p:spPr>
          <a:xfrm>
            <a:off x="548640" y="5989320"/>
            <a:ext cx="11064240" cy="274320"/>
          </a:xfrm>
          <a:prstGeom prst="rect">
            <a:avLst/>
          </a:prstGeom>
          <a:noFill/>
          <a:ln/>
        </p:spPr>
        <p:txBody>
          <a:bodyPr wrap="square" lIns="0" tIns="0" rIns="0" bIns="0" rtlCol="0" anchor="ctr"/>
          <a:lstStyle/>
          <a:p>
            <a:pPr marL="0" indent="0">
              <a:buNone/>
            </a:pPr>
            <a:r>
              <a:rPr lang="en-US" sz="1000">
                <a:solidFill>
                  <a:schemeClr val="accent5"/>
                </a:solidFill>
              </a:rPr>
              <a:t>Sources: mr-green.ch, preispirat.ch (Mr. Green); Abfall-Info Appenzell I.Rh. 2026 (Kuh-Bag); App Store listing (IGORA Recycling Map)</a:t>
            </a:r>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graphicFrame>
        <p:nvGraphicFramePr>
          <p:cNvPr id="34" name="Competition table"/>
          <p:cNvGraphicFramePr>
            <a:graphicFrameLocks noGrp="1"/>
          </p:cNvGraphicFramePr>
          <p:nvPr/>
        </p:nvGraphicFramePr>
        <p:xfrm>
          <a:off x="548640" y="1737360"/>
          <a:ext cx="11064239" cy="2499360"/>
        </p:xfrm>
        <a:graphic>
          <a:graphicData uri="http://schemas.openxmlformats.org/drawingml/2006/table">
            <a:tbl>
              <a:tblPr>
                <a:tableStyleId>{5C22544A-7EE6-4342-B048-85BDC9FD1C3A}</a:tableStyleId>
              </a:tblPr>
              <a:tblGrid>
                <a:gridCol w="3749039">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57200">
                <a:tc>
                  <a:txBody>
                    <a:bodyPr/>
                    <a:lstStyle/>
                    <a:p>
                      <a:pPr algn="l"/>
                      <a:endParaRPr/>
                    </a:p>
                  </a:txBody>
                  <a:tcPr marL="182880" marT="27432" marB="27432" anchor="ctr">
                    <a:solidFill>
                      <a:srgbClr val="14342B"/>
                    </a:solidFill>
                  </a:tcPr>
                </a:tc>
                <a:tc>
                  <a:txBody>
                    <a:bodyPr/>
                    <a:lstStyle/>
                    <a:p>
                      <a:pPr algn="ctr"/>
                      <a:r>
                        <a:rPr sz="1500" b="1">
                          <a:solidFill>
                            <a:srgbClr val="FFFFFF"/>
                          </a:solidFill>
                        </a:rPr>
                        <a:t>Free for users</a:t>
                      </a:r>
                    </a:p>
                  </a:txBody>
                  <a:tcPr marL="182880" marT="27432" marB="27432" anchor="ctr">
                    <a:solidFill>
                      <a:srgbClr val="14342B"/>
                    </a:solidFill>
                  </a:tcPr>
                </a:tc>
                <a:tc>
                  <a:txBody>
                    <a:bodyPr/>
                    <a:lstStyle/>
                    <a:p>
                      <a:pPr algn="ctr"/>
                      <a:r>
                        <a:rPr sz="1500" b="1">
                          <a:solidFill>
                            <a:srgbClr val="FFFFFF"/>
                          </a:solidFill>
                        </a:rPr>
                        <a:t>Rewards</a:t>
                      </a:r>
                    </a:p>
                  </a:txBody>
                  <a:tcPr marL="182880" marT="27432" marB="27432" anchor="ctr">
                    <a:solidFill>
                      <a:srgbClr val="14342B"/>
                    </a:solidFill>
                  </a:tcPr>
                </a:tc>
                <a:tc>
                  <a:txBody>
                    <a:bodyPr/>
                    <a:lstStyle/>
                    <a:p>
                      <a:pPr algn="ctr"/>
                      <a:r>
                        <a:rPr sz="1500" b="1">
                          <a:solidFill>
                            <a:srgbClr val="FFFFFF"/>
                          </a:solidFill>
                        </a:rPr>
                        <a:t>Community &amp; challenges</a:t>
                      </a:r>
                    </a:p>
                  </a:txBody>
                  <a:tcPr marL="182880" marT="27432" marB="27432" anchor="ctr">
                    <a:solidFill>
                      <a:srgbClr val="14342B"/>
                    </a:solidFill>
                  </a:tcPr>
                </a:tc>
                <a:tc>
                  <a:txBody>
                    <a:bodyPr/>
                    <a:lstStyle/>
                    <a:p>
                      <a:pPr algn="ctr"/>
                      <a:r>
                        <a:rPr sz="1500" b="1">
                          <a:solidFill>
                            <a:srgbClr val="FFFFFF"/>
                          </a:solidFill>
                        </a:rPr>
                        <a:t>Shows where to recycle</a:t>
                      </a:r>
                    </a:p>
                  </a:txBody>
                  <a:tcPr marL="182880" marT="27432" marB="27432" anchor="ctr">
                    <a:solidFill>
                      <a:srgbClr val="14342B"/>
                    </a:solidFill>
                  </a:tcPr>
                </a:tc>
                <a:extLst>
                  <a:ext uri="{0D108BD9-81ED-4DB2-BD59-A6C34878D82A}">
                    <a16:rowId xmlns:a16="http://schemas.microsoft.com/office/drawing/2014/main" val="10000"/>
                  </a:ext>
                </a:extLst>
              </a:tr>
              <a:tr h="475488">
                <a:tc>
                  <a:txBody>
                    <a:bodyPr/>
                    <a:lstStyle/>
                    <a:p>
                      <a:pPr algn="l"/>
                      <a:r>
                        <a:rPr sz="1700" b="1">
                          <a:solidFill>
                            <a:srgbClr val="14342B"/>
                          </a:solidFill>
                        </a:rPr>
                        <a:t>RECYCL IT</a:t>
                      </a:r>
                    </a:p>
                    <a:p>
                      <a:pPr algn="l"/>
                      <a:r>
                        <a:rPr sz="1200" b="0">
                          <a:solidFill>
                            <a:srgbClr val="4F6159"/>
                          </a:solidFill>
                        </a:rPr>
                        <a:t>our app</a:t>
                      </a:r>
                    </a:p>
                  </a:txBody>
                  <a:tcPr marL="182880" marT="27432" marB="27432" anchor="ctr">
                    <a:solidFill>
                      <a:srgbClr val="FDE8C8"/>
                    </a:solidFill>
                  </a:tcPr>
                </a:tc>
                <a:tc>
                  <a:txBody>
                    <a:bodyPr/>
                    <a:lstStyle/>
                    <a:p>
                      <a:pPr algn="ctr"/>
                      <a:r>
                        <a:rPr sz="2400" b="1">
                          <a:solidFill>
                            <a:srgbClr val="14342B"/>
                          </a:solidFill>
                        </a:rPr>
                        <a:t>✓</a:t>
                      </a:r>
                    </a:p>
                  </a:txBody>
                  <a:tcPr marL="182880" marT="27432" marB="27432" anchor="ctr">
                    <a:solidFill>
                      <a:srgbClr val="FDE8C8"/>
                    </a:solidFill>
                  </a:tcPr>
                </a:tc>
                <a:tc>
                  <a:txBody>
                    <a:bodyPr/>
                    <a:lstStyle/>
                    <a:p>
                      <a:pPr algn="ctr"/>
                      <a:r>
                        <a:rPr sz="2400" b="1">
                          <a:solidFill>
                            <a:srgbClr val="14342B"/>
                          </a:solidFill>
                        </a:rPr>
                        <a:t>✓</a:t>
                      </a:r>
                    </a:p>
                  </a:txBody>
                  <a:tcPr marL="182880" marT="27432" marB="27432" anchor="ctr">
                    <a:solidFill>
                      <a:srgbClr val="FDE8C8"/>
                    </a:solidFill>
                  </a:tcPr>
                </a:tc>
                <a:tc>
                  <a:txBody>
                    <a:bodyPr/>
                    <a:lstStyle/>
                    <a:p>
                      <a:pPr algn="ctr"/>
                      <a:r>
                        <a:rPr sz="2400" b="1">
                          <a:solidFill>
                            <a:srgbClr val="14342B"/>
                          </a:solidFill>
                        </a:rPr>
                        <a:t>✓</a:t>
                      </a:r>
                    </a:p>
                  </a:txBody>
                  <a:tcPr marL="182880" marT="27432" marB="27432" anchor="ctr">
                    <a:solidFill>
                      <a:srgbClr val="FDE8C8"/>
                    </a:solidFill>
                  </a:tcPr>
                </a:tc>
                <a:tc>
                  <a:txBody>
                    <a:bodyPr/>
                    <a:lstStyle/>
                    <a:p>
                      <a:pPr algn="ctr"/>
                      <a:r>
                        <a:rPr sz="2400" b="1">
                          <a:solidFill>
                            <a:srgbClr val="14342B"/>
                          </a:solidFill>
                        </a:rPr>
                        <a:t>✓</a:t>
                      </a:r>
                    </a:p>
                  </a:txBody>
                  <a:tcPr marL="182880" marT="27432" marB="27432" anchor="ctr">
                    <a:solidFill>
                      <a:srgbClr val="FDE8C8"/>
                    </a:solidFill>
                  </a:tcPr>
                </a:tc>
                <a:extLst>
                  <a:ext uri="{0D108BD9-81ED-4DB2-BD59-A6C34878D82A}">
                    <a16:rowId xmlns:a16="http://schemas.microsoft.com/office/drawing/2014/main" val="10001"/>
                  </a:ext>
                </a:extLst>
              </a:tr>
              <a:tr h="475488">
                <a:tc>
                  <a:txBody>
                    <a:bodyPr/>
                    <a:lstStyle/>
                    <a:p>
                      <a:pPr algn="l"/>
                      <a:r>
                        <a:rPr sz="1700" b="1">
                          <a:solidFill>
                            <a:srgbClr val="14342B"/>
                          </a:solidFill>
                        </a:rPr>
                        <a:t>Mr. Green</a:t>
                      </a:r>
                    </a:p>
                    <a:p>
                      <a:pPr algn="l"/>
                      <a:r>
                        <a:rPr sz="1200" b="0">
                          <a:solidFill>
                            <a:srgbClr val="4F6159"/>
                          </a:solidFill>
                        </a:rPr>
                        <a:t>pickup subscription, from CHF 8.95/month</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extLst>
                  <a:ext uri="{0D108BD9-81ED-4DB2-BD59-A6C34878D82A}">
                    <a16:rowId xmlns:a16="http://schemas.microsoft.com/office/drawing/2014/main" val="10002"/>
                  </a:ext>
                </a:extLst>
              </a:tr>
              <a:tr h="475488">
                <a:tc>
                  <a:txBody>
                    <a:bodyPr/>
                    <a:lstStyle/>
                    <a:p>
                      <a:pPr algn="l"/>
                      <a:r>
                        <a:rPr sz="1700" b="1">
                          <a:solidFill>
                            <a:srgbClr val="14342B"/>
                          </a:solidFill>
                        </a:rPr>
                        <a:t>Kuh-Bag</a:t>
                      </a:r>
                    </a:p>
                    <a:p>
                      <a:pPr algn="l"/>
                      <a:r>
                        <a:rPr sz="1200" b="0">
                          <a:solidFill>
                            <a:srgbClr val="4F6159"/>
                          </a:solidFill>
                        </a:rPr>
                        <a:t>plastic collection bag, 130 towns</a:t>
                      </a:r>
                    </a:p>
                  </a:txBody>
                  <a:tcPr marL="182880" marT="27432" marB="27432" anchor="ctr">
                    <a:solidFill>
                      <a:srgbClr val="FFFFFF"/>
                    </a:solidFill>
                  </a:tcPr>
                </a:tc>
                <a:tc>
                  <a:txBody>
                    <a:bodyPr/>
                    <a:lstStyle/>
                    <a:p>
                      <a:pPr algn="ctr"/>
                      <a:r>
                        <a:rPr sz="2400" b="1">
                          <a:solidFill>
                            <a:srgbClr val="9AA59F"/>
                          </a:solidFill>
                        </a:rPr>
                        <a:t>✕</a:t>
                      </a:r>
                    </a:p>
                  </a:txBody>
                  <a:tcPr marL="182880" marT="27432" marB="27432" anchor="ctr">
                    <a:solidFill>
                      <a:srgbClr val="FFFFFF"/>
                    </a:solidFill>
                  </a:tcPr>
                </a:tc>
                <a:tc>
                  <a:txBody>
                    <a:bodyPr/>
                    <a:lstStyle/>
                    <a:p>
                      <a:pPr algn="ctr"/>
                      <a:r>
                        <a:rPr sz="2400" b="1">
                          <a:solidFill>
                            <a:srgbClr val="9AA59F"/>
                          </a:solidFill>
                        </a:rPr>
                        <a:t>✕</a:t>
                      </a:r>
                    </a:p>
                  </a:txBody>
                  <a:tcPr marL="182880" marT="27432" marB="27432" anchor="ctr">
                    <a:solidFill>
                      <a:srgbClr val="FFFFFF"/>
                    </a:solidFill>
                  </a:tcPr>
                </a:tc>
                <a:tc>
                  <a:txBody>
                    <a:bodyPr/>
                    <a:lstStyle/>
                    <a:p>
                      <a:pPr algn="ctr"/>
                      <a:r>
                        <a:rPr sz="2400" b="1">
                          <a:solidFill>
                            <a:srgbClr val="9AA59F"/>
                          </a:solidFill>
                        </a:rPr>
                        <a:t>✕</a:t>
                      </a:r>
                    </a:p>
                  </a:txBody>
                  <a:tcPr marL="182880" marT="27432" marB="27432" anchor="ctr">
                    <a:solidFill>
                      <a:srgbClr val="FFFFFF"/>
                    </a:solidFill>
                  </a:tcPr>
                </a:tc>
                <a:tc>
                  <a:txBody>
                    <a:bodyPr/>
                    <a:lstStyle/>
                    <a:p>
                      <a:pPr algn="ctr"/>
                      <a:r>
                        <a:rPr sz="2400" b="1">
                          <a:solidFill>
                            <a:srgbClr val="9AA59F"/>
                          </a:solidFill>
                        </a:rPr>
                        <a:t>✕</a:t>
                      </a:r>
                    </a:p>
                  </a:txBody>
                  <a:tcPr marL="182880" marT="27432" marB="27432" anchor="ctr">
                    <a:solidFill>
                      <a:srgbClr val="FFFFFF"/>
                    </a:solidFill>
                  </a:tcPr>
                </a:tc>
                <a:extLst>
                  <a:ext uri="{0D108BD9-81ED-4DB2-BD59-A6C34878D82A}">
                    <a16:rowId xmlns:a16="http://schemas.microsoft.com/office/drawing/2014/main" val="10003"/>
                  </a:ext>
                </a:extLst>
              </a:tr>
              <a:tr h="475488">
                <a:tc>
                  <a:txBody>
                    <a:bodyPr/>
                    <a:lstStyle/>
                    <a:p>
                      <a:pPr algn="l"/>
                      <a:r>
                        <a:rPr sz="1700" b="1">
                          <a:solidFill>
                            <a:srgbClr val="14342B"/>
                          </a:solidFill>
                        </a:rPr>
                        <a:t>IGORA Recycling Map</a:t>
                      </a:r>
                    </a:p>
                    <a:p>
                      <a:pPr algn="l"/>
                      <a:r>
                        <a:rPr sz="1200" b="0">
                          <a:solidFill>
                            <a:srgbClr val="4F6159"/>
                          </a:solidFill>
                        </a:rPr>
                        <a:t>map of 16,000+ collection points</a:t>
                      </a:r>
                    </a:p>
                  </a:txBody>
                  <a:tcPr marL="182880" marT="27432" marB="27432" anchor="ctr">
                    <a:solidFill>
                      <a:srgbClr val="EEF4EE"/>
                    </a:solidFill>
                  </a:tcPr>
                </a:tc>
                <a:tc>
                  <a:txBody>
                    <a:bodyPr/>
                    <a:lstStyle/>
                    <a:p>
                      <a:pPr algn="ctr"/>
                      <a:r>
                        <a:rPr sz="2400" b="1">
                          <a:solidFill>
                            <a:srgbClr val="14342B"/>
                          </a:solidFill>
                        </a:rPr>
                        <a:t>✓</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tc>
                  <a:txBody>
                    <a:bodyPr/>
                    <a:lstStyle/>
                    <a:p>
                      <a:pPr algn="ctr"/>
                      <a:r>
                        <a:rPr sz="2400" b="1">
                          <a:solidFill>
                            <a:srgbClr val="9AA59F"/>
                          </a:solidFill>
                        </a:rPr>
                        <a:t>✕</a:t>
                      </a:r>
                    </a:p>
                  </a:txBody>
                  <a:tcPr marL="182880" marT="27432" marB="27432" anchor="ctr">
                    <a:solidFill>
                      <a:srgbClr val="EEF4EE"/>
                    </a:solidFill>
                  </a:tcPr>
                </a:tc>
                <a:tc>
                  <a:txBody>
                    <a:bodyPr/>
                    <a:lstStyle/>
                    <a:p>
                      <a:pPr algn="ctr"/>
                      <a:r>
                        <a:rPr sz="2400" b="1">
                          <a:solidFill>
                            <a:srgbClr val="14342B"/>
                          </a:solidFill>
                        </a:rPr>
                        <a:t>✓</a:t>
                      </a:r>
                    </a:p>
                  </a:txBody>
                  <a:tcPr marL="182880" marT="27432" marB="27432" anchor="ctr">
                    <a:solidFill>
                      <a:srgbClr val="EEF4EE"/>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a:solidFill>
                  <a:schemeClr val="tx1"/>
                </a:solidFill>
              </a:rPr>
              <a:t>Go-to-Market</a:t>
            </a:r>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a:solidFill>
                  <a:schemeClr val="tx2"/>
                </a:solidFill>
              </a:rPr>
              <a:t>Target: 14–25-year-olds. First users: HSLU campus &amp; schools in Rotkreuz.</a:t>
            </a:r>
          </a:p>
        </p:txBody>
      </p:sp>
      <p:sp>
        <p:nvSpPr>
          <p:cNvPr id="4" name="Pilot pill"/>
          <p:cNvSpPr/>
          <p:nvPr/>
        </p:nvSpPr>
        <p:spPr>
          <a:xfrm>
            <a:off x="548640" y="1828800"/>
            <a:ext cx="3611880" cy="457200"/>
          </a:xfrm>
          <a:prstGeom prst="roundRect">
            <a:avLst>
              <a:gd name="adj" fmla="val 50000"/>
            </a:avLst>
          </a:prstGeom>
          <a:solidFill>
            <a:schemeClr val="bg2"/>
          </a:solidFill>
          <a:ln/>
        </p:spPr>
        <p:txBody>
          <a:bodyPr/>
          <a:lstStyle/>
          <a:p>
            <a:endParaRPr lang="en-CH"/>
          </a:p>
        </p:txBody>
      </p:sp>
      <p:sp>
        <p:nvSpPr>
          <p:cNvPr id="5" name="Pilot label"/>
          <p:cNvSpPr txBox="1"/>
          <p:nvPr/>
        </p:nvSpPr>
        <p:spPr>
          <a:xfrm>
            <a:off x="548640" y="1828800"/>
            <a:ext cx="3611880" cy="457200"/>
          </a:xfrm>
          <a:prstGeom prst="rect">
            <a:avLst/>
          </a:prstGeom>
          <a:noFill/>
          <a:ln/>
        </p:spPr>
        <p:txBody>
          <a:bodyPr wrap="square" lIns="0" tIns="0" rIns="0" bIns="0" rtlCol="0" anchor="ctr"/>
          <a:lstStyle/>
          <a:p>
            <a:pPr marL="0" indent="0" algn="ctr">
              <a:buNone/>
            </a:pPr>
            <a:r>
              <a:rPr lang="en-US" sz="1600" b="1">
                <a:solidFill>
                  <a:schemeClr val="tx2"/>
                </a:solidFill>
              </a:rPr>
              <a:t>Discover</a:t>
            </a:r>
          </a:p>
        </p:txBody>
      </p:sp>
      <p:sp>
        <p:nvSpPr>
          <p:cNvPr id="6" name="Learn pill"/>
          <p:cNvSpPr/>
          <p:nvPr/>
        </p:nvSpPr>
        <p:spPr>
          <a:xfrm>
            <a:off x="4297680" y="1828800"/>
            <a:ext cx="3611880" cy="457200"/>
          </a:xfrm>
          <a:prstGeom prst="roundRect">
            <a:avLst>
              <a:gd name="adj" fmla="val 50000"/>
            </a:avLst>
          </a:prstGeom>
          <a:solidFill>
            <a:schemeClr val="bg2"/>
          </a:solidFill>
          <a:ln/>
        </p:spPr>
        <p:txBody>
          <a:bodyPr/>
          <a:lstStyle/>
          <a:p>
            <a:endParaRPr lang="en-CH"/>
          </a:p>
        </p:txBody>
      </p:sp>
      <p:sp>
        <p:nvSpPr>
          <p:cNvPr id="7" name="Learn label"/>
          <p:cNvSpPr txBox="1"/>
          <p:nvPr/>
        </p:nvSpPr>
        <p:spPr>
          <a:xfrm>
            <a:off x="4297680" y="1828800"/>
            <a:ext cx="3611880" cy="457200"/>
          </a:xfrm>
          <a:prstGeom prst="rect">
            <a:avLst/>
          </a:prstGeom>
          <a:noFill/>
          <a:ln/>
        </p:spPr>
        <p:txBody>
          <a:bodyPr wrap="square" lIns="0" tIns="0" rIns="0" bIns="0" rtlCol="0" anchor="ctr"/>
          <a:lstStyle/>
          <a:p>
            <a:pPr marL="0" indent="0" algn="ctr">
              <a:buNone/>
            </a:pPr>
            <a:r>
              <a:rPr lang="en-US" sz="1600" b="1">
                <a:solidFill>
                  <a:schemeClr val="tx2"/>
                </a:solidFill>
              </a:rPr>
              <a:t>Play</a:t>
            </a:r>
          </a:p>
        </p:txBody>
      </p:sp>
      <p:sp>
        <p:nvSpPr>
          <p:cNvPr id="8" name="Grow pill"/>
          <p:cNvSpPr/>
          <p:nvPr/>
        </p:nvSpPr>
        <p:spPr>
          <a:xfrm>
            <a:off x="8046720" y="1828800"/>
            <a:ext cx="3611880" cy="457200"/>
          </a:xfrm>
          <a:prstGeom prst="roundRect">
            <a:avLst>
              <a:gd name="adj" fmla="val 50000"/>
            </a:avLst>
          </a:prstGeom>
          <a:solidFill>
            <a:schemeClr val="bg2"/>
          </a:solidFill>
          <a:ln/>
        </p:spPr>
        <p:txBody>
          <a:bodyPr/>
          <a:lstStyle/>
          <a:p>
            <a:endParaRPr lang="en-CH"/>
          </a:p>
        </p:txBody>
      </p:sp>
      <p:sp>
        <p:nvSpPr>
          <p:cNvPr id="9" name="Grow label"/>
          <p:cNvSpPr txBox="1"/>
          <p:nvPr/>
        </p:nvSpPr>
        <p:spPr>
          <a:xfrm>
            <a:off x="8046720" y="1828800"/>
            <a:ext cx="3611880" cy="457200"/>
          </a:xfrm>
          <a:prstGeom prst="rect">
            <a:avLst/>
          </a:prstGeom>
          <a:noFill/>
          <a:ln/>
        </p:spPr>
        <p:txBody>
          <a:bodyPr wrap="square" lIns="0" tIns="0" rIns="0" bIns="0" rtlCol="0" anchor="ctr"/>
          <a:lstStyle/>
          <a:p>
            <a:pPr marL="0" indent="0" algn="ctr">
              <a:buNone/>
            </a:pPr>
            <a:r>
              <a:rPr lang="en-US" sz="1600" b="1">
                <a:solidFill>
                  <a:schemeClr val="tx2"/>
                </a:solidFill>
              </a:rPr>
              <a:t>Come back</a:t>
            </a:r>
          </a:p>
        </p:txBody>
      </p:sp>
      <p:sp>
        <p:nvSpPr>
          <p:cNvPr id="10" name="Timeline line"/>
          <p:cNvSpPr/>
          <p:nvPr/>
        </p:nvSpPr>
        <p:spPr>
          <a:xfrm>
            <a:off x="1097280" y="2862072"/>
            <a:ext cx="9966960" cy="54864"/>
          </a:xfrm>
          <a:prstGeom prst="rect">
            <a:avLst/>
          </a:prstGeom>
          <a:solidFill>
            <a:schemeClr val="accent4"/>
          </a:solidFill>
          <a:ln/>
        </p:spPr>
        <p:txBody>
          <a:bodyPr/>
          <a:lstStyle/>
          <a:p>
            <a:endParaRPr lang="en-CH"/>
          </a:p>
        </p:txBody>
      </p:sp>
      <p:sp>
        <p:nvSpPr>
          <p:cNvPr id="11" name="Node 1"/>
          <p:cNvSpPr/>
          <p:nvPr/>
        </p:nvSpPr>
        <p:spPr>
          <a:xfrm>
            <a:off x="1097280" y="2560320"/>
            <a:ext cx="658368" cy="658368"/>
          </a:xfrm>
          <a:prstGeom prst="ellipse">
            <a:avLst/>
          </a:prstGeom>
          <a:solidFill>
            <a:srgbClr val="F2A33A"/>
          </a:solidFill>
          <a:ln/>
        </p:spPr>
        <p:txBody>
          <a:bodyPr/>
          <a:lstStyle/>
          <a:p>
            <a:endParaRPr lang="en-CH"/>
          </a:p>
        </p:txBody>
      </p:sp>
      <p:sp>
        <p:nvSpPr>
          <p:cNvPr id="12" name="Node number 1"/>
          <p:cNvSpPr txBox="1"/>
          <p:nvPr/>
        </p:nvSpPr>
        <p:spPr>
          <a:xfrm>
            <a:off x="1097280" y="2560320"/>
            <a:ext cx="658368" cy="658368"/>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13" name="Step 1"/>
          <p:cNvSpPr txBox="1"/>
          <p:nvPr/>
        </p:nvSpPr>
        <p:spPr>
          <a:xfrm>
            <a:off x="548640" y="3429000"/>
            <a:ext cx="1755648" cy="1325880"/>
          </a:xfrm>
          <a:prstGeom prst="rect">
            <a:avLst/>
          </a:prstGeom>
          <a:noFill/>
          <a:ln/>
        </p:spPr>
        <p:txBody>
          <a:bodyPr wrap="square" lIns="0" tIns="0" rIns="0" bIns="0" rtlCol="0" anchor="t"/>
          <a:lstStyle/>
          <a:p>
            <a:pPr marL="0" indent="0" algn="ctr">
              <a:buNone/>
            </a:pPr>
            <a:r>
              <a:rPr lang="en-US" sz="1600">
                <a:solidFill>
                  <a:schemeClr val="tx1"/>
                </a:solidFill>
              </a:rPr>
              <a:t>Lea (16) sees our QR poster at school</a:t>
            </a:r>
          </a:p>
        </p:txBody>
      </p:sp>
      <p:sp>
        <p:nvSpPr>
          <p:cNvPr id="14" name="Node 2"/>
          <p:cNvSpPr/>
          <p:nvPr/>
        </p:nvSpPr>
        <p:spPr>
          <a:xfrm>
            <a:off x="2971800" y="2560320"/>
            <a:ext cx="658368" cy="658368"/>
          </a:xfrm>
          <a:prstGeom prst="ellipse">
            <a:avLst/>
          </a:prstGeom>
          <a:solidFill>
            <a:srgbClr val="F2A33A"/>
          </a:solidFill>
          <a:ln/>
        </p:spPr>
        <p:txBody>
          <a:bodyPr/>
          <a:lstStyle/>
          <a:p>
            <a:endParaRPr lang="en-CH"/>
          </a:p>
        </p:txBody>
      </p:sp>
      <p:sp>
        <p:nvSpPr>
          <p:cNvPr id="15" name="Node number 2"/>
          <p:cNvSpPr txBox="1"/>
          <p:nvPr/>
        </p:nvSpPr>
        <p:spPr>
          <a:xfrm>
            <a:off x="2971800" y="2560320"/>
            <a:ext cx="658368" cy="658368"/>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6" name="Step 2"/>
          <p:cNvSpPr txBox="1"/>
          <p:nvPr/>
        </p:nvSpPr>
        <p:spPr>
          <a:xfrm>
            <a:off x="2423160" y="3429000"/>
            <a:ext cx="1755648" cy="1325880"/>
          </a:xfrm>
          <a:prstGeom prst="rect">
            <a:avLst/>
          </a:prstGeom>
          <a:noFill/>
          <a:ln/>
        </p:spPr>
        <p:txBody>
          <a:bodyPr wrap="square" lIns="0" tIns="0" rIns="0" bIns="0" rtlCol="0" anchor="t"/>
          <a:lstStyle/>
          <a:p>
            <a:pPr marL="0" indent="0" algn="ctr">
              <a:buNone/>
            </a:pPr>
            <a:r>
              <a:rPr lang="en-US" sz="1600">
                <a:solidFill>
                  <a:schemeClr val="tx1"/>
                </a:solidFill>
              </a:rPr>
              <a:t>Downloads the app and joins her class team</a:t>
            </a:r>
          </a:p>
        </p:txBody>
      </p:sp>
      <p:sp>
        <p:nvSpPr>
          <p:cNvPr id="17" name="Node 3"/>
          <p:cNvSpPr/>
          <p:nvPr/>
        </p:nvSpPr>
        <p:spPr>
          <a:xfrm>
            <a:off x="4846320" y="2560320"/>
            <a:ext cx="658368" cy="658368"/>
          </a:xfrm>
          <a:prstGeom prst="ellipse">
            <a:avLst/>
          </a:prstGeom>
          <a:solidFill>
            <a:srgbClr val="23704F"/>
          </a:solidFill>
          <a:ln/>
        </p:spPr>
        <p:txBody>
          <a:bodyPr/>
          <a:lstStyle/>
          <a:p>
            <a:endParaRPr lang="en-CH"/>
          </a:p>
        </p:txBody>
      </p:sp>
      <p:sp>
        <p:nvSpPr>
          <p:cNvPr id="18" name="Node number 3"/>
          <p:cNvSpPr txBox="1"/>
          <p:nvPr/>
        </p:nvSpPr>
        <p:spPr>
          <a:xfrm>
            <a:off x="484632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9" name="Step 3"/>
          <p:cNvSpPr txBox="1"/>
          <p:nvPr/>
        </p:nvSpPr>
        <p:spPr>
          <a:xfrm>
            <a:off x="4297680" y="3429000"/>
            <a:ext cx="1755648" cy="1325880"/>
          </a:xfrm>
          <a:prstGeom prst="rect">
            <a:avLst/>
          </a:prstGeom>
          <a:noFill/>
          <a:ln/>
        </p:spPr>
        <p:txBody>
          <a:bodyPr wrap="square" lIns="0" tIns="0" rIns="0" bIns="0" rtlCol="0" anchor="t"/>
          <a:lstStyle/>
          <a:p>
            <a:pPr marL="0" indent="0" algn="ctr">
              <a:buNone/>
            </a:pPr>
            <a:r>
              <a:rPr lang="en-US" sz="1600">
                <a:solidFill>
                  <a:schemeClr val="tx1"/>
                </a:solidFill>
              </a:rPr>
              <a:t>Scans the sticker at the collection point: +10 pts</a:t>
            </a:r>
          </a:p>
        </p:txBody>
      </p:sp>
      <p:sp>
        <p:nvSpPr>
          <p:cNvPr id="20" name="Node 4"/>
          <p:cNvSpPr/>
          <p:nvPr/>
        </p:nvSpPr>
        <p:spPr>
          <a:xfrm>
            <a:off x="6720840" y="2560320"/>
            <a:ext cx="658368" cy="658368"/>
          </a:xfrm>
          <a:prstGeom prst="ellipse">
            <a:avLst/>
          </a:prstGeom>
          <a:solidFill>
            <a:srgbClr val="23704F"/>
          </a:solidFill>
          <a:ln/>
        </p:spPr>
        <p:txBody>
          <a:bodyPr/>
          <a:lstStyle/>
          <a:p>
            <a:endParaRPr lang="en-CH"/>
          </a:p>
        </p:txBody>
      </p:sp>
      <p:sp>
        <p:nvSpPr>
          <p:cNvPr id="21" name="Node number 4"/>
          <p:cNvSpPr txBox="1"/>
          <p:nvPr/>
        </p:nvSpPr>
        <p:spPr>
          <a:xfrm>
            <a:off x="672084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2" name="Step 4"/>
          <p:cNvSpPr txBox="1"/>
          <p:nvPr/>
        </p:nvSpPr>
        <p:spPr>
          <a:xfrm>
            <a:off x="6172200" y="3429000"/>
            <a:ext cx="1755648" cy="1325880"/>
          </a:xfrm>
          <a:prstGeom prst="rect">
            <a:avLst/>
          </a:prstGeom>
          <a:noFill/>
          <a:ln/>
        </p:spPr>
        <p:txBody>
          <a:bodyPr wrap="square" lIns="0" tIns="0" rIns="0" bIns="0" rtlCol="0" anchor="t"/>
          <a:lstStyle/>
          <a:p>
            <a:pPr marL="0" indent="0" algn="ctr">
              <a:buNone/>
            </a:pPr>
            <a:r>
              <a:rPr lang="en-US" sz="1600">
                <a:solidFill>
                  <a:schemeClr val="tx1"/>
                </a:solidFill>
              </a:rPr>
              <a:t>Class vs. class challenge in week 2</a:t>
            </a:r>
          </a:p>
        </p:txBody>
      </p:sp>
      <p:sp>
        <p:nvSpPr>
          <p:cNvPr id="23" name="Node 5"/>
          <p:cNvSpPr/>
          <p:nvPr/>
        </p:nvSpPr>
        <p:spPr>
          <a:xfrm>
            <a:off x="8595360" y="2560320"/>
            <a:ext cx="658368" cy="658368"/>
          </a:xfrm>
          <a:prstGeom prst="ellipse">
            <a:avLst/>
          </a:prstGeom>
          <a:solidFill>
            <a:srgbClr val="23704F"/>
          </a:solidFill>
          <a:ln/>
        </p:spPr>
        <p:txBody>
          <a:bodyPr/>
          <a:lstStyle/>
          <a:p>
            <a:endParaRPr lang="en-CH"/>
          </a:p>
        </p:txBody>
      </p:sp>
      <p:sp>
        <p:nvSpPr>
          <p:cNvPr id="24" name="Node number 5"/>
          <p:cNvSpPr txBox="1"/>
          <p:nvPr/>
        </p:nvSpPr>
        <p:spPr>
          <a:xfrm>
            <a:off x="859536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5" name="Step 5"/>
          <p:cNvSpPr txBox="1"/>
          <p:nvPr/>
        </p:nvSpPr>
        <p:spPr>
          <a:xfrm>
            <a:off x="8046720" y="3429000"/>
            <a:ext cx="1755648" cy="1325880"/>
          </a:xfrm>
          <a:prstGeom prst="rect">
            <a:avLst/>
          </a:prstGeom>
          <a:noFill/>
          <a:ln/>
        </p:spPr>
        <p:txBody>
          <a:bodyPr wrap="square" lIns="0" tIns="0" rIns="0" bIns="0" rtlCol="0" anchor="t"/>
          <a:lstStyle/>
          <a:p>
            <a:pPr marL="0" indent="0" algn="ctr">
              <a:buNone/>
            </a:pPr>
            <a:r>
              <a:rPr lang="en-US" sz="1600">
                <a:solidFill>
                  <a:schemeClr val="tx1"/>
                </a:solidFill>
              </a:rPr>
              <a:t>Redeems 100 pts: free drink at a local café</a:t>
            </a:r>
          </a:p>
        </p:txBody>
      </p:sp>
      <p:sp>
        <p:nvSpPr>
          <p:cNvPr id="26" name="Node 6"/>
          <p:cNvSpPr/>
          <p:nvPr/>
        </p:nvSpPr>
        <p:spPr>
          <a:xfrm>
            <a:off x="10469880" y="2560320"/>
            <a:ext cx="658368" cy="658368"/>
          </a:xfrm>
          <a:prstGeom prst="ellipse">
            <a:avLst/>
          </a:prstGeom>
          <a:solidFill>
            <a:srgbClr val="23704F"/>
          </a:solidFill>
          <a:ln/>
        </p:spPr>
        <p:txBody>
          <a:bodyPr/>
          <a:lstStyle/>
          <a:p>
            <a:endParaRPr lang="en-CH"/>
          </a:p>
        </p:txBody>
      </p:sp>
      <p:sp>
        <p:nvSpPr>
          <p:cNvPr id="27" name="Node number 6"/>
          <p:cNvSpPr txBox="1"/>
          <p:nvPr/>
        </p:nvSpPr>
        <p:spPr>
          <a:xfrm>
            <a:off x="10469880" y="2560320"/>
            <a:ext cx="658368" cy="658368"/>
          </a:xfrm>
          <a:prstGeom prst="rect">
            <a:avLst/>
          </a:prstGeom>
          <a:noFill/>
          <a:ln/>
        </p:spPr>
        <p:txBody>
          <a:bodyPr wrap="square" lIns="0" tIns="0" rIns="0" bIns="0" rtlCol="0" anchor="ctr"/>
          <a:lstStyle/>
          <a:p>
            <a:pPr marL="0" indent="0" algn="ctr">
              <a:buNone/>
            </a:pPr>
            <a:r>
              <a:rPr lang="en-US" sz="2000" b="1" dirty="0">
                <a:solidFill>
                  <a:schemeClr val="bg1"/>
                </a:solidFill>
              </a:rPr>
              <a:t>6</a:t>
            </a:r>
            <a:endParaRPr lang="en-US" sz="2000" dirty="0"/>
          </a:p>
        </p:txBody>
      </p:sp>
      <p:sp>
        <p:nvSpPr>
          <p:cNvPr id="28" name="Step 6"/>
          <p:cNvSpPr txBox="1"/>
          <p:nvPr/>
        </p:nvSpPr>
        <p:spPr>
          <a:xfrm>
            <a:off x="9921240" y="3429000"/>
            <a:ext cx="1755648" cy="1325880"/>
          </a:xfrm>
          <a:prstGeom prst="rect">
            <a:avLst/>
          </a:prstGeom>
          <a:noFill/>
          <a:ln/>
        </p:spPr>
        <p:txBody>
          <a:bodyPr wrap="square" lIns="0" tIns="0" rIns="0" bIns="0" rtlCol="0" anchor="t"/>
          <a:lstStyle/>
          <a:p>
            <a:pPr marL="0" indent="0" algn="ctr">
              <a:buNone/>
            </a:pPr>
            <a:r>
              <a:rPr lang="en-US" sz="1600">
                <a:solidFill>
                  <a:schemeClr val="tx1"/>
                </a:solidFill>
              </a:rPr>
              <a:t>Shares it on Instagram, a friend joins</a:t>
            </a:r>
          </a:p>
        </p:txBody>
      </p:sp>
      <p:sp>
        <p:nvSpPr>
          <p:cNvPr id="29" name="Pilot strip"/>
          <p:cNvSpPr/>
          <p:nvPr/>
        </p:nvSpPr>
        <p:spPr>
          <a:xfrm>
            <a:off x="548640" y="4983480"/>
            <a:ext cx="11064240" cy="777240"/>
          </a:xfrm>
          <a:prstGeom prst="roundRect">
            <a:avLst>
              <a:gd name="adj" fmla="val 17647"/>
            </a:avLst>
          </a:prstGeom>
          <a:solidFill>
            <a:srgbClr val="14342B"/>
          </a:solidFill>
          <a:ln/>
        </p:spPr>
        <p:txBody>
          <a:bodyPr/>
          <a:lstStyle/>
          <a:p>
            <a:endParaRPr lang="en-CH"/>
          </a:p>
        </p:txBody>
      </p:sp>
      <p:sp>
        <p:nvSpPr>
          <p:cNvPr id="30" name="Pilot text"/>
          <p:cNvSpPr txBox="1"/>
          <p:nvPr/>
        </p:nvSpPr>
        <p:spPr>
          <a:xfrm>
            <a:off x="868680" y="4983480"/>
            <a:ext cx="10515600" cy="777240"/>
          </a:xfrm>
          <a:prstGeom prst="rect">
            <a:avLst/>
          </a:prstGeom>
          <a:noFill/>
          <a:ln/>
        </p:spPr>
        <p:txBody>
          <a:bodyPr wrap="square" lIns="0" tIns="0" rIns="0" bIns="0" rtlCol="0" anchor="ctr"/>
          <a:lstStyle/>
          <a:p>
            <a:pPr marL="0" indent="0">
              <a:buNone/>
            </a:pPr>
            <a:r>
              <a:rPr lang="en-US" sz="1900" b="1">
                <a:solidFill>
                  <a:schemeClr val="accent1"/>
                </a:solidFill>
              </a:rPr>
              <a:t>Channels: </a:t>
            </a:r>
            <a:r>
              <a:rPr lang="en-CH" sz="1900">
                <a:solidFill>
                  <a:schemeClr val="bg1"/>
                </a:solidFill>
              </a:rPr>
              <a:t>school challenges · QR stickers at collection points · TikTok &amp; Instagram · Rischer Zeitung</a:t>
            </a:r>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a:solidFill>
                  <a:schemeClr val="tx1"/>
                </a:solidFill>
              </a:rPr>
              <a:t>Progress &amp; Next Steps</a:t>
            </a:r>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marL="0" indent="0">
              <a:buNone/>
            </a:pPr>
            <a:r>
              <a:rPr lang="en-US" sz="2200" b="1">
                <a:solidFill>
                  <a:schemeClr val="tx2"/>
                </a:solidFill>
              </a:rPr>
              <a:t>Built in 24 hours. Ready for a pilot in Rotkreuz.</a:t>
            </a:r>
          </a:p>
        </p:txBody>
      </p:sp>
      <p:sp>
        <p:nvSpPr>
          <p:cNvPr id="4" name="Partner card 1"/>
          <p:cNvSpPr/>
          <p:nvPr/>
        </p:nvSpPr>
        <p:spPr>
          <a:xfrm>
            <a:off x="548640" y="1874520"/>
            <a:ext cx="3566160" cy="2743200"/>
          </a:xfrm>
          <a:prstGeom prst="roundRect">
            <a:avLst>
              <a:gd name="adj" fmla="val 5000"/>
            </a:avLst>
          </a:prstGeom>
          <a:solidFill>
            <a:srgbClr val="EEF4EE"/>
          </a:solidFill>
          <a:ln/>
        </p:spPr>
        <p:txBody>
          <a:bodyPr/>
          <a:lstStyle/>
          <a:p>
            <a:endParaRPr lang="en-CH"/>
          </a:p>
        </p:txBody>
      </p:sp>
      <p:sp>
        <p:nvSpPr>
          <p:cNvPr id="5" name="Municipalities circle"/>
          <p:cNvSpPr/>
          <p:nvPr/>
        </p:nvSpPr>
        <p:spPr>
          <a:xfrm>
            <a:off x="822960" y="2103120"/>
            <a:ext cx="777240" cy="777240"/>
          </a:xfrm>
          <a:prstGeom prst="ellipse">
            <a:avLst/>
          </a:prstGeom>
          <a:solidFill>
            <a:srgbClr val="23704F"/>
          </a:solidFill>
          <a:ln/>
        </p:spPr>
        <p:txBody>
          <a:bodyPr/>
          <a:lstStyle/>
          <a:p>
            <a:endParaRPr lang="en-CH"/>
          </a:p>
        </p:txBody>
      </p:sp>
      <p:pic>
        <p:nvPicPr>
          <p:cNvPr id="6" name="Municipalities icon" descr="Municipalities"/>
          <p:cNvPicPr>
            <a:picLocks noChangeAspect="1"/>
          </p:cNvPicPr>
          <p:nvPr/>
        </p:nvPicPr>
        <p:blipFill>
          <a:blip r:embed="rId3"/>
          <a:stretch>
            <a:fillRect/>
          </a:stretch>
        </p:blipFill>
        <p:spPr>
          <a:xfrm>
            <a:off x="1017270" y="2297430"/>
            <a:ext cx="388620" cy="388620"/>
          </a:xfrm>
          <a:prstGeom prst="rect">
            <a:avLst/>
          </a:prstGeom>
        </p:spPr>
      </p:pic>
      <p:sp>
        <p:nvSpPr>
          <p:cNvPr id="7" name="Municipalities header"/>
          <p:cNvSpPr txBox="1"/>
          <p:nvPr/>
        </p:nvSpPr>
        <p:spPr>
          <a:xfrm>
            <a:off x="822960" y="3017520"/>
            <a:ext cx="3017520" cy="457200"/>
          </a:xfrm>
          <a:prstGeom prst="rect">
            <a:avLst/>
          </a:prstGeom>
          <a:noFill/>
          <a:ln/>
        </p:spPr>
        <p:txBody>
          <a:bodyPr wrap="square" lIns="0" tIns="0" rIns="0" bIns="0" rtlCol="0" anchor="ctr"/>
          <a:lstStyle/>
          <a:p>
            <a:pPr marL="0" indent="0">
              <a:buNone/>
            </a:pPr>
            <a:r>
              <a:rPr lang="en-US" sz="2200" b="1">
                <a:solidFill>
                  <a:schemeClr val="tx1"/>
                </a:solidFill>
              </a:rPr>
              <a:t>Today</a:t>
            </a:r>
          </a:p>
        </p:txBody>
      </p:sp>
      <p:sp>
        <p:nvSpPr>
          <p:cNvPr id="8" name="Municipalities text"/>
          <p:cNvSpPr txBox="1"/>
          <p:nvPr/>
        </p:nvSpPr>
        <p:spPr>
          <a:xfrm>
            <a:off x="822960" y="3520440"/>
            <a:ext cx="3017520" cy="1005840"/>
          </a:xfrm>
          <a:prstGeom prst="rect">
            <a:avLst/>
          </a:prstGeom>
          <a:noFill/>
          <a:ln/>
        </p:spPr>
        <p:txBody>
          <a:bodyPr wrap="square" lIns="0" tIns="0" rIns="0" bIns="0" rtlCol="0" anchor="t"/>
          <a:lstStyle/>
          <a:p>
            <a:pPr marL="0" indent="0">
              <a:buNone/>
            </a:pPr>
            <a:r>
              <a:rPr lang="en-US" sz="1600" dirty="0">
                <a:solidFill>
                  <a:schemeClr val="accent5"/>
                </a:solidFill>
              </a:rPr>
              <a:t>Working app: scan → points → leaderboard → reward. Survey: </a:t>
            </a:r>
            <a:r>
              <a:rPr lang="en-US" sz="1600" b="1" dirty="0">
                <a:solidFill>
                  <a:schemeClr val="accent1"/>
                </a:solidFill>
              </a:rPr>
              <a:t>[X] of [Y]</a:t>
            </a:r>
            <a:r>
              <a:rPr lang="en-US" sz="1600" dirty="0">
                <a:solidFill>
                  <a:schemeClr val="accent5"/>
                </a:solidFill>
              </a:rPr>
              <a:t> want rewards.</a:t>
            </a:r>
          </a:p>
        </p:txBody>
      </p:sp>
      <p:sp>
        <p:nvSpPr>
          <p:cNvPr id="9" name="Partner card 2"/>
          <p:cNvSpPr/>
          <p:nvPr/>
        </p:nvSpPr>
        <p:spPr>
          <a:xfrm>
            <a:off x="4297680" y="1874520"/>
            <a:ext cx="3566160" cy="2743200"/>
          </a:xfrm>
          <a:prstGeom prst="roundRect">
            <a:avLst>
              <a:gd name="adj" fmla="val 5000"/>
            </a:avLst>
          </a:prstGeom>
          <a:solidFill>
            <a:srgbClr val="EEF4EE"/>
          </a:solidFill>
          <a:ln/>
        </p:spPr>
        <p:txBody>
          <a:bodyPr/>
          <a:lstStyle/>
          <a:p>
            <a:endParaRPr lang="en-CH"/>
          </a:p>
        </p:txBody>
      </p:sp>
      <p:sp>
        <p:nvSpPr>
          <p:cNvPr id="10" name="Businesses circle"/>
          <p:cNvSpPr/>
          <p:nvPr/>
        </p:nvSpPr>
        <p:spPr>
          <a:xfrm>
            <a:off x="4572000" y="2103120"/>
            <a:ext cx="777240" cy="777240"/>
          </a:xfrm>
          <a:prstGeom prst="ellipse">
            <a:avLst/>
          </a:prstGeom>
          <a:solidFill>
            <a:srgbClr val="23704F"/>
          </a:solidFill>
          <a:ln/>
        </p:spPr>
        <p:txBody>
          <a:bodyPr/>
          <a:lstStyle/>
          <a:p>
            <a:endParaRPr lang="en-CH"/>
          </a:p>
        </p:txBody>
      </p:sp>
      <p:pic>
        <p:nvPicPr>
          <p:cNvPr id="11" name="Businesses icon" descr="Businesses"/>
          <p:cNvPicPr>
            <a:picLocks noChangeAspect="1"/>
          </p:cNvPicPr>
          <p:nvPr/>
        </p:nvPicPr>
        <p:blipFill>
          <a:blip r:embed="rId4"/>
          <a:stretch>
            <a:fillRect/>
          </a:stretch>
        </p:blipFill>
        <p:spPr>
          <a:xfrm>
            <a:off x="4766310" y="2297430"/>
            <a:ext cx="388620" cy="388620"/>
          </a:xfrm>
          <a:prstGeom prst="rect">
            <a:avLst/>
          </a:prstGeom>
        </p:spPr>
      </p:pic>
      <p:sp>
        <p:nvSpPr>
          <p:cNvPr id="12" name="Businesses header"/>
          <p:cNvSpPr txBox="1"/>
          <p:nvPr/>
        </p:nvSpPr>
        <p:spPr>
          <a:xfrm>
            <a:off x="4572000" y="3017520"/>
            <a:ext cx="3017520" cy="457200"/>
          </a:xfrm>
          <a:prstGeom prst="rect">
            <a:avLst/>
          </a:prstGeom>
          <a:noFill/>
          <a:ln/>
        </p:spPr>
        <p:txBody>
          <a:bodyPr wrap="square" lIns="0" tIns="0" rIns="0" bIns="0" rtlCol="0" anchor="ctr"/>
          <a:lstStyle/>
          <a:p>
            <a:pPr marL="0" indent="0">
              <a:buNone/>
            </a:pPr>
            <a:r>
              <a:rPr lang="en-US" sz="2200" b="1">
                <a:solidFill>
                  <a:schemeClr val="tx1"/>
                </a:solidFill>
              </a:rPr>
              <a:t>Next 3 months</a:t>
            </a:r>
          </a:p>
        </p:txBody>
      </p:sp>
      <p:sp>
        <p:nvSpPr>
          <p:cNvPr id="13" name="Businesses text"/>
          <p:cNvSpPr txBox="1"/>
          <p:nvPr/>
        </p:nvSpPr>
        <p:spPr>
          <a:xfrm>
            <a:off x="4572000" y="3520440"/>
            <a:ext cx="3017520" cy="1005840"/>
          </a:xfrm>
          <a:prstGeom prst="rect">
            <a:avLst/>
          </a:prstGeom>
          <a:noFill/>
          <a:ln/>
        </p:spPr>
        <p:txBody>
          <a:bodyPr wrap="square" lIns="0" tIns="0" rIns="0" bIns="0" rtlCol="0" anchor="t"/>
          <a:lstStyle/>
          <a:p>
            <a:pPr marL="0" indent="0">
              <a:buNone/>
            </a:pPr>
            <a:r>
              <a:rPr lang="en-US" sz="1600">
                <a:solidFill>
                  <a:schemeClr val="accent5"/>
                </a:solidFill>
              </a:rPr>
              <a:t>Pitch to Gemeinde Risch. QR stickers at 10 collection points. 100 pilot users.</a:t>
            </a:r>
          </a:p>
        </p:txBody>
      </p:sp>
      <p:sp>
        <p:nvSpPr>
          <p:cNvPr id="14" name="Partner card 3"/>
          <p:cNvSpPr/>
          <p:nvPr/>
        </p:nvSpPr>
        <p:spPr>
          <a:xfrm>
            <a:off x="8046720" y="1874520"/>
            <a:ext cx="3566160" cy="2743200"/>
          </a:xfrm>
          <a:prstGeom prst="roundRect">
            <a:avLst>
              <a:gd name="adj" fmla="val 5000"/>
            </a:avLst>
          </a:prstGeom>
          <a:solidFill>
            <a:srgbClr val="EEF4EE"/>
          </a:solidFill>
          <a:ln/>
        </p:spPr>
        <p:txBody>
          <a:bodyPr/>
          <a:lstStyle/>
          <a:p>
            <a:endParaRPr lang="en-CH"/>
          </a:p>
        </p:txBody>
      </p:sp>
      <p:sp>
        <p:nvSpPr>
          <p:cNvPr id="15" name="Nonprofits circle"/>
          <p:cNvSpPr/>
          <p:nvPr/>
        </p:nvSpPr>
        <p:spPr>
          <a:xfrm>
            <a:off x="8321040" y="2103120"/>
            <a:ext cx="777240" cy="777240"/>
          </a:xfrm>
          <a:prstGeom prst="ellipse">
            <a:avLst/>
          </a:prstGeom>
          <a:solidFill>
            <a:srgbClr val="23704F"/>
          </a:solidFill>
          <a:ln/>
        </p:spPr>
        <p:txBody>
          <a:bodyPr/>
          <a:lstStyle/>
          <a:p>
            <a:endParaRPr lang="en-CH"/>
          </a:p>
        </p:txBody>
      </p:sp>
      <p:pic>
        <p:nvPicPr>
          <p:cNvPr id="16" name="Nonprofits icon" descr="Nonprofits"/>
          <p:cNvPicPr>
            <a:picLocks noChangeAspect="1"/>
          </p:cNvPicPr>
          <p:nvPr/>
        </p:nvPicPr>
        <p:blipFill>
          <a:blip r:embed="rId5"/>
          <a:stretch>
            <a:fillRect/>
          </a:stretch>
        </p:blipFill>
        <p:spPr>
          <a:xfrm>
            <a:off x="8515350" y="2297430"/>
            <a:ext cx="388620" cy="388620"/>
          </a:xfrm>
          <a:prstGeom prst="rect">
            <a:avLst/>
          </a:prstGeom>
        </p:spPr>
      </p:pic>
      <p:sp>
        <p:nvSpPr>
          <p:cNvPr id="17" name="Nonprofits header"/>
          <p:cNvSpPr txBox="1"/>
          <p:nvPr/>
        </p:nvSpPr>
        <p:spPr>
          <a:xfrm>
            <a:off x="8321040" y="3017520"/>
            <a:ext cx="3017520" cy="457200"/>
          </a:xfrm>
          <a:prstGeom prst="rect">
            <a:avLst/>
          </a:prstGeom>
          <a:noFill/>
          <a:ln/>
        </p:spPr>
        <p:txBody>
          <a:bodyPr wrap="square" lIns="0" tIns="0" rIns="0" bIns="0" rtlCol="0" anchor="ctr"/>
          <a:lstStyle/>
          <a:p>
            <a:pPr marL="0" indent="0">
              <a:buNone/>
            </a:pPr>
            <a:r>
              <a:rPr lang="en-US" sz="2200" b="1">
                <a:solidFill>
                  <a:schemeClr val="tx1"/>
                </a:solidFill>
              </a:rPr>
              <a:t>Next 6 months</a:t>
            </a:r>
          </a:p>
        </p:txBody>
      </p:sp>
      <p:sp>
        <p:nvSpPr>
          <p:cNvPr id="18" name="Nonprofits text"/>
          <p:cNvSpPr txBox="1"/>
          <p:nvPr/>
        </p:nvSpPr>
        <p:spPr>
          <a:xfrm>
            <a:off x="8321040" y="3520440"/>
            <a:ext cx="3017520" cy="1005840"/>
          </a:xfrm>
          <a:prstGeom prst="rect">
            <a:avLst/>
          </a:prstGeom>
          <a:noFill/>
          <a:ln/>
        </p:spPr>
        <p:txBody>
          <a:bodyPr wrap="square" lIns="0" tIns="0" rIns="0" bIns="0" rtlCol="0" anchor="t"/>
          <a:lstStyle/>
          <a:p>
            <a:pPr marL="0" indent="0">
              <a:buNone/>
            </a:pPr>
            <a:r>
              <a:rPr lang="en-US" sz="1600">
                <a:solidFill>
                  <a:schemeClr val="accent5"/>
                </a:solidFill>
              </a:rPr>
              <a:t>5 local sponsors. Measure who comes back. Second town.</a:t>
            </a:r>
          </a:p>
        </p:txBody>
      </p:sp>
      <p:sp>
        <p:nvSpPr>
          <p:cNvPr id="19" name="Next step strip"/>
          <p:cNvSpPr/>
          <p:nvPr/>
        </p:nvSpPr>
        <p:spPr>
          <a:xfrm>
            <a:off x="548640" y="4892040"/>
            <a:ext cx="11064240" cy="868680"/>
          </a:xfrm>
          <a:prstGeom prst="roundRect">
            <a:avLst>
              <a:gd name="adj" fmla="val 15789"/>
            </a:avLst>
          </a:prstGeom>
          <a:solidFill>
            <a:srgbClr val="14342B"/>
          </a:solidFill>
          <a:ln/>
        </p:spPr>
        <p:txBody>
          <a:bodyPr/>
          <a:lstStyle/>
          <a:p>
            <a:endParaRPr lang="en-CH"/>
          </a:p>
        </p:txBody>
      </p:sp>
      <p:sp>
        <p:nvSpPr>
          <p:cNvPr id="20" name="Next step text"/>
          <p:cNvSpPr txBox="1"/>
          <p:nvPr/>
        </p:nvSpPr>
        <p:spPr>
          <a:xfrm>
            <a:off x="868680" y="4892040"/>
            <a:ext cx="10515600" cy="868680"/>
          </a:xfrm>
          <a:prstGeom prst="rect">
            <a:avLst/>
          </a:prstGeom>
          <a:noFill/>
          <a:ln/>
        </p:spPr>
        <p:txBody>
          <a:bodyPr wrap="square" lIns="0" tIns="0" rIns="0" bIns="0" rtlCol="0" anchor="ctr"/>
          <a:lstStyle/>
          <a:p>
            <a:pPr marL="0" indent="0">
              <a:buNone/>
            </a:pPr>
            <a:r>
              <a:rPr lang="en-US" sz="2000" b="1" dirty="0">
                <a:solidFill>
                  <a:schemeClr val="accent1"/>
                </a:solidFill>
              </a:rPr>
              <a:t>We need: </a:t>
            </a:r>
            <a:r>
              <a:rPr lang="en-US" sz="2000" dirty="0">
                <a:solidFill>
                  <a:schemeClr val="bg1"/>
                </a:solidFill>
              </a:rPr>
              <a:t>a pilot town, local reward sponsors, and your feedback to improve on!</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167180-6BA3-C78B-5C86-84EAC99AB63E}"/>
              </a:ext>
            </a:extLst>
          </p:cNvPr>
          <p:cNvSpPr txBox="1"/>
          <p:nvPr/>
        </p:nvSpPr>
        <p:spPr>
          <a:xfrm>
            <a:off x="731520" y="1463040"/>
            <a:ext cx="10698480" cy="4862870"/>
          </a:xfrm>
          <a:prstGeom prst="rect">
            <a:avLst/>
          </a:prstGeom>
          <a:noFill/>
        </p:spPr>
        <p:txBody>
          <a:bodyPr wrap="square" rtlCol="0">
            <a:spAutoFit/>
          </a:bodyPr>
          <a:lstStyle/>
          <a:p>
            <a:pPr>
              <a:spcAft>
                <a:spcPts val="1000"/>
              </a:spcAft>
            </a:pPr>
            <a:r>
              <a:rPr lang="en-CH" sz="1600" b="1">
                <a:solidFill>
                  <a:schemeClr val="accent1"/>
                </a:solidFill>
              </a:rPr>
              <a:t>OUR TEAM</a:t>
            </a:r>
          </a:p>
          <a:p>
            <a:pPr>
              <a:spcAft>
                <a:spcPts val="1000"/>
              </a:spcAft>
            </a:pPr>
            <a:endParaRPr lang="en-CH" sz="1600" b="1">
              <a:solidFill>
                <a:schemeClr val="accent1"/>
              </a:solidFill>
            </a:endParaRPr>
          </a:p>
          <a:p>
            <a:pPr>
              <a:spcAft>
                <a:spcPts val="1000"/>
              </a:spcAft>
            </a:pPr>
            <a:r>
              <a:rPr lang="en-CH" sz="2800" b="1">
                <a:solidFill>
                  <a:schemeClr val="bg1"/>
                </a:solidFill>
              </a:rPr>
              <a:t>Thorben Che Koch</a:t>
            </a:r>
            <a:r>
              <a:rPr lang="en-CH" sz="2400">
                <a:solidFill>
                  <a:schemeClr val="bg1"/>
                </a:solidFill>
              </a:rPr>
              <a:t>  App developer &amp; team lead</a:t>
            </a:r>
          </a:p>
          <a:p>
            <a:pPr>
              <a:spcAft>
                <a:spcPts val="1000"/>
              </a:spcAft>
            </a:pPr>
            <a:r>
              <a:rPr lang="en-CH" sz="2800" b="1">
                <a:solidFill>
                  <a:schemeClr val="bg1"/>
                </a:solidFill>
              </a:rPr>
              <a:t>Pipatsakorn Namthirash</a:t>
            </a:r>
            <a:r>
              <a:rPr lang="en-CH" sz="2400">
                <a:solidFill>
                  <a:schemeClr val="bg1"/>
                </a:solidFill>
              </a:rPr>
              <a:t>  App design &amp; slides</a:t>
            </a:r>
          </a:p>
          <a:p>
            <a:pPr>
              <a:spcAft>
                <a:spcPts val="1000"/>
              </a:spcAft>
            </a:pPr>
            <a:r>
              <a:rPr lang="en-CH" sz="2800" b="1">
                <a:solidFill>
                  <a:schemeClr val="bg1"/>
                </a:solidFill>
              </a:rPr>
              <a:t>Gabriel da Fonseac</a:t>
            </a:r>
            <a:r>
              <a:rPr lang="en-CH" sz="2400">
                <a:solidFill>
                  <a:schemeClr val="bg1"/>
                </a:solidFill>
              </a:rPr>
              <a:t>  Research &amp; all-round help</a:t>
            </a:r>
          </a:p>
          <a:p>
            <a:pPr>
              <a:spcAft>
                <a:spcPts val="1000"/>
              </a:spcAft>
            </a:pPr>
            <a:endParaRPr lang="en-CH" sz="2400">
              <a:solidFill>
                <a:schemeClr val="bg1"/>
              </a:solidFill>
            </a:endParaRPr>
          </a:p>
          <a:p>
            <a:pPr>
              <a:spcAft>
                <a:spcPts val="1000"/>
              </a:spcAft>
            </a:pPr>
            <a:r>
              <a:rPr lang="en-CH" sz="1800" b="1">
                <a:solidFill>
                  <a:schemeClr val="accent1"/>
                </a:solidFill>
              </a:rPr>
              <a:t>Use of AI: </a:t>
            </a:r>
            <a:r>
              <a:rPr lang="en-CH" sz="1800">
                <a:solidFill>
                  <a:schemeClr val="bg1"/>
                </a:solidFill>
              </a:rPr>
              <a:t>helped turn our paper idea into a working mobile web app, and helped with the slides.</a:t>
            </a:r>
          </a:p>
        </p:txBody>
      </p:sp>
    </p:spTree>
    <p:extLst>
      <p:ext uri="{BB962C8B-B14F-4D97-AF65-F5344CB8AC3E}">
        <p14:creationId xmlns:p14="http://schemas.microsoft.com/office/powerpoint/2010/main" val="3621072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731520" y="1600200"/>
            <a:ext cx="7132320" cy="365760"/>
          </a:xfrm>
          <a:prstGeom prst="rect">
            <a:avLst/>
          </a:prstGeom>
          <a:noFill/>
          <a:ln/>
        </p:spPr>
        <p:txBody>
          <a:bodyPr wrap="square" lIns="0" tIns="0" rIns="0" bIns="0" rtlCol="0" anchor="ctr"/>
          <a:lstStyle/>
          <a:p>
            <a:pPr marL="0" indent="0">
              <a:buNone/>
            </a:pPr>
            <a:r>
              <a:rPr lang="en-US" sz="1600" b="1" kern="0" spc="400" dirty="0">
                <a:solidFill>
                  <a:schemeClr val="accent1"/>
                </a:solidFill>
              </a:rPr>
              <a:t>OUR VISION</a:t>
            </a:r>
            <a:endParaRPr lang="en-US" sz="1600" dirty="0"/>
          </a:p>
        </p:txBody>
      </p:sp>
      <p:sp>
        <p:nvSpPr>
          <p:cNvPr id="3" name="Vision"/>
          <p:cNvSpPr txBox="1"/>
          <p:nvPr/>
        </p:nvSpPr>
        <p:spPr>
          <a:xfrm>
            <a:off x="731520" y="2057400"/>
            <a:ext cx="7132320" cy="1325880"/>
          </a:xfrm>
          <a:prstGeom prst="rect">
            <a:avLst/>
          </a:prstGeom>
          <a:noFill/>
          <a:ln/>
        </p:spPr>
        <p:txBody>
          <a:bodyPr wrap="square" lIns="0" tIns="0" rIns="0" bIns="0" rtlCol="0" anchor="t"/>
          <a:lstStyle/>
          <a:p>
            <a:pPr marL="0" indent="0">
              <a:buNone/>
            </a:pPr>
            <a:r>
              <a:rPr lang="en-US" sz="3600" b="1" dirty="0">
                <a:solidFill>
                  <a:schemeClr val="bg1"/>
                </a:solidFill>
              </a:rPr>
              <a:t>Make sustainability rewarding. Make recycling a habit.</a:t>
            </a:r>
            <a:endParaRPr lang="en-US" sz="3600" dirty="0"/>
          </a:p>
        </p:txBody>
      </p:sp>
      <p:sp>
        <p:nvSpPr>
          <p:cNvPr id="4" name="Motto"/>
          <p:cNvSpPr txBox="1"/>
          <p:nvPr/>
        </p:nvSpPr>
        <p:spPr>
          <a:xfrm>
            <a:off x="731520" y="3611880"/>
            <a:ext cx="7132320" cy="822960"/>
          </a:xfrm>
          <a:prstGeom prst="rect">
            <a:avLst/>
          </a:prstGeom>
          <a:noFill/>
          <a:ln/>
        </p:spPr>
        <p:txBody>
          <a:bodyPr wrap="square" lIns="0" tIns="0" rIns="0" bIns="0" rtlCol="0" anchor="t"/>
          <a:lstStyle/>
          <a:p>
            <a:pPr marL="0" indent="0">
              <a:buNone/>
            </a:pPr>
            <a:r>
              <a:rPr lang="en-US" sz="2400" b="1" dirty="0">
                <a:solidFill>
                  <a:schemeClr val="accent1"/>
                </a:solidFill>
              </a:rPr>
              <a:t>One action. One reward. A better community. A better future!</a:t>
            </a:r>
            <a:endParaRPr lang="en-US" sz="2400" dirty="0"/>
          </a:p>
        </p:txBody>
      </p:sp>
      <p:sp>
        <p:nvSpPr>
          <p:cNvPr id="5" name="Thanks"/>
          <p:cNvSpPr txBox="1"/>
          <p:nvPr/>
        </p:nvSpPr>
        <p:spPr>
          <a:xfrm>
            <a:off x="731520" y="4803188"/>
            <a:ext cx="7132320" cy="457200"/>
          </a:xfrm>
          <a:prstGeom prst="rect">
            <a:avLst/>
          </a:prstGeom>
          <a:noFill/>
          <a:ln/>
        </p:spPr>
        <p:txBody>
          <a:bodyPr wrap="square" lIns="0" tIns="0" rIns="0" bIns="0" rtlCol="0" anchor="ctr"/>
          <a:lstStyle/>
          <a:p>
            <a:pPr marL="0" indent="0">
              <a:buNone/>
            </a:pPr>
            <a:r>
              <a:rPr lang="en-US" sz="2200" dirty="0">
                <a:solidFill>
                  <a:schemeClr val="accent4"/>
                </a:solidFill>
              </a:rPr>
              <a:t>Help us start in </a:t>
            </a:r>
            <a:r>
              <a:rPr lang="en-US" sz="2200" dirty="0" err="1">
                <a:solidFill>
                  <a:schemeClr val="accent4"/>
                </a:solidFill>
              </a:rPr>
              <a:t>Rotkreuz</a:t>
            </a:r>
            <a:r>
              <a:rPr lang="en-US" sz="2200" dirty="0">
                <a:solidFill>
                  <a:schemeClr val="accent4"/>
                </a:solidFill>
              </a:rPr>
              <a:t>. One step at a time!</a:t>
            </a:r>
          </a:p>
          <a:p>
            <a:pPr marL="0" indent="0">
              <a:buNone/>
            </a:pPr>
            <a:r>
              <a:rPr lang="en-US" sz="2200" dirty="0">
                <a:solidFill>
                  <a:schemeClr val="accent4"/>
                </a:solidFill>
              </a:rPr>
              <a:t> Thank you!</a:t>
            </a:r>
          </a:p>
        </p:txBody>
      </p:sp>
      <p:sp>
        <p:nvSpPr>
          <p:cNvPr id="6" name="Badge circle"/>
          <p:cNvSpPr/>
          <p:nvPr/>
        </p:nvSpPr>
        <p:spPr>
          <a:xfrm>
            <a:off x="8138160" y="1691640"/>
            <a:ext cx="3291840" cy="3291840"/>
          </a:xfrm>
          <a:prstGeom prst="ellipse">
            <a:avLst/>
          </a:prstGeom>
          <a:solidFill>
            <a:schemeClr val="accent1"/>
          </a:solidFill>
          <a:ln/>
        </p:spPr>
        <p:txBody>
          <a:bodyPr/>
          <a:lstStyle/>
          <a:p>
            <a:endParaRPr lang="en-CH"/>
          </a:p>
        </p:txBody>
      </p:sp>
      <p:pic>
        <p:nvPicPr>
          <p:cNvPr id="7" name="Leaf icon" descr="Leaf"/>
          <p:cNvPicPr>
            <a:picLocks noChangeAspect="1"/>
          </p:cNvPicPr>
          <p:nvPr/>
        </p:nvPicPr>
        <p:blipFill>
          <a:blip r:embed="rId3"/>
          <a:stretch>
            <a:fillRect/>
          </a:stretch>
        </p:blipFill>
        <p:spPr>
          <a:xfrm>
            <a:off x="8869680" y="2423160"/>
            <a:ext cx="1828800" cy="18288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600" b="1">
                <a:solidFill>
                  <a:schemeClr val="tx1"/>
                </a:solidFill>
              </a:rPr>
              <a:t>Backup: Risks &amp; Our Answers</a:t>
            </a:r>
          </a:p>
        </p:txBody>
      </p:sp>
      <p:sp>
        <p:nvSpPr>
          <p:cNvPr id="3" name="Risk row 1"/>
          <p:cNvSpPr/>
          <p:nvPr/>
        </p:nvSpPr>
        <p:spPr>
          <a:xfrm>
            <a:off x="548640" y="1325880"/>
            <a:ext cx="11064240" cy="777240"/>
          </a:xfrm>
          <a:prstGeom prst="roundRect">
            <a:avLst>
              <a:gd name="adj" fmla="val 17647"/>
            </a:avLst>
          </a:prstGeom>
          <a:solidFill>
            <a:srgbClr val="EEF4EE"/>
          </a:solidFill>
          <a:ln/>
        </p:spPr>
        <p:txBody>
          <a:bodyPr/>
          <a:lstStyle/>
          <a:p>
            <a:endParaRPr lang="en-CH"/>
          </a:p>
        </p:txBody>
      </p:sp>
      <p:sp>
        <p:nvSpPr>
          <p:cNvPr id="4" name="Risk 1 circle"/>
          <p:cNvSpPr/>
          <p:nvPr/>
        </p:nvSpPr>
        <p:spPr>
          <a:xfrm>
            <a:off x="731520" y="1417320"/>
            <a:ext cx="594360" cy="594360"/>
          </a:xfrm>
          <a:prstGeom prst="ellipse">
            <a:avLst/>
          </a:prstGeom>
          <a:solidFill>
            <a:srgbClr val="F2A33A"/>
          </a:solidFill>
          <a:ln/>
        </p:spPr>
        <p:txBody>
          <a:bodyPr/>
          <a:lstStyle/>
          <a:p>
            <a:endParaRPr lang="en-CH"/>
          </a:p>
        </p:txBody>
      </p:sp>
      <p:pic>
        <p:nvPicPr>
          <p:cNvPr id="5" name="Risk 1 icon" descr="Risk 1"/>
          <p:cNvPicPr>
            <a:picLocks noChangeAspect="1"/>
          </p:cNvPicPr>
          <p:nvPr/>
        </p:nvPicPr>
        <p:blipFill>
          <a:blip r:embed="rId3"/>
          <a:stretch>
            <a:fillRect/>
          </a:stretch>
        </p:blipFill>
        <p:spPr>
          <a:xfrm>
            <a:off x="880110" y="1565910"/>
            <a:ext cx="297180" cy="297180"/>
          </a:xfrm>
          <a:prstGeom prst="rect">
            <a:avLst/>
          </a:prstGeom>
        </p:spPr>
      </p:pic>
      <p:sp>
        <p:nvSpPr>
          <p:cNvPr id="6" name="Risk 1"/>
          <p:cNvSpPr txBox="1"/>
          <p:nvPr/>
        </p:nvSpPr>
        <p:spPr>
          <a:xfrm>
            <a:off x="1554480" y="13258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Funding depends on partners</a:t>
            </a:r>
            <a:endParaRPr lang="en-US" sz="1700" dirty="0"/>
          </a:p>
        </p:txBody>
      </p:sp>
      <p:sp>
        <p:nvSpPr>
          <p:cNvPr id="7" name="Answer 1"/>
          <p:cNvSpPr txBox="1"/>
          <p:nvPr/>
        </p:nvSpPr>
        <p:spPr>
          <a:xfrm>
            <a:off x="5029200" y="1325880"/>
            <a:ext cx="6400800" cy="777240"/>
          </a:xfrm>
          <a:prstGeom prst="rect">
            <a:avLst/>
          </a:prstGeom>
          <a:noFill/>
          <a:ln/>
        </p:spPr>
        <p:txBody>
          <a:bodyPr wrap="square" lIns="0" tIns="0" rIns="0" bIns="0" rtlCol="0" anchor="ctr"/>
          <a:lstStyle/>
          <a:p>
            <a:pPr marL="0" indent="0">
              <a:buNone/>
            </a:pPr>
            <a:r>
              <a:rPr lang="en-US" sz="1600">
                <a:solidFill>
                  <a:schemeClr val="accent5"/>
                </a:solidFill>
              </a:rPr>
              <a:t>Three income sources; from year 2, six partner towns cover running costs</a:t>
            </a:r>
          </a:p>
        </p:txBody>
      </p:sp>
      <p:sp>
        <p:nvSpPr>
          <p:cNvPr id="8" name="Risk row 2"/>
          <p:cNvSpPr/>
          <p:nvPr/>
        </p:nvSpPr>
        <p:spPr>
          <a:xfrm>
            <a:off x="548640" y="2240280"/>
            <a:ext cx="11064240" cy="777240"/>
          </a:xfrm>
          <a:prstGeom prst="roundRect">
            <a:avLst>
              <a:gd name="adj" fmla="val 17647"/>
            </a:avLst>
          </a:prstGeom>
          <a:solidFill>
            <a:srgbClr val="FFFFFF"/>
          </a:solidFill>
          <a:ln/>
        </p:spPr>
        <p:txBody>
          <a:bodyPr/>
          <a:lstStyle/>
          <a:p>
            <a:endParaRPr lang="en-CH"/>
          </a:p>
        </p:txBody>
      </p:sp>
      <p:sp>
        <p:nvSpPr>
          <p:cNvPr id="9" name="Risk 2 circle"/>
          <p:cNvSpPr/>
          <p:nvPr/>
        </p:nvSpPr>
        <p:spPr>
          <a:xfrm>
            <a:off x="731520" y="2331720"/>
            <a:ext cx="594360" cy="594360"/>
          </a:xfrm>
          <a:prstGeom prst="ellipse">
            <a:avLst/>
          </a:prstGeom>
          <a:solidFill>
            <a:srgbClr val="F2A33A"/>
          </a:solidFill>
          <a:ln/>
        </p:spPr>
        <p:txBody>
          <a:bodyPr/>
          <a:lstStyle/>
          <a:p>
            <a:endParaRPr lang="en-CH"/>
          </a:p>
        </p:txBody>
      </p:sp>
      <p:pic>
        <p:nvPicPr>
          <p:cNvPr id="10" name="Risk 2 icon" descr="Risk 2"/>
          <p:cNvPicPr>
            <a:picLocks noChangeAspect="1"/>
          </p:cNvPicPr>
          <p:nvPr/>
        </p:nvPicPr>
        <p:blipFill>
          <a:blip r:embed="rId4"/>
          <a:stretch>
            <a:fillRect/>
          </a:stretch>
        </p:blipFill>
        <p:spPr>
          <a:xfrm>
            <a:off x="880110" y="2480310"/>
            <a:ext cx="297180" cy="297180"/>
          </a:xfrm>
          <a:prstGeom prst="rect">
            <a:avLst/>
          </a:prstGeom>
        </p:spPr>
      </p:pic>
      <p:sp>
        <p:nvSpPr>
          <p:cNvPr id="11" name="Risk 2"/>
          <p:cNvSpPr txBox="1"/>
          <p:nvPr/>
        </p:nvSpPr>
        <p:spPr>
          <a:xfrm>
            <a:off x="1554480" y="22402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People cheat for points</a:t>
            </a:r>
            <a:endParaRPr lang="en-US" sz="1700" dirty="0"/>
          </a:p>
        </p:txBody>
      </p:sp>
      <p:sp>
        <p:nvSpPr>
          <p:cNvPr id="12" name="Answer 2"/>
          <p:cNvSpPr txBox="1"/>
          <p:nvPr/>
        </p:nvSpPr>
        <p:spPr>
          <a:xfrm>
            <a:off x="5029200" y="2240280"/>
            <a:ext cx="6400800" cy="777240"/>
          </a:xfrm>
          <a:prstGeom prst="rect">
            <a:avLst/>
          </a:prstGeom>
          <a:noFill/>
          <a:ln/>
        </p:spPr>
        <p:txBody>
          <a:bodyPr wrap="square" lIns="0" tIns="0" rIns="0" bIns="0" rtlCol="0" anchor="ctr"/>
          <a:lstStyle/>
          <a:p>
            <a:pPr marL="0" indent="0">
              <a:buNone/>
            </a:pPr>
            <a:r>
              <a:rPr lang="en-US" sz="1600" dirty="0">
                <a:solidFill>
                  <a:schemeClr val="accent5"/>
                </a:solidFill>
              </a:rPr>
              <a:t>QR check-in at real collection points, daily point caps, manual review first until enough data to build fraud detection model!</a:t>
            </a:r>
          </a:p>
        </p:txBody>
      </p:sp>
      <p:sp>
        <p:nvSpPr>
          <p:cNvPr id="13" name="Risk row 3"/>
          <p:cNvSpPr/>
          <p:nvPr/>
        </p:nvSpPr>
        <p:spPr>
          <a:xfrm>
            <a:off x="548640" y="3154680"/>
            <a:ext cx="11064240" cy="777240"/>
          </a:xfrm>
          <a:prstGeom prst="roundRect">
            <a:avLst>
              <a:gd name="adj" fmla="val 17647"/>
            </a:avLst>
          </a:prstGeom>
          <a:solidFill>
            <a:srgbClr val="EEF4EE"/>
          </a:solidFill>
          <a:ln/>
        </p:spPr>
        <p:txBody>
          <a:bodyPr/>
          <a:lstStyle/>
          <a:p>
            <a:endParaRPr lang="en-CH"/>
          </a:p>
        </p:txBody>
      </p:sp>
      <p:sp>
        <p:nvSpPr>
          <p:cNvPr id="14" name="Risk 3 circle"/>
          <p:cNvSpPr/>
          <p:nvPr/>
        </p:nvSpPr>
        <p:spPr>
          <a:xfrm>
            <a:off x="731520" y="3246120"/>
            <a:ext cx="594360" cy="594360"/>
          </a:xfrm>
          <a:prstGeom prst="ellipse">
            <a:avLst/>
          </a:prstGeom>
          <a:solidFill>
            <a:srgbClr val="F2A33A"/>
          </a:solidFill>
          <a:ln/>
        </p:spPr>
        <p:txBody>
          <a:bodyPr/>
          <a:lstStyle/>
          <a:p>
            <a:endParaRPr lang="en-CH"/>
          </a:p>
        </p:txBody>
      </p:sp>
      <p:pic>
        <p:nvPicPr>
          <p:cNvPr id="15" name="Risk 3 icon" descr="Risk 3"/>
          <p:cNvPicPr>
            <a:picLocks noChangeAspect="1"/>
          </p:cNvPicPr>
          <p:nvPr/>
        </p:nvPicPr>
        <p:blipFill>
          <a:blip r:embed="rId5"/>
          <a:stretch>
            <a:fillRect/>
          </a:stretch>
        </p:blipFill>
        <p:spPr>
          <a:xfrm>
            <a:off x="880110" y="3394710"/>
            <a:ext cx="297180" cy="297180"/>
          </a:xfrm>
          <a:prstGeom prst="rect">
            <a:avLst/>
          </a:prstGeom>
        </p:spPr>
      </p:pic>
      <p:sp>
        <p:nvSpPr>
          <p:cNvPr id="16" name="Risk 3"/>
          <p:cNvSpPr txBox="1"/>
          <p:nvPr/>
        </p:nvSpPr>
        <p:spPr>
          <a:xfrm>
            <a:off x="1554480" y="31546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Rewards get expensive</a:t>
            </a:r>
            <a:endParaRPr lang="en-US" sz="1700" dirty="0"/>
          </a:p>
        </p:txBody>
      </p:sp>
      <p:sp>
        <p:nvSpPr>
          <p:cNvPr id="17" name="Answer 3"/>
          <p:cNvSpPr txBox="1"/>
          <p:nvPr/>
        </p:nvSpPr>
        <p:spPr>
          <a:xfrm>
            <a:off x="5029200" y="3154680"/>
            <a:ext cx="6400800" cy="777240"/>
          </a:xfrm>
          <a:prstGeom prst="rect">
            <a:avLst/>
          </a:prstGeom>
          <a:noFill/>
          <a:ln/>
        </p:spPr>
        <p:txBody>
          <a:bodyPr wrap="square" lIns="0" tIns="0" rIns="0" bIns="0" rtlCol="0" anchor="ctr"/>
          <a:lstStyle/>
          <a:p>
            <a:pPr marL="0" indent="0">
              <a:buNone/>
            </a:pPr>
            <a:r>
              <a:rPr lang="en-US" sz="1600" dirty="0">
                <a:solidFill>
                  <a:schemeClr val="accent5"/>
                </a:solidFill>
              </a:rPr>
              <a:t>Rewards are sponsored by local businesses in exchange for visibility and a chance to sell things at our events</a:t>
            </a:r>
            <a:endParaRPr lang="en-US" sz="1600" dirty="0"/>
          </a:p>
        </p:txBody>
      </p:sp>
      <p:sp>
        <p:nvSpPr>
          <p:cNvPr id="18" name="Risk row 4"/>
          <p:cNvSpPr/>
          <p:nvPr/>
        </p:nvSpPr>
        <p:spPr>
          <a:xfrm>
            <a:off x="548640" y="4069080"/>
            <a:ext cx="11064240" cy="777240"/>
          </a:xfrm>
          <a:prstGeom prst="roundRect">
            <a:avLst>
              <a:gd name="adj" fmla="val 17647"/>
            </a:avLst>
          </a:prstGeom>
          <a:solidFill>
            <a:srgbClr val="FFFFFF"/>
          </a:solidFill>
          <a:ln/>
        </p:spPr>
        <p:txBody>
          <a:bodyPr/>
          <a:lstStyle/>
          <a:p>
            <a:endParaRPr lang="en-CH"/>
          </a:p>
        </p:txBody>
      </p:sp>
      <p:sp>
        <p:nvSpPr>
          <p:cNvPr id="19" name="Risk 4 circle"/>
          <p:cNvSpPr/>
          <p:nvPr/>
        </p:nvSpPr>
        <p:spPr>
          <a:xfrm>
            <a:off x="731520" y="4160520"/>
            <a:ext cx="594360" cy="594360"/>
          </a:xfrm>
          <a:prstGeom prst="ellipse">
            <a:avLst/>
          </a:prstGeom>
          <a:solidFill>
            <a:srgbClr val="F2A33A"/>
          </a:solidFill>
          <a:ln/>
        </p:spPr>
        <p:txBody>
          <a:bodyPr/>
          <a:lstStyle/>
          <a:p>
            <a:endParaRPr lang="en-CH"/>
          </a:p>
        </p:txBody>
      </p:sp>
      <p:pic>
        <p:nvPicPr>
          <p:cNvPr id="20" name="Risk 4 icon" descr="Risk 4"/>
          <p:cNvPicPr>
            <a:picLocks noChangeAspect="1"/>
          </p:cNvPicPr>
          <p:nvPr/>
        </p:nvPicPr>
        <p:blipFill>
          <a:blip r:embed="rId6"/>
          <a:stretch>
            <a:fillRect/>
          </a:stretch>
        </p:blipFill>
        <p:spPr>
          <a:xfrm>
            <a:off x="880110" y="4309110"/>
            <a:ext cx="297180" cy="297180"/>
          </a:xfrm>
          <a:prstGeom prst="rect">
            <a:avLst/>
          </a:prstGeom>
        </p:spPr>
      </p:pic>
      <p:sp>
        <p:nvSpPr>
          <p:cNvPr id="21" name="Risk 4"/>
          <p:cNvSpPr txBox="1"/>
          <p:nvPr/>
        </p:nvSpPr>
        <p:spPr>
          <a:xfrm>
            <a:off x="1554480" y="40690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The novelty wears off</a:t>
            </a:r>
            <a:endParaRPr lang="en-US" sz="1700" dirty="0"/>
          </a:p>
        </p:txBody>
      </p:sp>
      <p:sp>
        <p:nvSpPr>
          <p:cNvPr id="22" name="Answer 4"/>
          <p:cNvSpPr txBox="1"/>
          <p:nvPr/>
        </p:nvSpPr>
        <p:spPr>
          <a:xfrm>
            <a:off x="5029200" y="4069080"/>
            <a:ext cx="6400800" cy="777240"/>
          </a:xfrm>
          <a:prstGeom prst="rect">
            <a:avLst/>
          </a:prstGeom>
          <a:noFill/>
          <a:ln/>
        </p:spPr>
        <p:txBody>
          <a:bodyPr wrap="square" lIns="0" tIns="0" rIns="0" bIns="0" rtlCol="0" anchor="ctr"/>
          <a:lstStyle/>
          <a:p>
            <a:pPr marL="0" indent="0">
              <a:buNone/>
            </a:pPr>
            <a:r>
              <a:rPr lang="en-US" sz="1600" dirty="0">
                <a:solidFill>
                  <a:schemeClr val="accent5"/>
                </a:solidFill>
              </a:rPr>
              <a:t>Seasonal and team challenges plus local events keep it fresh and exciting!</a:t>
            </a:r>
          </a:p>
        </p:txBody>
      </p:sp>
      <p:sp>
        <p:nvSpPr>
          <p:cNvPr id="23" name="Risk row 5"/>
          <p:cNvSpPr/>
          <p:nvPr/>
        </p:nvSpPr>
        <p:spPr>
          <a:xfrm>
            <a:off x="548640" y="4983480"/>
            <a:ext cx="11064240" cy="777240"/>
          </a:xfrm>
          <a:prstGeom prst="roundRect">
            <a:avLst>
              <a:gd name="adj" fmla="val 17647"/>
            </a:avLst>
          </a:prstGeom>
          <a:solidFill>
            <a:srgbClr val="EEF4EE"/>
          </a:solidFill>
          <a:ln/>
        </p:spPr>
        <p:txBody>
          <a:bodyPr/>
          <a:lstStyle/>
          <a:p>
            <a:endParaRPr lang="en-CH"/>
          </a:p>
        </p:txBody>
      </p:sp>
      <p:sp>
        <p:nvSpPr>
          <p:cNvPr id="24" name="Risk 5 circle"/>
          <p:cNvSpPr/>
          <p:nvPr/>
        </p:nvSpPr>
        <p:spPr>
          <a:xfrm>
            <a:off x="731520" y="5074920"/>
            <a:ext cx="594360" cy="594360"/>
          </a:xfrm>
          <a:prstGeom prst="ellipse">
            <a:avLst/>
          </a:prstGeom>
          <a:solidFill>
            <a:srgbClr val="F2A33A"/>
          </a:solidFill>
          <a:ln/>
        </p:spPr>
        <p:txBody>
          <a:bodyPr/>
          <a:lstStyle/>
          <a:p>
            <a:endParaRPr lang="en-CH"/>
          </a:p>
        </p:txBody>
      </p:sp>
      <p:pic>
        <p:nvPicPr>
          <p:cNvPr id="25" name="Risk 5 icon" descr="Risk 5"/>
          <p:cNvPicPr>
            <a:picLocks noChangeAspect="1"/>
          </p:cNvPicPr>
          <p:nvPr/>
        </p:nvPicPr>
        <p:blipFill>
          <a:blip r:embed="rId7"/>
          <a:stretch>
            <a:fillRect/>
          </a:stretch>
        </p:blipFill>
        <p:spPr>
          <a:xfrm>
            <a:off x="880110" y="5223510"/>
            <a:ext cx="297180" cy="297180"/>
          </a:xfrm>
          <a:prstGeom prst="rect">
            <a:avLst/>
          </a:prstGeom>
        </p:spPr>
      </p:pic>
      <p:sp>
        <p:nvSpPr>
          <p:cNvPr id="26" name="Risk 5"/>
          <p:cNvSpPr txBox="1"/>
          <p:nvPr/>
        </p:nvSpPr>
        <p:spPr>
          <a:xfrm>
            <a:off x="1554480" y="4983480"/>
            <a:ext cx="3383280" cy="777240"/>
          </a:xfrm>
          <a:prstGeom prst="rect">
            <a:avLst/>
          </a:prstGeom>
          <a:noFill/>
          <a:ln/>
        </p:spPr>
        <p:txBody>
          <a:bodyPr wrap="square" lIns="0" tIns="0" rIns="0" bIns="0" rtlCol="0" anchor="ctr"/>
          <a:lstStyle/>
          <a:p>
            <a:pPr marL="0" indent="0">
              <a:buNone/>
            </a:pPr>
            <a:r>
              <a:rPr lang="en-US" sz="1700" b="1" dirty="0">
                <a:solidFill>
                  <a:schemeClr val="tx1"/>
                </a:solidFill>
              </a:rPr>
              <a:t>Privacy</a:t>
            </a:r>
            <a:endParaRPr lang="en-US" sz="1700" dirty="0"/>
          </a:p>
        </p:txBody>
      </p:sp>
      <p:sp>
        <p:nvSpPr>
          <p:cNvPr id="27" name="Answer 5"/>
          <p:cNvSpPr txBox="1"/>
          <p:nvPr/>
        </p:nvSpPr>
        <p:spPr>
          <a:xfrm>
            <a:off x="5029200" y="4983480"/>
            <a:ext cx="6400800" cy="777240"/>
          </a:xfrm>
          <a:prstGeom prst="rect">
            <a:avLst/>
          </a:prstGeom>
          <a:noFill/>
          <a:ln/>
        </p:spPr>
        <p:txBody>
          <a:bodyPr wrap="square" lIns="0" tIns="0" rIns="0" bIns="0" rtlCol="0" anchor="ctr"/>
          <a:lstStyle/>
          <a:p>
            <a:pPr marL="0" indent="0">
              <a:buNone/>
            </a:pPr>
            <a:r>
              <a:rPr lang="en-US" sz="1600" dirty="0">
                <a:solidFill>
                  <a:schemeClr val="accent5"/>
                </a:solidFill>
              </a:rPr>
              <a:t>No ads, no selling data, our partners only see anonymized totals (Swiss </a:t>
            </a:r>
            <a:r>
              <a:rPr lang="en-US" sz="1600" dirty="0" err="1">
                <a:solidFill>
                  <a:schemeClr val="accent5"/>
                </a:solidFill>
              </a:rPr>
              <a:t>nFADP</a:t>
            </a:r>
            <a:r>
              <a:rPr lang="en-US" sz="1600" dirty="0">
                <a:solidFill>
                  <a:schemeClr val="accent5"/>
                </a:solidFill>
              </a:rPr>
              <a:t>) We are honest and open how we use your data!</a:t>
            </a:r>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RECYCL IT">
  <a:themeElements>
    <a:clrScheme name="RECYCL IT">
      <a:dk1>
        <a:srgbClr val="14342B"/>
      </a:dk1>
      <a:lt1>
        <a:srgbClr val="FFFFFF"/>
      </a:lt1>
      <a:dk2>
        <a:srgbClr val="23704F"/>
      </a:dk2>
      <a:lt2>
        <a:srgbClr val="EEF4EE"/>
      </a:lt2>
      <a:accent1>
        <a:srgbClr val="F2A33A"/>
      </a:accent1>
      <a:accent2>
        <a:srgbClr val="23704F"/>
      </a:accent2>
      <a:accent3>
        <a:srgbClr val="5FAF7E"/>
      </a:accent3>
      <a:accent4>
        <a:srgbClr val="C9DCD3"/>
      </a:accent4>
      <a:accent5>
        <a:srgbClr val="44524C"/>
      </a:accent5>
      <a:accent6>
        <a:srgbClr val="E35D3A"/>
      </a:accent6>
      <a:hlink>
        <a:srgbClr val="23704F"/>
      </a:hlink>
      <a:folHlink>
        <a:srgbClr val="44524C"/>
      </a:folHlink>
    </a:clrScheme>
    <a:fontScheme name="RECYCL I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1785</Words>
  <Application>Microsoft Office PowerPoint</Application>
  <PresentationFormat>Widescreen</PresentationFormat>
  <Paragraphs>158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ADLaM Display</vt:lpstr>
      <vt:lpstr>Arial</vt:lpstr>
      <vt:lpstr>Calibri</vt:lpstr>
      <vt:lpstr>RECYCL IT</vt:lpstr>
      <vt:lpstr>PowerPoint Presentation</vt:lpstr>
      <vt:lpstr>The Problem</vt:lpstr>
      <vt:lpstr>Our Solution</vt:lpstr>
      <vt:lpstr>Business Model</vt:lpstr>
      <vt:lpstr>WHY US?</vt:lpstr>
      <vt:lpstr>Go-to-Market</vt:lpstr>
      <vt:lpstr>Progress &amp; Next Steps</vt:lpstr>
      <vt:lpstr>PowerPoint Presentation</vt:lpstr>
      <vt:lpstr>PowerPoint Presentation</vt:lpstr>
      <vt:lpstr>Backup: Risks &amp; Our Answers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RECYCL IT! – 4 min pitch</dc:title>
  <dc:subject>PptxGenJS Presentation</dc:subject>
  <dc:creator>PptxGenJS</dc:creator>
  <cp:lastModifiedBy>Thorben Che Koch</cp:lastModifiedBy>
  <cp:revision>5</cp:revision>
  <dcterms:created xsi:type="dcterms:W3CDTF">2026-10-24T01:41:37Z</dcterms:created>
  <dcterms:modified xsi:type="dcterms:W3CDTF">2026-10-24T06:35:49Z</dcterms:modified>
</cp:coreProperties>
</file>